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3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6" r:id="rId30"/>
    <p:sldId id="287" r:id="rId31"/>
    <p:sldId id="288" r:id="rId32"/>
    <p:sldId id="289" r:id="rId33"/>
    <p:sldId id="290" r:id="rId34"/>
    <p:sldId id="291" r:id="rId35"/>
    <p:sldId id="292" r:id="rId36"/>
    <p:sldId id="293" r:id="rId37"/>
    <p:sldId id="294" r:id="rId38"/>
    <p:sldId id="295" r:id="rId39"/>
    <p:sldId id="296" r:id="rId40"/>
    <p:sldId id="297" r:id="rId41"/>
    <p:sldId id="298" r:id="rId42"/>
    <p:sldId id="299" r:id="rId43"/>
    <p:sldId id="300" r:id="rId44"/>
    <p:sldId id="301" r:id="rId45"/>
    <p:sldId id="302" r:id="rId46"/>
    <p:sldId id="303" r:id="rId47"/>
    <p:sldId id="304" r:id="rId48"/>
    <p:sldId id="305" r:id="rId49"/>
    <p:sldId id="306" r:id="rId50"/>
    <p:sldId id="307" r:id="rId51"/>
    <p:sldId id="308" r:id="rId52"/>
    <p:sldId id="309" r:id="rId53"/>
    <p:sldId id="310" r:id="rId54"/>
    <p:sldId id="311" r:id="rId55"/>
    <p:sldId id="312" r:id="rId56"/>
    <p:sldId id="313" r:id="rId57"/>
    <p:sldId id="314" r:id="rId58"/>
    <p:sldId id="315" r:id="rId59"/>
    <p:sldId id="316" r:id="rId60"/>
    <p:sldId id="317" r:id="rId61"/>
    <p:sldId id="318" r:id="rId62"/>
    <p:sldId id="319" r:id="rId63"/>
    <p:sldId id="320" r:id="rId64"/>
    <p:sldId id="321" r:id="rId65"/>
    <p:sldId id="322" r:id="rId66"/>
    <p:sldId id="324" r:id="rId67"/>
    <p:sldId id="325" r:id="rId68"/>
    <p:sldId id="326" r:id="rId69"/>
    <p:sldId id="327" r:id="rId70"/>
    <p:sldId id="328" r:id="rId71"/>
    <p:sldId id="329" r:id="rId7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1" d="100"/>
          <a:sy n="71" d="100"/>
        </p:scale>
        <p:origin x="38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33730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Welcome. Three hours: concepts, then code you can run. Every demo uses a real Python agent loop on the Anthropic Messages API.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Timings are a guide; Parts 2 and 4 are the heaviest and carry the live demos.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Chat: one request, one answer. Agent: the model decides what to do next, acts through tools, observes, repeats.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steps. Only step 1 and 2 involve Claude; execution and appending are YOUR code. Exit on end_turn.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API is stateless. Every call carries the whole history. Append the assistant tool_use turn first, then the tool_result with the matching tool_use_id.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Only two values matter day to day: tool_use (keep going) and end_turn (done).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top to bottom. Ask the room: what breaks if we append results before the assistant message? (400 error: tool_result without matching tool_use.)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model calls, one tool call. This trace is the unit we will multiply in Part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Never parse the model's prose to decide control 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Caps cut off long tasks and waste calls on short ones. Keep one as a circuit breaker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text block can come before a tool_use block in the same response. Checking content[0].type drops the tool call.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Recap of Part 1: the five rules are the point.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ceilings: context fills up with tool output, work is serial, and one generic prompt does everything averagely.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traffic through the coordinator. That's what gives you one place for observability, retries and error handling.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Decompose, delegate, aggregate, handle errors. If a coordinator skips one of these, that is where the system fails.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These slides use Claude Code / Agent SDK vocabulary. A built-in "task" tool isn't a Messages API feature — that's why parallel_coordinator.py defines its own spawn_subagent tool.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Least privilege for delegation: workers shouldn't spawn workers unless designed as sub-coordinators. Stops runaway recursion.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subagent's whole world is these four fields.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subagents goals and quality criteria, not step-by-step recipes. They choose how to use their tools.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Parallelism comes from emitting several tool calls in ONE response, then running them concurrently.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only difference between parallel and sequential is the if/else in the middle. Latency becomes max(S1,S2,S3) instead of the sum.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Nothing from the coordinator's history leaks in. That's a feature (focus, small context) and a risk (missing info) — Part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Latency here is simulated at 0.8 s per model call so the comparison is repeatable offline. Live numbers will vary but the shape holds.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Preview of Part 3: structured findings let the coordinator cite and reconcile.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Parallel silos: each agent is right in its lane, but nobody connects the lanes.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Fix: an explicit synthesis step that receives all findings with their structure intact.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shared memory. If the coordinator doesn't write it into the prompt, the subagent doesn't have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Passes: system prompt, task prompt, allowed tools, model. Blocked: history, prior tool results, anything implied.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When a subagent needs earlier information, the coordinator must copy it into the prompt explicitly.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Prose summaries lose who said what and where it came from.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Separate content from metadata: finding, source, date, confidence.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Context isolation by tool scoping and by what we put in the prompt. Point at the TOOLS[0] vs TOOLS[1], TOOLS[2] lines.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Scenario 1 of the capstone. Next slide shows what happens to the $750 refund.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Claims link back to sources by id; pass the whole object, never just the claims.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When sources disagree, record both. The coordinator (or a human) decides.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Anti-patterns for handoffs and sessions.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"Always verify first" in a prompt works most of the time. For money and data, most isn't enough.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Hooks are ordinary code that runs around every tool call. The model can't skip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PreToolUse runs before execution and can block. PostToolUse runs after and can reshape the result.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Both return a structured decision the model can read and act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model did exactly what the tool description said. The hook still caught the policy breach.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 for the model to interpret means fewer wrong interpretations and fewer tokens.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that guardrails don't get in the way of the normal path.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Tool descriptions are how the model routes. Thin descriptions mean guessing.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what the tool is NOT for. It's the cheapest fix for misrouting.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escalate_to_human tool from the capstone.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Tool failures go back as tool_result with is_error: true. Never raise into the loop.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categories, each with a different recovery 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Structured errors are what let a coordinator decide: retry, reroute, or escalate.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valid reasons to hand off to a human.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Frustration, complexity and self-reported confidence are not reasons on their 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Explicit requests are honoured immediately. Keep this screen for the bug hunt — look at the Customer 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you know the steps up front, chain prompts. If the steps depend on what you find, decompose dynamically.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Incident investigation is the classic dynamic case.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Multi-agent systems fail quietly: no exception, just a wrong or empty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"Operation failed" gives the coordinator nothing to decide with.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a subagent's error should carry 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Zero results and a broken source are different outcomes and need different signals.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Recover locally first; escalate with full context when local options run 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the room to find the bug before revealing the panel. This is exactly the error-propagation failure from Lesson 19, in the course's own capstone.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After many tool calls, early findings get buried and forgotten.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Models attend best to the start and end of context. Put key facts there.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case-facts block pinned at the top, updated as the agent works.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Scratchpad files persist findings outside the context window.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Provenance must survive every agent boundary.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Annotate both sides of a conflict; don't silently pick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jp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jp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jp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jp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jp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jp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jp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jp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jp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jp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jp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jp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jp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jp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jp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jp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82880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Multi-Agent Architectures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9718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B8C2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Coordinators, subagents, handoffs and guardrails — with running code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686800" y="4663440"/>
            <a:ext cx="1280160" cy="548640"/>
          </a:xfrm>
          <a:prstGeom prst="line">
            <a:avLst/>
          </a:prstGeom>
          <a:noFill/>
          <a:ln w="25400">
            <a:solidFill>
              <a:srgbClr val="3A465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 flipH="1">
            <a:off x="9966960" y="4663440"/>
            <a:ext cx="1280160" cy="548640"/>
          </a:xfrm>
          <a:prstGeom prst="line">
            <a:avLst/>
          </a:prstGeom>
          <a:noFill/>
          <a:ln w="25400">
            <a:solidFill>
              <a:srgbClr val="3A465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 flipH="1">
            <a:off x="8961120" y="5212080"/>
            <a:ext cx="1005840" cy="868680"/>
          </a:xfrm>
          <a:prstGeom prst="line">
            <a:avLst/>
          </a:prstGeom>
          <a:noFill/>
          <a:ln w="25400">
            <a:solidFill>
              <a:srgbClr val="3A465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9966960" y="5212080"/>
            <a:ext cx="1005840" cy="868680"/>
          </a:xfrm>
          <a:prstGeom prst="line">
            <a:avLst/>
          </a:prstGeom>
          <a:noFill/>
          <a:ln w="25400">
            <a:solidFill>
              <a:srgbClr val="3A465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8458200" y="4434840"/>
            <a:ext cx="457200" cy="457200"/>
          </a:xfrm>
          <a:prstGeom prst="ellipse">
            <a:avLst/>
          </a:prstGeom>
          <a:solidFill>
            <a:srgbClr val="2BB3A3"/>
          </a:solidFill>
          <a:ln w="12700">
            <a:solidFill>
              <a:srgbClr val="2BB3A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11018520" y="4434840"/>
            <a:ext cx="457200" cy="457200"/>
          </a:xfrm>
          <a:prstGeom prst="ellipse">
            <a:avLst/>
          </a:prstGeom>
          <a:solidFill>
            <a:srgbClr val="2BB3A3"/>
          </a:solidFill>
          <a:ln w="12700">
            <a:solidFill>
              <a:srgbClr val="2BB3A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8732520" y="5852160"/>
            <a:ext cx="457200" cy="457200"/>
          </a:xfrm>
          <a:prstGeom prst="ellipse">
            <a:avLst/>
          </a:prstGeom>
          <a:solidFill>
            <a:srgbClr val="2BB3A3"/>
          </a:solidFill>
          <a:ln w="12700">
            <a:solidFill>
              <a:srgbClr val="2BB3A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10744200" y="5852160"/>
            <a:ext cx="457200" cy="457200"/>
          </a:xfrm>
          <a:prstGeom prst="ellipse">
            <a:avLst/>
          </a:prstGeom>
          <a:solidFill>
            <a:srgbClr val="2BB3A3"/>
          </a:solidFill>
          <a:ln w="12700">
            <a:solidFill>
              <a:srgbClr val="2BB3A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9555480" y="4800600"/>
            <a:ext cx="822960" cy="82296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D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next three hours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640080" cy="64008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 txBox="1"/>
          <p:nvPr/>
        </p:nvSpPr>
        <p:spPr>
          <a:xfrm>
            <a:off x="640080" y="1463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0F17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1554480" y="137160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chat to agent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554480" y="181051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A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agentic loop, stop_reason, message history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2450592"/>
            <a:ext cx="640080" cy="64008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 txBox="1"/>
          <p:nvPr/>
        </p:nvSpPr>
        <p:spPr>
          <a:xfrm>
            <a:off x="640080" y="245059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0F17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100" dirty="0"/>
          </a:p>
        </p:txBody>
      </p:sp>
      <p:sp>
        <p:nvSpPr>
          <p:cNvPr id="10" name="Text 8"/>
          <p:cNvSpPr txBox="1"/>
          <p:nvPr/>
        </p:nvSpPr>
        <p:spPr>
          <a:xfrm>
            <a:off x="1554480" y="2359152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Coordinators &amp; subagents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1554480" y="2798064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A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Hub-and-spoke, delegation, parallel fan-out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3438144"/>
            <a:ext cx="640080" cy="64008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 txBox="1"/>
          <p:nvPr/>
        </p:nvSpPr>
        <p:spPr>
          <a:xfrm>
            <a:off x="640080" y="343814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0F17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100" dirty="0"/>
          </a:p>
        </p:txBody>
      </p:sp>
      <p:sp>
        <p:nvSpPr>
          <p:cNvPr id="15" name="Text 13"/>
          <p:cNvSpPr txBox="1"/>
          <p:nvPr/>
        </p:nvSpPr>
        <p:spPr>
          <a:xfrm>
            <a:off x="1554480" y="3346704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&amp; handoffs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1554480" y="3785616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A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Blank-slate subagents, structured findings, provenance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40080" y="4425696"/>
            <a:ext cx="640080" cy="64008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 txBox="1"/>
          <p:nvPr/>
        </p:nvSpPr>
        <p:spPr>
          <a:xfrm>
            <a:off x="640080" y="442569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0F17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100" dirty="0"/>
          </a:p>
        </p:txBody>
      </p:sp>
      <p:sp>
        <p:nvSpPr>
          <p:cNvPr id="20" name="Text 18"/>
          <p:cNvSpPr txBox="1"/>
          <p:nvPr/>
        </p:nvSpPr>
        <p:spPr>
          <a:xfrm>
            <a:off x="1554480" y="4334256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1554480" y="477316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A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Hooks, tool design, errors, escalation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40080" y="5413248"/>
            <a:ext cx="640080" cy="64008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2"/>
          <p:cNvSpPr txBox="1"/>
          <p:nvPr/>
        </p:nvSpPr>
        <p:spPr>
          <a:xfrm>
            <a:off x="640080" y="541324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0F17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100" dirty="0"/>
          </a:p>
        </p:txBody>
      </p:sp>
      <p:sp>
        <p:nvSpPr>
          <p:cNvPr id="25" name="Text 23"/>
          <p:cNvSpPr txBox="1"/>
          <p:nvPr/>
        </p:nvSpPr>
        <p:spPr>
          <a:xfrm>
            <a:off x="1554480" y="5321808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 at scale</a:t>
            </a:r>
            <a:endParaRPr lang="en-US" sz="2200" dirty="0"/>
          </a:p>
        </p:txBody>
      </p:sp>
      <p:sp>
        <p:nvSpPr>
          <p:cNvPr id="26" name="Text 24"/>
          <p:cNvSpPr txBox="1"/>
          <p:nvPr/>
        </p:nvSpPr>
        <p:spPr>
          <a:xfrm>
            <a:off x="1554480" y="5760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A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propagation, context rot, bug hunt, wrap-up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63093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B9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10-minute break at 1:15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0116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4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51460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chat to agent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7490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B8C2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multi-agent system is several of these loops talking through a coordinator.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9052560" y="822960"/>
            <a:ext cx="2377440" cy="2377440"/>
          </a:xfrm>
          <a:prstGeom prst="ellipse">
            <a:avLst/>
          </a:prstGeom>
          <a:solidFill>
            <a:srgbClr val="18212C"/>
          </a:solidFill>
          <a:ln w="25400">
            <a:solidFill>
              <a:srgbClr val="F2A54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9052560" y="822960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6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9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img/L01_S0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572" y="164592"/>
            <a:ext cx="11274552" cy="629277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img/L01_S0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572" y="164592"/>
            <a:ext cx="11274552" cy="629277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img/L01_S0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572" y="164592"/>
            <a:ext cx="11274552" cy="629277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img/L01_S0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572" y="164592"/>
            <a:ext cx="11274552" cy="629277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38328"/>
            <a:ext cx="868680" cy="329184"/>
          </a:xfrm>
          <a:prstGeom prst="roundRect">
            <a:avLst>
              <a:gd name="adj" fmla="val 22222"/>
            </a:avLst>
          </a:prstGeom>
          <a:solidFill>
            <a:srgbClr val="2BB3A3"/>
          </a:solidFill>
          <a:ln w="12700">
            <a:solidFill>
              <a:srgbClr val="2BB3A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548640" y="338328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600200" y="2286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agentic loop, line by line</a:t>
            </a:r>
            <a:endParaRPr lang="en-US" sz="2800" dirty="0"/>
          </a:p>
        </p:txBody>
      </p:sp>
      <p:pic>
        <p:nvPicPr>
          <p:cNvPr id="5" name="Image 0" descr="/home/claude/build/img/code_01_agent_loop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1325" y="1005840"/>
            <a:ext cx="6135710" cy="55321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9509760" y="1005840"/>
            <a:ext cx="2240280" cy="5532120"/>
          </a:xfrm>
          <a:prstGeom prst="roundRect">
            <a:avLst>
              <a:gd name="adj" fmla="val 4082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4"/>
          <p:cNvSpPr txBox="1"/>
          <p:nvPr/>
        </p:nvSpPr>
        <p:spPr>
          <a:xfrm>
            <a:off x="9692640" y="117043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9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at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9692640" y="1664208"/>
            <a:ext cx="329184" cy="329184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6"/>
          <p:cNvSpPr txBox="1"/>
          <p:nvPr/>
        </p:nvSpPr>
        <p:spPr>
          <a:xfrm>
            <a:off x="9692640" y="16642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0F17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80" dirty="0"/>
          </a:p>
        </p:txBody>
      </p:sp>
      <p:sp>
        <p:nvSpPr>
          <p:cNvPr id="10" name="Text 7"/>
          <p:cNvSpPr txBox="1"/>
          <p:nvPr/>
        </p:nvSpPr>
        <p:spPr>
          <a:xfrm>
            <a:off x="10131552" y="1645920"/>
            <a:ext cx="1508760" cy="834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only on stop_reason == "end_turn"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9692640" y="2590038"/>
            <a:ext cx="329184" cy="329184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9"/>
          <p:cNvSpPr txBox="1"/>
          <p:nvPr/>
        </p:nvSpPr>
        <p:spPr>
          <a:xfrm>
            <a:off x="9692640" y="259003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0F17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80" dirty="0"/>
          </a:p>
        </p:txBody>
      </p:sp>
      <p:sp>
        <p:nvSpPr>
          <p:cNvPr id="13" name="Text 10"/>
          <p:cNvSpPr txBox="1"/>
          <p:nvPr/>
        </p:nvSpPr>
        <p:spPr>
          <a:xfrm>
            <a:off x="10131552" y="2571750"/>
            <a:ext cx="1508760" cy="834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 the assistant turn with its tool_use blocks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9692640" y="3515868"/>
            <a:ext cx="329184" cy="329184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2"/>
          <p:cNvSpPr txBox="1"/>
          <p:nvPr/>
        </p:nvSpPr>
        <p:spPr>
          <a:xfrm>
            <a:off x="9692640" y="35158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0F17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80" dirty="0"/>
          </a:p>
        </p:txBody>
      </p:sp>
      <p:sp>
        <p:nvSpPr>
          <p:cNvPr id="16" name="Text 13"/>
          <p:cNvSpPr txBox="1"/>
          <p:nvPr/>
        </p:nvSpPr>
        <p:spPr>
          <a:xfrm>
            <a:off x="10131552" y="3497580"/>
            <a:ext cx="1508760" cy="834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results go back as a user turn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9692640" y="4441698"/>
            <a:ext cx="329184" cy="329184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5"/>
          <p:cNvSpPr txBox="1"/>
          <p:nvPr/>
        </p:nvSpPr>
        <p:spPr>
          <a:xfrm>
            <a:off x="9692640" y="444169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0F17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80" dirty="0"/>
          </a:p>
        </p:txBody>
      </p:sp>
      <p:sp>
        <p:nvSpPr>
          <p:cNvPr id="19" name="Text 16"/>
          <p:cNvSpPr txBox="1"/>
          <p:nvPr/>
        </p:nvSpPr>
        <p:spPr>
          <a:xfrm>
            <a:off x="10131552" y="4423410"/>
            <a:ext cx="1508760" cy="834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MAX_ITERATIONS is a safety valve, not the stop rule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9692640" y="5486400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000" i="1" dirty="0">
                <a:solidFill>
                  <a:srgbClr val="8B9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excerpt, comment lines trimmed.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38328"/>
            <a:ext cx="868680" cy="329184"/>
          </a:xfrm>
          <a:prstGeom prst="roundRect">
            <a:avLst>
              <a:gd name="adj" fmla="val 22222"/>
            </a:avLst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548640" y="338328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600200" y="2286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agent.py running</a:t>
            </a:r>
            <a:endParaRPr lang="en-US" sz="2800" dirty="0"/>
          </a:p>
        </p:txBody>
      </p:sp>
      <p:pic>
        <p:nvPicPr>
          <p:cNvPr id="5" name="Image 0" descr="/home/claude/build/img/run_01_agen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05840"/>
            <a:ext cx="8823960" cy="2645199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9509760" y="1005840"/>
            <a:ext cx="2240280" cy="5532120"/>
          </a:xfrm>
          <a:prstGeom prst="roundRect">
            <a:avLst>
              <a:gd name="adj" fmla="val 4082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4"/>
          <p:cNvSpPr txBox="1"/>
          <p:nvPr/>
        </p:nvSpPr>
        <p:spPr>
          <a:xfrm>
            <a:off x="9692640" y="117043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9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at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9692640" y="1664208"/>
            <a:ext cx="329184" cy="329184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6"/>
          <p:cNvSpPr txBox="1"/>
          <p:nvPr/>
        </p:nvSpPr>
        <p:spPr>
          <a:xfrm>
            <a:off x="9692640" y="16642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0F17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80" dirty="0"/>
          </a:p>
        </p:txBody>
      </p:sp>
      <p:sp>
        <p:nvSpPr>
          <p:cNvPr id="10" name="Text 7"/>
          <p:cNvSpPr txBox="1"/>
          <p:nvPr/>
        </p:nvSpPr>
        <p:spPr>
          <a:xfrm>
            <a:off x="10131552" y="1645920"/>
            <a:ext cx="1508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asks for lookup_order('4821')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9692640" y="2898648"/>
            <a:ext cx="329184" cy="329184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9"/>
          <p:cNvSpPr txBox="1"/>
          <p:nvPr/>
        </p:nvSpPr>
        <p:spPr>
          <a:xfrm>
            <a:off x="9692640" y="28986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0F17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80" dirty="0"/>
          </a:p>
        </p:txBody>
      </p:sp>
      <p:sp>
        <p:nvSpPr>
          <p:cNvPr id="13" name="Text 10"/>
          <p:cNvSpPr txBox="1"/>
          <p:nvPr/>
        </p:nvSpPr>
        <p:spPr>
          <a:xfrm>
            <a:off x="10131552" y="2880360"/>
            <a:ext cx="1508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code runs the tool — Claude never executes it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9692640" y="4133088"/>
            <a:ext cx="329184" cy="329184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2"/>
          <p:cNvSpPr txBox="1"/>
          <p:nvPr/>
        </p:nvSpPr>
        <p:spPr>
          <a:xfrm>
            <a:off x="9692640" y="41330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0F17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80" dirty="0"/>
          </a:p>
        </p:txBody>
      </p:sp>
      <p:sp>
        <p:nvSpPr>
          <p:cNvPr id="16" name="Text 13"/>
          <p:cNvSpPr txBox="1"/>
          <p:nvPr/>
        </p:nvSpPr>
        <p:spPr>
          <a:xfrm>
            <a:off x="10131552" y="4114800"/>
            <a:ext cx="1508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call sees the result and ends the turn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9692640" y="5486400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000" i="1" dirty="0">
                <a:solidFill>
                  <a:srgbClr val="8B9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replay: real demo code, scripted model responses. Re-run with ANTHROPIC_API_KEY for live output.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img/L01_S1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572" y="164592"/>
            <a:ext cx="11274552" cy="629277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img/L01_S1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572" y="164592"/>
            <a:ext cx="11274552" cy="629277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img/L01_S1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572" y="164592"/>
            <a:ext cx="11274552" cy="629277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img/L01_S1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572" y="164592"/>
            <a:ext cx="11274552" cy="6292773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0116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4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51460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Coordinators &amp; subagents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7490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B8C2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one agent stops scaling, and the hub-and-spoke pattern that fixes it.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58521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B9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45 min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052560" y="822960"/>
            <a:ext cx="2377440" cy="2377440"/>
          </a:xfrm>
          <a:prstGeom prst="ellipse">
            <a:avLst/>
          </a:prstGeom>
          <a:solidFill>
            <a:srgbClr val="18212C"/>
          </a:solidFill>
          <a:ln w="25400">
            <a:solidFill>
              <a:srgbClr val="F2A54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9052560" y="822960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6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9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img/L02_S0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572" y="164592"/>
            <a:ext cx="11274552" cy="6292773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7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img/L02_S0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572" y="164592"/>
            <a:ext cx="11274552" cy="6292773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7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img/L02_S0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572" y="164592"/>
            <a:ext cx="11274552" cy="6292773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D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note on the “Task tool” you'll see on the next slides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3483864" cy="5120640"/>
          </a:xfrm>
          <a:prstGeom prst="roundRect">
            <a:avLst>
              <a:gd name="adj" fmla="val 3150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822960" y="1600200"/>
            <a:ext cx="502920" cy="502920"/>
          </a:xfrm>
          <a:prstGeom prst="ellipse">
            <a:avLst/>
          </a:prstGeom>
          <a:solidFill>
            <a:srgbClr val="2BB3A3"/>
          </a:solidFill>
          <a:ln w="12700">
            <a:solidFill>
              <a:srgbClr val="2BB3A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 txBox="1"/>
          <p:nvPr/>
        </p:nvSpPr>
        <p:spPr>
          <a:xfrm>
            <a:off x="822960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0F17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5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1581912"/>
            <a:ext cx="2386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Claude Code / Agent SDK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240280"/>
            <a:ext cx="2935224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3A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Subagents are spawned by a built-in Task tool. The coordinator passes description, prompt, allowed tools and model.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352544" y="1325880"/>
            <a:ext cx="3483864" cy="5120640"/>
          </a:xfrm>
          <a:prstGeom prst="roundRect">
            <a:avLst>
              <a:gd name="adj" fmla="val 3150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4626864" y="1600200"/>
            <a:ext cx="502920" cy="50292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4626864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0F17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50" dirty="0"/>
          </a:p>
        </p:txBody>
      </p:sp>
      <p:sp>
        <p:nvSpPr>
          <p:cNvPr id="11" name="Text 9"/>
          <p:cNvSpPr txBox="1"/>
          <p:nvPr/>
        </p:nvSpPr>
        <p:spPr>
          <a:xfrm>
            <a:off x="5266944" y="1581912"/>
            <a:ext cx="2386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raw Messages API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4626864" y="2240280"/>
            <a:ext cx="2935224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3A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built-in Task tool. You define your own tool (our spawn_subagent) and your code runs a new agent loop for it.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8156448" y="1325880"/>
            <a:ext cx="3483864" cy="5120640"/>
          </a:xfrm>
          <a:prstGeom prst="roundRect">
            <a:avLst>
              <a:gd name="adj" fmla="val 3150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8430768" y="1600200"/>
            <a:ext cx="502920" cy="502920"/>
          </a:xfrm>
          <a:prstGeom prst="ellipse">
            <a:avLst/>
          </a:prstGeom>
          <a:solidFill>
            <a:srgbClr val="2BB3A3"/>
          </a:solidFill>
          <a:ln w="12700">
            <a:solidFill>
              <a:srgbClr val="2BB3A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 txBox="1"/>
          <p:nvPr/>
        </p:nvSpPr>
        <p:spPr>
          <a:xfrm>
            <a:off x="8430768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0F17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50" dirty="0"/>
          </a:p>
        </p:txBody>
      </p:sp>
      <p:sp>
        <p:nvSpPr>
          <p:cNvPr id="16" name="Text 14"/>
          <p:cNvSpPr txBox="1"/>
          <p:nvPr/>
        </p:nvSpPr>
        <p:spPr>
          <a:xfrm>
            <a:off x="9070848" y="1581912"/>
            <a:ext cx="2386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architecture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8430768" y="2240280"/>
            <a:ext cx="2935224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3A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Either way: the subagent gets only what the coordinator writes into its prompt, and only the tools you allow.</a:t>
            </a:r>
            <a:endParaRPr lang="en-US" sz="17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7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img/L02_S0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572" y="164592"/>
            <a:ext cx="11274552" cy="6292773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17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img/L02_S0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572" y="164592"/>
            <a:ext cx="11274552" cy="6292773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F17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img/L02_S1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572" y="164592"/>
            <a:ext cx="11274552" cy="6292773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F17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img/L02_S0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572" y="164592"/>
            <a:ext cx="11274552" cy="6292773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38328"/>
            <a:ext cx="868680" cy="329184"/>
          </a:xfrm>
          <a:prstGeom prst="roundRect">
            <a:avLst>
              <a:gd name="adj" fmla="val 22222"/>
            </a:avLst>
          </a:prstGeom>
          <a:solidFill>
            <a:srgbClr val="2BB3A3"/>
          </a:solidFill>
          <a:ln w="12700">
            <a:solidFill>
              <a:srgbClr val="2BB3A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548640" y="338328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600200" y="2286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Parallel fan-out in the coordinator</a:t>
            </a:r>
            <a:endParaRPr lang="en-US" sz="2800" dirty="0"/>
          </a:p>
        </p:txBody>
      </p:sp>
      <p:pic>
        <p:nvPicPr>
          <p:cNvPr id="5" name="Image 0" descr="/home/claude/build/img/code_07_parallel_spaw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05840"/>
            <a:ext cx="8823960" cy="476515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9509760" y="1005840"/>
            <a:ext cx="2240280" cy="5532120"/>
          </a:xfrm>
          <a:prstGeom prst="roundRect">
            <a:avLst>
              <a:gd name="adj" fmla="val 4082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4"/>
          <p:cNvSpPr txBox="1"/>
          <p:nvPr/>
        </p:nvSpPr>
        <p:spPr>
          <a:xfrm>
            <a:off x="9692640" y="117043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9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at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9692640" y="1664208"/>
            <a:ext cx="329184" cy="329184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6"/>
          <p:cNvSpPr txBox="1"/>
          <p:nvPr/>
        </p:nvSpPr>
        <p:spPr>
          <a:xfrm>
            <a:off x="9692640" y="16642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0F17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80" dirty="0"/>
          </a:p>
        </p:txBody>
      </p:sp>
      <p:sp>
        <p:nvSpPr>
          <p:cNvPr id="10" name="Text 7"/>
          <p:cNvSpPr txBox="1"/>
          <p:nvPr/>
        </p:nvSpPr>
        <p:spPr>
          <a:xfrm>
            <a:off x="10131552" y="1645920"/>
            <a:ext cx="1508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every tool_use block from one response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9692640" y="2898648"/>
            <a:ext cx="329184" cy="329184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9"/>
          <p:cNvSpPr txBox="1"/>
          <p:nvPr/>
        </p:nvSpPr>
        <p:spPr>
          <a:xfrm>
            <a:off x="9692640" y="28986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0F17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80" dirty="0"/>
          </a:p>
        </p:txBody>
      </p:sp>
      <p:sp>
        <p:nvSpPr>
          <p:cNvPr id="13" name="Text 10"/>
          <p:cNvSpPr txBox="1"/>
          <p:nvPr/>
        </p:nvSpPr>
        <p:spPr>
          <a:xfrm>
            <a:off x="10131552" y="2880360"/>
            <a:ext cx="1508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ThreadPoolExecutor runs the subagents concurrently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9692640" y="4133088"/>
            <a:ext cx="329184" cy="329184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2"/>
          <p:cNvSpPr txBox="1"/>
          <p:nvPr/>
        </p:nvSpPr>
        <p:spPr>
          <a:xfrm>
            <a:off x="9692640" y="41330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0F17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80" dirty="0"/>
          </a:p>
        </p:txBody>
      </p:sp>
      <p:sp>
        <p:nvSpPr>
          <p:cNvPr id="16" name="Text 13"/>
          <p:cNvSpPr txBox="1"/>
          <p:nvPr/>
        </p:nvSpPr>
        <p:spPr>
          <a:xfrm>
            <a:off x="10131552" y="4114800"/>
            <a:ext cx="1508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finding returns as a tool_result with its tool_use_id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9692640" y="5486400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000" i="1" dirty="0">
                <a:solidFill>
                  <a:srgbClr val="8B9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Companion demo code.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38328"/>
            <a:ext cx="868680" cy="329184"/>
          </a:xfrm>
          <a:prstGeom prst="roundRect">
            <a:avLst>
              <a:gd name="adj" fmla="val 22222"/>
            </a:avLst>
          </a:prstGeom>
          <a:solidFill>
            <a:srgbClr val="2BB3A3"/>
          </a:solidFill>
          <a:ln w="12700">
            <a:solidFill>
              <a:srgbClr val="2BB3A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548640" y="338328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600200" y="2286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Each subagent is its own loop</a:t>
            </a:r>
            <a:endParaRPr lang="en-US" sz="2800" dirty="0"/>
          </a:p>
        </p:txBody>
      </p:sp>
      <p:pic>
        <p:nvPicPr>
          <p:cNvPr id="5" name="Image 0" descr="/home/claude/build/img/code_08_subagent_blank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05840"/>
            <a:ext cx="8823960" cy="4728991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9509760" y="1005840"/>
            <a:ext cx="2240280" cy="5532120"/>
          </a:xfrm>
          <a:prstGeom prst="roundRect">
            <a:avLst>
              <a:gd name="adj" fmla="val 4082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4"/>
          <p:cNvSpPr txBox="1"/>
          <p:nvPr/>
        </p:nvSpPr>
        <p:spPr>
          <a:xfrm>
            <a:off x="9692640" y="117043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9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at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9692640" y="1664208"/>
            <a:ext cx="329184" cy="329184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6"/>
          <p:cNvSpPr txBox="1"/>
          <p:nvPr/>
        </p:nvSpPr>
        <p:spPr>
          <a:xfrm>
            <a:off x="9692640" y="16642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0F17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80" dirty="0"/>
          </a:p>
        </p:txBody>
      </p:sp>
      <p:sp>
        <p:nvSpPr>
          <p:cNvPr id="10" name="Text 7"/>
          <p:cNvSpPr txBox="1"/>
          <p:nvPr/>
        </p:nvSpPr>
        <p:spPr>
          <a:xfrm>
            <a:off x="10131552" y="1645920"/>
            <a:ext cx="1508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 built only from role + goal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9692640" y="2898648"/>
            <a:ext cx="329184" cy="329184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9"/>
          <p:cNvSpPr txBox="1"/>
          <p:nvPr/>
        </p:nvSpPr>
        <p:spPr>
          <a:xfrm>
            <a:off x="9692640" y="28986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0F17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80" dirty="0"/>
          </a:p>
        </p:txBody>
      </p:sp>
      <p:sp>
        <p:nvSpPr>
          <p:cNvPr id="13" name="Text 10"/>
          <p:cNvSpPr txBox="1"/>
          <p:nvPr/>
        </p:nvSpPr>
        <p:spPr>
          <a:xfrm>
            <a:off x="10131552" y="2880360"/>
            <a:ext cx="1508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own narrow toolset: search_corpus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9692640" y="4133088"/>
            <a:ext cx="329184" cy="329184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2"/>
          <p:cNvSpPr txBox="1"/>
          <p:nvPr/>
        </p:nvSpPr>
        <p:spPr>
          <a:xfrm>
            <a:off x="9692640" y="41330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0F17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80" dirty="0"/>
          </a:p>
        </p:txBody>
      </p:sp>
      <p:sp>
        <p:nvSpPr>
          <p:cNvPr id="16" name="Text 13"/>
          <p:cNvSpPr txBox="1"/>
          <p:nvPr/>
        </p:nvSpPr>
        <p:spPr>
          <a:xfrm>
            <a:off x="10131552" y="4114800"/>
            <a:ext cx="1508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return JSON with claims and source_id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9692640" y="5486400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000" i="1" dirty="0">
                <a:solidFill>
                  <a:srgbClr val="8B9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Companion demo code.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38328"/>
            <a:ext cx="868680" cy="329184"/>
          </a:xfrm>
          <a:prstGeom prst="roundRect">
            <a:avLst>
              <a:gd name="adj" fmla="val 22222"/>
            </a:avLst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548640" y="338328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600200" y="2286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Sequential vs parallel: subagent phase 3× faster</a:t>
            </a:r>
            <a:endParaRPr lang="en-US" sz="2800" dirty="0"/>
          </a:p>
        </p:txBody>
      </p:sp>
      <p:pic>
        <p:nvPicPr>
          <p:cNvPr id="5" name="Image 0" descr="/home/claude/build/img/run_06_parallel_vs_sequential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7581" y="1005840"/>
            <a:ext cx="6883199" cy="55321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9509760" y="1005840"/>
            <a:ext cx="2240280" cy="5532120"/>
          </a:xfrm>
          <a:prstGeom prst="roundRect">
            <a:avLst>
              <a:gd name="adj" fmla="val 4082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4"/>
          <p:cNvSpPr txBox="1"/>
          <p:nvPr/>
        </p:nvSpPr>
        <p:spPr>
          <a:xfrm>
            <a:off x="9692640" y="117043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9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at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9692640" y="1664208"/>
            <a:ext cx="329184" cy="329184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6"/>
          <p:cNvSpPr txBox="1"/>
          <p:nvPr/>
        </p:nvSpPr>
        <p:spPr>
          <a:xfrm>
            <a:off x="9692640" y="16642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0F17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80" dirty="0"/>
          </a:p>
        </p:txBody>
      </p:sp>
      <p:sp>
        <p:nvSpPr>
          <p:cNvPr id="10" name="Text 7"/>
          <p:cNvSpPr txBox="1"/>
          <p:nvPr/>
        </p:nvSpPr>
        <p:spPr>
          <a:xfrm>
            <a:off x="10131552" y="1645920"/>
            <a:ext cx="1508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Coordinator emits 3 spawn_subagent calls at once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9692640" y="2898648"/>
            <a:ext cx="329184" cy="329184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9"/>
          <p:cNvSpPr txBox="1"/>
          <p:nvPr/>
        </p:nvSpPr>
        <p:spPr>
          <a:xfrm>
            <a:off x="9692640" y="28986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0F17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80" dirty="0"/>
          </a:p>
        </p:txBody>
      </p:sp>
      <p:sp>
        <p:nvSpPr>
          <p:cNvPr id="13" name="Text 10"/>
          <p:cNvSpPr txBox="1"/>
          <p:nvPr/>
        </p:nvSpPr>
        <p:spPr>
          <a:xfrm>
            <a:off x="10131552" y="2880360"/>
            <a:ext cx="1508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Sequential: 4.8 s for the subagents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9692640" y="4133088"/>
            <a:ext cx="329184" cy="329184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2"/>
          <p:cNvSpPr txBox="1"/>
          <p:nvPr/>
        </p:nvSpPr>
        <p:spPr>
          <a:xfrm>
            <a:off x="9692640" y="41330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0F17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80" dirty="0"/>
          </a:p>
        </p:txBody>
      </p:sp>
      <p:sp>
        <p:nvSpPr>
          <p:cNvPr id="16" name="Text 13"/>
          <p:cNvSpPr txBox="1"/>
          <p:nvPr/>
        </p:nvSpPr>
        <p:spPr>
          <a:xfrm>
            <a:off x="10131552" y="4114800"/>
            <a:ext cx="1508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Parallel: 1.6 s — the slowest one sets the pace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9692640" y="5486400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000" i="1" dirty="0">
                <a:solidFill>
                  <a:srgbClr val="8B9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replay: real demo code, scripted model responses. Re-run with ANTHROPIC_API_KEY for live output.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38328"/>
            <a:ext cx="868680" cy="329184"/>
          </a:xfrm>
          <a:prstGeom prst="roundRect">
            <a:avLst>
              <a:gd name="adj" fmla="val 22222"/>
            </a:avLst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548640" y="338328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600200" y="2286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Synthesis keeps provenance</a:t>
            </a:r>
            <a:endParaRPr lang="en-US" sz="2800" dirty="0"/>
          </a:p>
        </p:txBody>
      </p:sp>
      <p:pic>
        <p:nvPicPr>
          <p:cNvPr id="5" name="Image 0" descr="/home/claude/build/img/run_07_parallel_synthesi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05840"/>
            <a:ext cx="8823960" cy="3977167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9509760" y="1005840"/>
            <a:ext cx="2240280" cy="5532120"/>
          </a:xfrm>
          <a:prstGeom prst="roundRect">
            <a:avLst>
              <a:gd name="adj" fmla="val 4082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4"/>
          <p:cNvSpPr txBox="1"/>
          <p:nvPr/>
        </p:nvSpPr>
        <p:spPr>
          <a:xfrm>
            <a:off x="9692640" y="117043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9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at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9692640" y="1664208"/>
            <a:ext cx="329184" cy="329184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6"/>
          <p:cNvSpPr txBox="1"/>
          <p:nvPr/>
        </p:nvSpPr>
        <p:spPr>
          <a:xfrm>
            <a:off x="9692640" y="16642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0F17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80" dirty="0"/>
          </a:p>
        </p:txBody>
      </p:sp>
      <p:sp>
        <p:nvSpPr>
          <p:cNvPr id="10" name="Text 7"/>
          <p:cNvSpPr txBox="1"/>
          <p:nvPr/>
        </p:nvSpPr>
        <p:spPr>
          <a:xfrm>
            <a:off x="10131552" y="1645920"/>
            <a:ext cx="1508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claim still carries its source_id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9692640" y="2898648"/>
            <a:ext cx="329184" cy="329184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9"/>
          <p:cNvSpPr txBox="1"/>
          <p:nvPr/>
        </p:nvSpPr>
        <p:spPr>
          <a:xfrm>
            <a:off x="9692640" y="28986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0F17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80" dirty="0"/>
          </a:p>
        </p:txBody>
      </p:sp>
      <p:sp>
        <p:nvSpPr>
          <p:cNvPr id="13" name="Text 10"/>
          <p:cNvSpPr txBox="1"/>
          <p:nvPr/>
        </p:nvSpPr>
        <p:spPr>
          <a:xfrm>
            <a:off x="10131552" y="2880360"/>
            <a:ext cx="1508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Grouped by the subagent that found it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9692640" y="4133088"/>
            <a:ext cx="329184" cy="329184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2"/>
          <p:cNvSpPr txBox="1"/>
          <p:nvPr/>
        </p:nvSpPr>
        <p:spPr>
          <a:xfrm>
            <a:off x="9692640" y="41330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0F17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80" dirty="0"/>
          </a:p>
        </p:txBody>
      </p:sp>
      <p:sp>
        <p:nvSpPr>
          <p:cNvPr id="16" name="Text 13"/>
          <p:cNvSpPr txBox="1"/>
          <p:nvPr/>
        </p:nvSpPr>
        <p:spPr>
          <a:xfrm>
            <a:off x="10131552" y="4114800"/>
            <a:ext cx="1508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Conflicts get flagged, not averaged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9692640" y="5486400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000" i="1" dirty="0">
                <a:solidFill>
                  <a:srgbClr val="8B9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replay: real demo code, scripted model responses. Re-run with ANTHROPIC_API_KEY for live output.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F17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img/L02_S1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572" y="164592"/>
            <a:ext cx="11274552" cy="6292773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F17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img/L02_S1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572" y="164592"/>
            <a:ext cx="11274552" cy="6292773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F17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0116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4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51460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 &amp; handoffs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7490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B8C2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Subagents wake up blank. What you hand them is all they know.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58521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B9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25 min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052560" y="822960"/>
            <a:ext cx="2377440" cy="2377440"/>
          </a:xfrm>
          <a:prstGeom prst="ellipse">
            <a:avLst/>
          </a:prstGeom>
          <a:solidFill>
            <a:srgbClr val="18212C"/>
          </a:solidFill>
          <a:ln w="25400">
            <a:solidFill>
              <a:srgbClr val="F2A54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9052560" y="822960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6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96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F17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img/L03_S0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572" y="164592"/>
            <a:ext cx="11274552" cy="6292773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F17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img/L02_S0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572" y="164592"/>
            <a:ext cx="11274552" cy="6292773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F17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img/L02_S09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572" y="164592"/>
            <a:ext cx="11274552" cy="6292773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F17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img/L03_S0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572" y="164592"/>
            <a:ext cx="11274552" cy="6292773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F17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img/L03_S0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572" y="164592"/>
            <a:ext cx="11274552" cy="6292773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38328"/>
            <a:ext cx="868680" cy="329184"/>
          </a:xfrm>
          <a:prstGeom prst="roundRect">
            <a:avLst>
              <a:gd name="adj" fmla="val 22222"/>
            </a:avLst>
          </a:prstGeom>
          <a:solidFill>
            <a:srgbClr val="2BB3A3"/>
          </a:solidFill>
          <a:ln w="12700">
            <a:solidFill>
              <a:srgbClr val="2BB3A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548640" y="338328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600200" y="2286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capstone coordinator hands off a typed finding</a:t>
            </a:r>
            <a:endParaRPr lang="en-US" sz="2800" dirty="0"/>
          </a:p>
        </p:txBody>
      </p:sp>
      <p:pic>
        <p:nvPicPr>
          <p:cNvPr id="5" name="Image 0" descr="/home/claude/build/img/code_06_coordinato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5963" y="1005840"/>
            <a:ext cx="7106435" cy="55321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9509760" y="1005840"/>
            <a:ext cx="2240280" cy="5532120"/>
          </a:xfrm>
          <a:prstGeom prst="roundRect">
            <a:avLst>
              <a:gd name="adj" fmla="val 4082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4"/>
          <p:cNvSpPr txBox="1"/>
          <p:nvPr/>
        </p:nvSpPr>
        <p:spPr>
          <a:xfrm>
            <a:off x="9692640" y="117043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9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at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9692640" y="1664208"/>
            <a:ext cx="329184" cy="329184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6"/>
          <p:cNvSpPr txBox="1"/>
          <p:nvPr/>
        </p:nvSpPr>
        <p:spPr>
          <a:xfrm>
            <a:off x="9692640" y="16642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0F17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80" dirty="0"/>
          </a:p>
        </p:txBody>
      </p:sp>
      <p:sp>
        <p:nvSpPr>
          <p:cNvPr id="10" name="Text 7"/>
          <p:cNvSpPr txBox="1"/>
          <p:nvPr/>
        </p:nvSpPr>
        <p:spPr>
          <a:xfrm>
            <a:off x="10131552" y="1645920"/>
            <a:ext cx="1508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Verifier gets only get_customer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9692640" y="2898648"/>
            <a:ext cx="329184" cy="329184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9"/>
          <p:cNvSpPr txBox="1"/>
          <p:nvPr/>
        </p:nvSpPr>
        <p:spPr>
          <a:xfrm>
            <a:off x="9692640" y="28986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0F17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80" dirty="0"/>
          </a:p>
        </p:txBody>
      </p:sp>
      <p:sp>
        <p:nvSpPr>
          <p:cNvPr id="13" name="Text 10"/>
          <p:cNvSpPr txBox="1"/>
          <p:nvPr/>
        </p:nvSpPr>
        <p:spPr>
          <a:xfrm>
            <a:off x="10131552" y="2880360"/>
            <a:ext cx="1508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finding is passed as JSON, not prose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9692640" y="4133088"/>
            <a:ext cx="329184" cy="329184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2"/>
          <p:cNvSpPr txBox="1"/>
          <p:nvPr/>
        </p:nvSpPr>
        <p:spPr>
          <a:xfrm>
            <a:off x="9692640" y="41330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0F17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80" dirty="0"/>
          </a:p>
        </p:txBody>
      </p:sp>
      <p:sp>
        <p:nvSpPr>
          <p:cNvPr id="16" name="Text 13"/>
          <p:cNvSpPr txBox="1"/>
          <p:nvPr/>
        </p:nvSpPr>
        <p:spPr>
          <a:xfrm>
            <a:off x="10131552" y="4114800"/>
            <a:ext cx="1508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Refund Processor gets only lookup_order + process_refund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9692640" y="5486400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000" i="1" dirty="0">
                <a:solidFill>
                  <a:srgbClr val="8B9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excerpt, comment lines trimmed.</a:t>
            </a:r>
            <a:endParaRPr lang="en-US" sz="1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38328"/>
            <a:ext cx="868680" cy="329184"/>
          </a:xfrm>
          <a:prstGeom prst="roundRect">
            <a:avLst>
              <a:gd name="adj" fmla="val 22222"/>
            </a:avLst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548640" y="338328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600200" y="2286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Run: verify, then hand off</a:t>
            </a:r>
            <a:endParaRPr lang="en-US" sz="2800" dirty="0"/>
          </a:p>
        </p:txBody>
      </p:sp>
      <p:pic>
        <p:nvPicPr>
          <p:cNvPr id="5" name="Image 0" descr="/home/claude/build/img/run_02a_capstone_verifie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05840"/>
            <a:ext cx="8823960" cy="3977167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9509760" y="1005840"/>
            <a:ext cx="2240280" cy="5532120"/>
          </a:xfrm>
          <a:prstGeom prst="roundRect">
            <a:avLst>
              <a:gd name="adj" fmla="val 4082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4"/>
          <p:cNvSpPr txBox="1"/>
          <p:nvPr/>
        </p:nvSpPr>
        <p:spPr>
          <a:xfrm>
            <a:off x="9692640" y="117043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9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at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9692640" y="1664208"/>
            <a:ext cx="329184" cy="329184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6"/>
          <p:cNvSpPr txBox="1"/>
          <p:nvPr/>
        </p:nvSpPr>
        <p:spPr>
          <a:xfrm>
            <a:off x="9692640" y="16642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0F17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80" dirty="0"/>
          </a:p>
        </p:txBody>
      </p:sp>
      <p:sp>
        <p:nvSpPr>
          <p:cNvPr id="10" name="Text 7"/>
          <p:cNvSpPr txBox="1"/>
          <p:nvPr/>
        </p:nvSpPr>
        <p:spPr>
          <a:xfrm>
            <a:off x="10131552" y="1645920"/>
            <a:ext cx="1508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Subagent 1 calls get_customer(C001)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9692640" y="2898648"/>
            <a:ext cx="329184" cy="329184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9"/>
          <p:cNvSpPr txBox="1"/>
          <p:nvPr/>
        </p:nvSpPr>
        <p:spPr>
          <a:xfrm>
            <a:off x="9692640" y="28986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0F17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80" dirty="0"/>
          </a:p>
        </p:txBody>
      </p:sp>
      <p:sp>
        <p:nvSpPr>
          <p:cNvPr id="13" name="Text 10"/>
          <p:cNvSpPr txBox="1"/>
          <p:nvPr/>
        </p:nvSpPr>
        <p:spPr>
          <a:xfrm>
            <a:off x="10131552" y="2880360"/>
            <a:ext cx="1508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PostToolUse hook marks the session verified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9692640" y="4133088"/>
            <a:ext cx="329184" cy="329184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2"/>
          <p:cNvSpPr txBox="1"/>
          <p:nvPr/>
        </p:nvSpPr>
        <p:spPr>
          <a:xfrm>
            <a:off x="9692640" y="41330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0F17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80" dirty="0"/>
          </a:p>
        </p:txBody>
      </p:sp>
      <p:sp>
        <p:nvSpPr>
          <p:cNvPr id="16" name="Text 13"/>
          <p:cNvSpPr txBox="1"/>
          <p:nvPr/>
        </p:nvSpPr>
        <p:spPr>
          <a:xfrm>
            <a:off x="10131552" y="4114800"/>
            <a:ext cx="1508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Coordinator forwards the structured finding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9692640" y="5486400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000" i="1" dirty="0">
                <a:solidFill>
                  <a:srgbClr val="8B9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replay: real demo code, scripted model responses. Re-run with ANTHROPIC_API_KEY for live output.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F17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img/L03_S0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572" y="164592"/>
            <a:ext cx="11274552" cy="6292773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F17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img/L03_S0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572" y="164592"/>
            <a:ext cx="11274552" cy="6292773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F17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img/L03_S1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572" y="164592"/>
            <a:ext cx="11274552" cy="6292773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F17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0116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4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51460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Guardrails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7490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B8C2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 guide. Code enforces.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58521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B9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40 min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052560" y="822960"/>
            <a:ext cx="2377440" cy="2377440"/>
          </a:xfrm>
          <a:prstGeom prst="ellipse">
            <a:avLst/>
          </a:prstGeom>
          <a:solidFill>
            <a:srgbClr val="18212C"/>
          </a:solidFill>
          <a:ln w="25400">
            <a:solidFill>
              <a:srgbClr val="F2A54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9052560" y="822960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6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96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0F17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img/L05_S0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572" y="164592"/>
            <a:ext cx="11274552" cy="6292773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0F17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img/L05_S0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572" y="164592"/>
            <a:ext cx="11274552" cy="6292773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0F17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img/L05_S0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572" y="164592"/>
            <a:ext cx="11274552" cy="6292773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38328"/>
            <a:ext cx="868680" cy="329184"/>
          </a:xfrm>
          <a:prstGeom prst="roundRect">
            <a:avLst>
              <a:gd name="adj" fmla="val 22222"/>
            </a:avLst>
          </a:prstGeom>
          <a:solidFill>
            <a:srgbClr val="2BB3A3"/>
          </a:solidFill>
          <a:ln w="12700">
            <a:solidFill>
              <a:srgbClr val="2BB3A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548640" y="338328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600200" y="2286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PreToolUse: two policy gates</a:t>
            </a:r>
            <a:endParaRPr lang="en-US" sz="2800" dirty="0"/>
          </a:p>
        </p:txBody>
      </p:sp>
      <p:pic>
        <p:nvPicPr>
          <p:cNvPr id="5" name="Image 0" descr="/home/claude/build/img/code_03_pretool_hook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9330" y="1005840"/>
            <a:ext cx="6199700" cy="55321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9509760" y="1005840"/>
            <a:ext cx="2240280" cy="5532120"/>
          </a:xfrm>
          <a:prstGeom prst="roundRect">
            <a:avLst>
              <a:gd name="adj" fmla="val 4082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4"/>
          <p:cNvSpPr txBox="1"/>
          <p:nvPr/>
        </p:nvSpPr>
        <p:spPr>
          <a:xfrm>
            <a:off x="9692640" y="117043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9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at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9692640" y="1664208"/>
            <a:ext cx="329184" cy="329184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6"/>
          <p:cNvSpPr txBox="1"/>
          <p:nvPr/>
        </p:nvSpPr>
        <p:spPr>
          <a:xfrm>
            <a:off x="9692640" y="16642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0F17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80" dirty="0"/>
          </a:p>
        </p:txBody>
      </p:sp>
      <p:sp>
        <p:nvSpPr>
          <p:cNvPr id="10" name="Text 7"/>
          <p:cNvSpPr txBox="1"/>
          <p:nvPr/>
        </p:nvSpPr>
        <p:spPr>
          <a:xfrm>
            <a:off x="10131552" y="1645920"/>
            <a:ext cx="1508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prerequisite_gate: no lookup/refund until verified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9692640" y="2898648"/>
            <a:ext cx="329184" cy="329184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9"/>
          <p:cNvSpPr txBox="1"/>
          <p:nvPr/>
        </p:nvSpPr>
        <p:spPr>
          <a:xfrm>
            <a:off x="9692640" y="28986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0F17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80" dirty="0"/>
          </a:p>
        </p:txBody>
      </p:sp>
      <p:sp>
        <p:nvSpPr>
          <p:cNvPr id="13" name="Text 10"/>
          <p:cNvSpPr txBox="1"/>
          <p:nvPr/>
        </p:nvSpPr>
        <p:spPr>
          <a:xfrm>
            <a:off x="10131552" y="2880360"/>
            <a:ext cx="1508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enforce_refund_policy: nothing above $500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9692640" y="4133088"/>
            <a:ext cx="329184" cy="329184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2"/>
          <p:cNvSpPr txBox="1"/>
          <p:nvPr/>
        </p:nvSpPr>
        <p:spPr>
          <a:xfrm>
            <a:off x="9692640" y="41330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0F17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80" dirty="0"/>
          </a:p>
        </p:txBody>
      </p:sp>
      <p:sp>
        <p:nvSpPr>
          <p:cNvPr id="16" name="Text 13"/>
          <p:cNvSpPr txBox="1"/>
          <p:nvPr/>
        </p:nvSpPr>
        <p:spPr>
          <a:xfrm>
            <a:off x="10131552" y="4114800"/>
            <a:ext cx="1508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matters: first block wins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9692640" y="5486400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000" i="1" dirty="0">
                <a:solidFill>
                  <a:srgbClr val="8B9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excerpt, comment lines trimmed.</a:t>
            </a:r>
            <a:endParaRPr lang="en-US" sz="10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38328"/>
            <a:ext cx="868680" cy="329184"/>
          </a:xfrm>
          <a:prstGeom prst="roundRect">
            <a:avLst>
              <a:gd name="adj" fmla="val 22222"/>
            </a:avLst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548640" y="338328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600200" y="2286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Run: the $750 refund gets blocked</a:t>
            </a:r>
            <a:endParaRPr lang="en-US" sz="2800" dirty="0"/>
          </a:p>
        </p:txBody>
      </p:sp>
      <p:pic>
        <p:nvPicPr>
          <p:cNvPr id="5" name="Image 0" descr="/home/claude/build/img/run_02b_capstone_blocked_refun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05840"/>
            <a:ext cx="8823960" cy="4944093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9509760" y="1005840"/>
            <a:ext cx="2240280" cy="5532120"/>
          </a:xfrm>
          <a:prstGeom prst="roundRect">
            <a:avLst>
              <a:gd name="adj" fmla="val 4082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4"/>
          <p:cNvSpPr txBox="1"/>
          <p:nvPr/>
        </p:nvSpPr>
        <p:spPr>
          <a:xfrm>
            <a:off x="9692640" y="117043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9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at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9692640" y="1664208"/>
            <a:ext cx="329184" cy="329184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6"/>
          <p:cNvSpPr txBox="1"/>
          <p:nvPr/>
        </p:nvSpPr>
        <p:spPr>
          <a:xfrm>
            <a:off x="9692640" y="16642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0F17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80" dirty="0"/>
          </a:p>
        </p:txBody>
      </p:sp>
      <p:sp>
        <p:nvSpPr>
          <p:cNvPr id="10" name="Text 7"/>
          <p:cNvSpPr txBox="1"/>
          <p:nvPr/>
        </p:nvSpPr>
        <p:spPr>
          <a:xfrm>
            <a:off x="10131552" y="1645920"/>
            <a:ext cx="1508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PostToolUse turned cents + codes into $750.00, Delivered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9692640" y="2898648"/>
            <a:ext cx="329184" cy="329184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9"/>
          <p:cNvSpPr txBox="1"/>
          <p:nvPr/>
        </p:nvSpPr>
        <p:spPr>
          <a:xfrm>
            <a:off x="9692640" y="28986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0F17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80" dirty="0"/>
          </a:p>
        </p:txBody>
      </p:sp>
      <p:sp>
        <p:nvSpPr>
          <p:cNvPr id="13" name="Text 10"/>
          <p:cNvSpPr txBox="1"/>
          <p:nvPr/>
        </p:nvSpPr>
        <p:spPr>
          <a:xfrm>
            <a:off x="10131552" y="2880360"/>
            <a:ext cx="1508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calls process_refund for the full $750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9692640" y="4133088"/>
            <a:ext cx="329184" cy="329184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2"/>
          <p:cNvSpPr txBox="1"/>
          <p:nvPr/>
        </p:nvSpPr>
        <p:spPr>
          <a:xfrm>
            <a:off x="9692640" y="41330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0F17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80" dirty="0"/>
          </a:p>
        </p:txBody>
      </p:sp>
      <p:sp>
        <p:nvSpPr>
          <p:cNvPr id="16" name="Text 13"/>
          <p:cNvSpPr txBox="1"/>
          <p:nvPr/>
        </p:nvSpPr>
        <p:spPr>
          <a:xfrm>
            <a:off x="10131552" y="4114800"/>
            <a:ext cx="1508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 blocks it and names escalation as the next step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9692640" y="5486400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000" i="1" dirty="0">
                <a:solidFill>
                  <a:srgbClr val="8B9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replay: real demo code, scripted model responses. Re-run with ANTHROPIC_API_KEY for live output.</a:t>
            </a:r>
            <a:endParaRPr lang="en-US" sz="10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38328"/>
            <a:ext cx="868680" cy="329184"/>
          </a:xfrm>
          <a:prstGeom prst="roundRect">
            <a:avLst>
              <a:gd name="adj" fmla="val 22222"/>
            </a:avLst>
          </a:prstGeom>
          <a:solidFill>
            <a:srgbClr val="2BB3A3"/>
          </a:solidFill>
          <a:ln w="12700">
            <a:solidFill>
              <a:srgbClr val="2BB3A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548640" y="338328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600200" y="2286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PostToolUse: clean data before the model sees it</a:t>
            </a:r>
            <a:endParaRPr lang="en-US" sz="2800" dirty="0"/>
          </a:p>
        </p:txBody>
      </p:sp>
      <p:pic>
        <p:nvPicPr>
          <p:cNvPr id="5" name="Image 0" descr="/home/claude/build/img/code_04_posttool_normaliz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0410" y="1005840"/>
            <a:ext cx="6337540" cy="55321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9509760" y="1005840"/>
            <a:ext cx="2240280" cy="5532120"/>
          </a:xfrm>
          <a:prstGeom prst="roundRect">
            <a:avLst>
              <a:gd name="adj" fmla="val 4082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4"/>
          <p:cNvSpPr txBox="1"/>
          <p:nvPr/>
        </p:nvSpPr>
        <p:spPr>
          <a:xfrm>
            <a:off x="9692640" y="117043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9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at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9692640" y="1664208"/>
            <a:ext cx="329184" cy="329184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6"/>
          <p:cNvSpPr txBox="1"/>
          <p:nvPr/>
        </p:nvSpPr>
        <p:spPr>
          <a:xfrm>
            <a:off x="9692640" y="16642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0F17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80" dirty="0"/>
          </a:p>
        </p:txBody>
      </p:sp>
      <p:sp>
        <p:nvSpPr>
          <p:cNvPr id="10" name="Text 7"/>
          <p:cNvSpPr txBox="1"/>
          <p:nvPr/>
        </p:nvSpPr>
        <p:spPr>
          <a:xfrm>
            <a:off x="10131552" y="1645920"/>
            <a:ext cx="1508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code 3 → "Delivered"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9692640" y="2898648"/>
            <a:ext cx="329184" cy="329184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9"/>
          <p:cNvSpPr txBox="1"/>
          <p:nvPr/>
        </p:nvSpPr>
        <p:spPr>
          <a:xfrm>
            <a:off x="9692640" y="28986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0F17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80" dirty="0"/>
          </a:p>
        </p:txBody>
      </p:sp>
      <p:sp>
        <p:nvSpPr>
          <p:cNvPr id="13" name="Text 10"/>
          <p:cNvSpPr txBox="1"/>
          <p:nvPr/>
        </p:nvSpPr>
        <p:spPr>
          <a:xfrm>
            <a:off x="10131552" y="2880360"/>
            <a:ext cx="1508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Unix timestamp → readable date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9692640" y="4133088"/>
            <a:ext cx="329184" cy="329184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2"/>
          <p:cNvSpPr txBox="1"/>
          <p:nvPr/>
        </p:nvSpPr>
        <p:spPr>
          <a:xfrm>
            <a:off x="9692640" y="41330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0F17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80" dirty="0"/>
          </a:p>
        </p:txBody>
      </p:sp>
      <p:sp>
        <p:nvSpPr>
          <p:cNvPr id="16" name="Text 13"/>
          <p:cNvSpPr txBox="1"/>
          <p:nvPr/>
        </p:nvSpPr>
        <p:spPr>
          <a:xfrm>
            <a:off x="10131552" y="4114800"/>
            <a:ext cx="1508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Cents → $ string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9692640" y="5486400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000" i="1" dirty="0">
                <a:solidFill>
                  <a:srgbClr val="8B9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excerpt, comment lines trimmed.</a:t>
            </a:r>
            <a:endParaRPr lang="en-US" sz="10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38328"/>
            <a:ext cx="868680" cy="329184"/>
          </a:xfrm>
          <a:prstGeom prst="roundRect">
            <a:avLst>
              <a:gd name="adj" fmla="val 22222"/>
            </a:avLst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548640" y="338328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600200" y="2286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Run: a $99 refund goes straight through</a:t>
            </a:r>
            <a:endParaRPr lang="en-US" sz="2800" dirty="0"/>
          </a:p>
        </p:txBody>
      </p:sp>
      <p:pic>
        <p:nvPicPr>
          <p:cNvPr id="5" name="Image 0" descr="/home/claude/build/img/run_05_capstone_refund_ok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05840"/>
            <a:ext cx="8823960" cy="4944093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9509760" y="1005840"/>
            <a:ext cx="2240280" cy="5532120"/>
          </a:xfrm>
          <a:prstGeom prst="roundRect">
            <a:avLst>
              <a:gd name="adj" fmla="val 4082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4"/>
          <p:cNvSpPr txBox="1"/>
          <p:nvPr/>
        </p:nvSpPr>
        <p:spPr>
          <a:xfrm>
            <a:off x="9692640" y="117043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9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at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9692640" y="1664208"/>
            <a:ext cx="329184" cy="329184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6"/>
          <p:cNvSpPr txBox="1"/>
          <p:nvPr/>
        </p:nvSpPr>
        <p:spPr>
          <a:xfrm>
            <a:off x="9692640" y="16642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0F17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80" dirty="0"/>
          </a:p>
        </p:txBody>
      </p:sp>
      <p:sp>
        <p:nvSpPr>
          <p:cNvPr id="10" name="Text 7"/>
          <p:cNvSpPr txBox="1"/>
          <p:nvPr/>
        </p:nvSpPr>
        <p:spPr>
          <a:xfrm>
            <a:off x="10131552" y="1645920"/>
            <a:ext cx="1508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code, order O100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9692640" y="2898648"/>
            <a:ext cx="329184" cy="329184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9"/>
          <p:cNvSpPr txBox="1"/>
          <p:nvPr/>
        </p:nvSpPr>
        <p:spPr>
          <a:xfrm>
            <a:off x="9692640" y="28986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0F17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80" dirty="0"/>
          </a:p>
        </p:txBody>
      </p:sp>
      <p:sp>
        <p:nvSpPr>
          <p:cNvPr id="13" name="Text 10"/>
          <p:cNvSpPr txBox="1"/>
          <p:nvPr/>
        </p:nvSpPr>
        <p:spPr>
          <a:xfrm>
            <a:off x="10131552" y="2880360"/>
            <a:ext cx="1508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gates allow it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9692640" y="4133088"/>
            <a:ext cx="329184" cy="329184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2"/>
          <p:cNvSpPr txBox="1"/>
          <p:nvPr/>
        </p:nvSpPr>
        <p:spPr>
          <a:xfrm>
            <a:off x="9692640" y="41330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0F17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80" dirty="0"/>
          </a:p>
        </p:txBody>
      </p:sp>
      <p:sp>
        <p:nvSpPr>
          <p:cNvPr id="16" name="Text 13"/>
          <p:cNvSpPr txBox="1"/>
          <p:nvPr/>
        </p:nvSpPr>
        <p:spPr>
          <a:xfrm>
            <a:off x="10131552" y="4114800"/>
            <a:ext cx="1508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Refund REF-O100 issued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9692640" y="5486400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000" i="1" dirty="0">
                <a:solidFill>
                  <a:srgbClr val="8B9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replay: real demo code, scripted model responses. Re-run with ANTHROPIC_API_KEY for live output.</a:t>
            </a:r>
            <a:endParaRPr lang="en-US" sz="10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0F17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img/L06_S0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572" y="164592"/>
            <a:ext cx="11274552" cy="6292773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0F17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img/L06_S0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572" y="164592"/>
            <a:ext cx="11274552" cy="6292773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38328"/>
            <a:ext cx="868680" cy="329184"/>
          </a:xfrm>
          <a:prstGeom prst="roundRect">
            <a:avLst>
              <a:gd name="adj" fmla="val 22222"/>
            </a:avLst>
          </a:prstGeom>
          <a:solidFill>
            <a:srgbClr val="2BB3A3"/>
          </a:solidFill>
          <a:ln w="12700">
            <a:solidFill>
              <a:srgbClr val="2BB3A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548640" y="338328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600200" y="2286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description that encodes policy</a:t>
            </a:r>
            <a:endParaRPr lang="en-US" sz="2800" dirty="0"/>
          </a:p>
        </p:txBody>
      </p:sp>
      <p:pic>
        <p:nvPicPr>
          <p:cNvPr id="5" name="Image 0" descr="/home/claude/build/img/code_05_tool_descriptio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05840"/>
            <a:ext cx="8823960" cy="520346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9509760" y="1005840"/>
            <a:ext cx="2240280" cy="5532120"/>
          </a:xfrm>
          <a:prstGeom prst="roundRect">
            <a:avLst>
              <a:gd name="adj" fmla="val 4082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4"/>
          <p:cNvSpPr txBox="1"/>
          <p:nvPr/>
        </p:nvSpPr>
        <p:spPr>
          <a:xfrm>
            <a:off x="9692640" y="117043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9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at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9692640" y="1664208"/>
            <a:ext cx="329184" cy="329184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6"/>
          <p:cNvSpPr txBox="1"/>
          <p:nvPr/>
        </p:nvSpPr>
        <p:spPr>
          <a:xfrm>
            <a:off x="9692640" y="16642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0F17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80" dirty="0"/>
          </a:p>
        </p:txBody>
      </p:sp>
      <p:sp>
        <p:nvSpPr>
          <p:cNvPr id="10" name="Text 7"/>
          <p:cNvSpPr txBox="1"/>
          <p:nvPr/>
        </p:nvSpPr>
        <p:spPr>
          <a:xfrm>
            <a:off x="10131552" y="1645920"/>
            <a:ext cx="1508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When: immediately on an explicit request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9692640" y="2898648"/>
            <a:ext cx="329184" cy="329184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9"/>
          <p:cNvSpPr txBox="1"/>
          <p:nvPr/>
        </p:nvSpPr>
        <p:spPr>
          <a:xfrm>
            <a:off x="9692640" y="28986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0F17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80" dirty="0"/>
          </a:p>
        </p:txBody>
      </p:sp>
      <p:sp>
        <p:nvSpPr>
          <p:cNvPr id="13" name="Text 10"/>
          <p:cNvSpPr txBox="1"/>
          <p:nvPr/>
        </p:nvSpPr>
        <p:spPr>
          <a:xfrm>
            <a:off x="10131552" y="2880360"/>
            <a:ext cx="1508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When: beyond authority, or repeated failures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9692640" y="4133088"/>
            <a:ext cx="329184" cy="329184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2"/>
          <p:cNvSpPr txBox="1"/>
          <p:nvPr/>
        </p:nvSpPr>
        <p:spPr>
          <a:xfrm>
            <a:off x="9692640" y="41330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0F17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80" dirty="0"/>
          </a:p>
        </p:txBody>
      </p:sp>
      <p:sp>
        <p:nvSpPr>
          <p:cNvPr id="16" name="Text 13"/>
          <p:cNvSpPr txBox="1"/>
          <p:nvPr/>
        </p:nvSpPr>
        <p:spPr>
          <a:xfrm>
            <a:off x="10131552" y="4114800"/>
            <a:ext cx="1508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not: don't insist on verification first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9692640" y="5486400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000" i="1" dirty="0">
                <a:solidFill>
                  <a:srgbClr val="8B9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excerpt, comment lines trimmed.</a:t>
            </a:r>
            <a:endParaRPr lang="en-US" sz="10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0F17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img/L07_S0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572" y="164592"/>
            <a:ext cx="11274552" cy="6292773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0F17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img/L07_S0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572" y="164592"/>
            <a:ext cx="11274552" cy="6292773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38328"/>
            <a:ext cx="868680" cy="329184"/>
          </a:xfrm>
          <a:prstGeom prst="roundRect">
            <a:avLst>
              <a:gd name="adj" fmla="val 22222"/>
            </a:avLst>
          </a:prstGeom>
          <a:solidFill>
            <a:srgbClr val="2BB3A3"/>
          </a:solidFill>
          <a:ln w="12700">
            <a:solidFill>
              <a:srgbClr val="2BB3A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548640" y="338328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600200" y="2286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Errors the model (and coordinator) can act on</a:t>
            </a:r>
            <a:endParaRPr lang="en-US" sz="2800" dirty="0"/>
          </a:p>
        </p:txBody>
      </p:sp>
      <p:pic>
        <p:nvPicPr>
          <p:cNvPr id="5" name="Image 0" descr="/home/claude/build/img/code_02_tool_error_categorie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4624" y="1005840"/>
            <a:ext cx="6129111" cy="55321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9509760" y="1005840"/>
            <a:ext cx="2240280" cy="5532120"/>
          </a:xfrm>
          <a:prstGeom prst="roundRect">
            <a:avLst>
              <a:gd name="adj" fmla="val 4082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4"/>
          <p:cNvSpPr txBox="1"/>
          <p:nvPr/>
        </p:nvSpPr>
        <p:spPr>
          <a:xfrm>
            <a:off x="9692640" y="117043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9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at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9692640" y="1664208"/>
            <a:ext cx="329184" cy="329184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6"/>
          <p:cNvSpPr txBox="1"/>
          <p:nvPr/>
        </p:nvSpPr>
        <p:spPr>
          <a:xfrm>
            <a:off x="9692640" y="16642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0F17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80" dirty="0"/>
          </a:p>
        </p:txBody>
      </p:sp>
      <p:sp>
        <p:nvSpPr>
          <p:cNvPr id="10" name="Text 7"/>
          <p:cNvSpPr txBox="1"/>
          <p:nvPr/>
        </p:nvSpPr>
        <p:spPr>
          <a:xfrm>
            <a:off x="10131552" y="1645920"/>
            <a:ext cx="1508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errorCategory drives the recovery path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9692640" y="2898648"/>
            <a:ext cx="329184" cy="329184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9"/>
          <p:cNvSpPr txBox="1"/>
          <p:nvPr/>
        </p:nvSpPr>
        <p:spPr>
          <a:xfrm>
            <a:off x="9692640" y="28986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0F17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80" dirty="0"/>
          </a:p>
        </p:txBody>
      </p:sp>
      <p:sp>
        <p:nvSpPr>
          <p:cNvPr id="13" name="Text 10"/>
          <p:cNvSpPr txBox="1"/>
          <p:nvPr/>
        </p:nvSpPr>
        <p:spPr>
          <a:xfrm>
            <a:off x="10131552" y="2880360"/>
            <a:ext cx="1508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isRetryable: retry vs rethink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9692640" y="4133088"/>
            <a:ext cx="329184" cy="329184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2"/>
          <p:cNvSpPr txBox="1"/>
          <p:nvPr/>
        </p:nvSpPr>
        <p:spPr>
          <a:xfrm>
            <a:off x="9692640" y="41330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0F17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80" dirty="0"/>
          </a:p>
        </p:txBody>
      </p:sp>
      <p:sp>
        <p:nvSpPr>
          <p:cNvPr id="16" name="Text 13"/>
          <p:cNvSpPr txBox="1"/>
          <p:nvPr/>
        </p:nvSpPr>
        <p:spPr>
          <a:xfrm>
            <a:off x="10131552" y="4114800"/>
            <a:ext cx="1508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retryAfterMs for transient faults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9692640" y="5486400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000" i="1" dirty="0">
                <a:solidFill>
                  <a:srgbClr val="8B9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excerpt, comment lines trimmed.</a:t>
            </a:r>
            <a:endParaRPr lang="en-US" sz="10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0F17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img/L18_S1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572" y="164592"/>
            <a:ext cx="11274552" cy="6292773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0F17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img/L18_S1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572" y="164592"/>
            <a:ext cx="11274552" cy="6292773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38328"/>
            <a:ext cx="868680" cy="329184"/>
          </a:xfrm>
          <a:prstGeom prst="roundRect">
            <a:avLst>
              <a:gd name="adj" fmla="val 22222"/>
            </a:avLst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548640" y="338328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600200" y="2286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Run: “I want a real human”</a:t>
            </a:r>
            <a:endParaRPr lang="en-US" sz="2800" dirty="0"/>
          </a:p>
        </p:txBody>
      </p:sp>
      <p:pic>
        <p:nvPicPr>
          <p:cNvPr id="5" name="Image 0" descr="/home/claude/build/img/run_03_capstone_human_escalatio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05840"/>
            <a:ext cx="8823960" cy="436637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9509760" y="1005840"/>
            <a:ext cx="2240280" cy="5532120"/>
          </a:xfrm>
          <a:prstGeom prst="roundRect">
            <a:avLst>
              <a:gd name="adj" fmla="val 4082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4"/>
          <p:cNvSpPr txBox="1"/>
          <p:nvPr/>
        </p:nvSpPr>
        <p:spPr>
          <a:xfrm>
            <a:off x="9692640" y="117043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9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at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9692640" y="1664208"/>
            <a:ext cx="329184" cy="329184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6"/>
          <p:cNvSpPr txBox="1"/>
          <p:nvPr/>
        </p:nvSpPr>
        <p:spPr>
          <a:xfrm>
            <a:off x="9692640" y="16642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0F17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80" dirty="0"/>
          </a:p>
        </p:txBody>
      </p:sp>
      <p:sp>
        <p:nvSpPr>
          <p:cNvPr id="10" name="Text 7"/>
          <p:cNvSpPr txBox="1"/>
          <p:nvPr/>
        </p:nvSpPr>
        <p:spPr>
          <a:xfrm>
            <a:off x="10131552" y="1645920"/>
            <a:ext cx="1508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toolset available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9692640" y="2898648"/>
            <a:ext cx="329184" cy="329184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9"/>
          <p:cNvSpPr txBox="1"/>
          <p:nvPr/>
        </p:nvSpPr>
        <p:spPr>
          <a:xfrm>
            <a:off x="9692640" y="28986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0F17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80" dirty="0"/>
          </a:p>
        </p:txBody>
      </p:sp>
      <p:sp>
        <p:nvSpPr>
          <p:cNvPr id="13" name="Text 10"/>
          <p:cNvSpPr txBox="1"/>
          <p:nvPr/>
        </p:nvSpPr>
        <p:spPr>
          <a:xfrm>
            <a:off x="10131552" y="2880360"/>
            <a:ext cx="1508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picks escalate_to_human first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9692640" y="4133088"/>
            <a:ext cx="329184" cy="329184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2"/>
          <p:cNvSpPr txBox="1"/>
          <p:nvPr/>
        </p:nvSpPr>
        <p:spPr>
          <a:xfrm>
            <a:off x="9692640" y="41330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0F17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80" dirty="0"/>
          </a:p>
        </p:txBody>
      </p:sp>
      <p:sp>
        <p:nvSpPr>
          <p:cNvPr id="16" name="Text 13"/>
          <p:cNvSpPr txBox="1"/>
          <p:nvPr/>
        </p:nvSpPr>
        <p:spPr>
          <a:xfrm>
            <a:off x="10131552" y="4114800"/>
            <a:ext cx="1508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forced verification before handoff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9692640" y="5486400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000" i="1" dirty="0">
                <a:solidFill>
                  <a:srgbClr val="8B9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replay: real demo code, scripted model responses. Re-run with ANTHROPIC_API_KEY for live output.</a:t>
            </a:r>
            <a:endParaRPr lang="en-US" sz="10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0F17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img/L05_S09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572" y="164592"/>
            <a:ext cx="11274552" cy="6292773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0F17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img/L05_S1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572" y="164592"/>
            <a:ext cx="11274552" cy="6292773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0F17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0116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4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51460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Reliability at scale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7490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B8C2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Failures that don't crash are the ones that hurt.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58521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B9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30 min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052560" y="822960"/>
            <a:ext cx="2377440" cy="2377440"/>
          </a:xfrm>
          <a:prstGeom prst="ellipse">
            <a:avLst/>
          </a:prstGeom>
          <a:solidFill>
            <a:srgbClr val="18212C"/>
          </a:solidFill>
          <a:ln w="25400">
            <a:solidFill>
              <a:srgbClr val="F2A54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9052560" y="822960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6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96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0F17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img/L19_S0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572" y="164592"/>
            <a:ext cx="11274552" cy="6292773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0F17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img/L19_S0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572" y="164592"/>
            <a:ext cx="11274552" cy="6292773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0F17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img/L19_S0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572" y="164592"/>
            <a:ext cx="11274552" cy="6292773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0F17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img/L19_S0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572" y="164592"/>
            <a:ext cx="11274552" cy="6292773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0F17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img/L19_S09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572" y="164592"/>
            <a:ext cx="11274552" cy="6292773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188720" cy="329184"/>
          </a:xfrm>
          <a:prstGeom prst="roundRect">
            <a:avLst>
              <a:gd name="adj" fmla="val 22222"/>
            </a:avLst>
          </a:prstGeom>
          <a:solidFill>
            <a:srgbClr val="E0565B"/>
          </a:solidFill>
          <a:ln w="12700">
            <a:solidFill>
              <a:srgbClr val="E0565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HUNT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920240" y="274320"/>
            <a:ext cx="9784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Everything failed. The coordinator says “resolved”.</a:t>
            </a:r>
            <a:endParaRPr lang="en-US" sz="2800" dirty="0"/>
          </a:p>
        </p:txBody>
      </p:sp>
      <p:pic>
        <p:nvPicPr>
          <p:cNvPr id="5" name="Image 0" descr="/home/claude/build/img/run_04_capstone_gate_block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4687" y="1005840"/>
            <a:ext cx="7508986" cy="55321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9509760" y="1005840"/>
            <a:ext cx="2240280" cy="5532120"/>
          </a:xfrm>
          <a:prstGeom prst="roundRect">
            <a:avLst>
              <a:gd name="adj" fmla="val 4082"/>
            </a:avLst>
          </a:prstGeom>
          <a:solidFill>
            <a:srgbClr val="FCEBEC"/>
          </a:solidFill>
          <a:ln w="12700">
            <a:solidFill>
              <a:srgbClr val="FCEB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4"/>
          <p:cNvSpPr txBox="1"/>
          <p:nvPr/>
        </p:nvSpPr>
        <p:spPr>
          <a:xfrm>
            <a:off x="9692640" y="1188720"/>
            <a:ext cx="1874520" cy="5166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happened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C999 doesn't exist. The gate correctly blocks the lookup.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bug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run_subagent() always returns status: "complete", and coordinator() never checks it before continuing.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a status + errorCategory from each subagent; stop or escalate on failure.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6565392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B9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by running the capstone with customer C999. Offline replay.</a:t>
            </a:r>
            <a:endParaRPr lang="en-US" sz="10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0F17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img/L19_S1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572" y="164592"/>
            <a:ext cx="11274552" cy="6292773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0F17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img/L18_S0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572" y="164592"/>
            <a:ext cx="11274552" cy="6292773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0F17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img/L18_S07.jpg"/>
          <p:cNvPicPr>
            <a:picLocks noChangeAspect="1"/>
          </p:cNvPicPr>
          <p:nvPr/>
        </p:nvPicPr>
        <p:blipFill>
          <a:blip r:embed="rId3"/>
          <a:srcRect b="33522"/>
          <a:stretch>
            <a:fillRect/>
          </a:stretch>
        </p:blipFill>
        <p:spPr>
          <a:xfrm>
            <a:off x="458724" y="164593"/>
            <a:ext cx="11274552" cy="4183290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0F17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img/L19_S1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572" y="164592"/>
            <a:ext cx="11274552" cy="6292773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0F17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img/L20_S0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572" y="164592"/>
            <a:ext cx="11274552" cy="6292773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0F17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img/L20_S0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572" y="164592"/>
            <a:ext cx="11274552" cy="629277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2366</Words>
  <Application>Microsoft Office PowerPoint</Application>
  <PresentationFormat>Widescreen</PresentationFormat>
  <Paragraphs>353</Paragraphs>
  <Slides>71</Slides>
  <Notes>71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71</vt:i4>
      </vt:variant>
    </vt:vector>
  </HeadingPairs>
  <TitlesOfParts>
    <vt:vector size="75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Multi-Agent Architectures — VIT</dc:title>
  <dc:subject>PptxGenJS Presentation</dc:subject>
  <dc:creator>PptxGenJS</dc:creator>
  <cp:lastModifiedBy>Srikanth Srigiri</cp:lastModifiedBy>
  <cp:revision>4</cp:revision>
  <dcterms:created xsi:type="dcterms:W3CDTF">2026-09-30T09:04:21Z</dcterms:created>
  <dcterms:modified xsi:type="dcterms:W3CDTF">2026-10-01T02:14:12Z</dcterms:modified>
</cp:coreProperties>
</file>