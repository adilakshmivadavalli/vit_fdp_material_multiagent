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0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31520" y="18745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926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Usecases and Current Challenges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31520" y="3794760"/>
            <a:ext cx="1097280" cy="0"/>
          </a:xfrm>
          <a:prstGeom prst="line">
            <a:avLst/>
          </a:prstGeom>
          <a:noFill/>
          <a:ln w="38100">
            <a:solidFill>
              <a:srgbClr val="2BB3A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02336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Adilakshmi Vadavalli, PhD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62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 |  Solution Architect  |  AWS &amp; Azure Specialist  |  Capgemini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SPEAKER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Adilakshmi Vadavalli, PhD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 |  Solution Architect  |  AWS &amp; Azure Specialist  |  Capgemini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651760" cy="2651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/home/claude/sat/media/s02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2468880" cy="24688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0" y="196596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experience across data science, cloud solution architecture, and enterprise AI delivery.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&amp; Azure specialist, designing production-grade ML and GenAI systems for global clients.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MLOps, Generative AI, and Agentic AI systems — from prototypes to production.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engages with academia through industry expert sessions, FDPs, and case-study workshops.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5010912"/>
            <a:ext cx="113385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/home/claude/sat/media/s02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56632"/>
            <a:ext cx="1042416" cy="10424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48840" y="5120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on LinkedIn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2148840" y="5550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to view my profile, projects, and future sessions.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36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8132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Machine Learning &amp; MLOps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481328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fundamentals, the six jars of ML, and 9 essential algorithms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463040" y="2249424"/>
            <a:ext cx="1014984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68296"/>
            <a:ext cx="566928" cy="566928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36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9514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to Agentic AI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95144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vs GenAIOps vs AgenticAIOps, and core agentic design patterns with industry use cases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463040" y="3063240"/>
            <a:ext cx="1014984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82112"/>
            <a:ext cx="566928" cy="56692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36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089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LLMs &amp; Agentic Systems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10896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Chatbot, classification, and information-extraction evaluation frameworks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463040" y="3877056"/>
            <a:ext cx="1014984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95928"/>
            <a:ext cx="566928" cy="566928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995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36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2277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Practices, Governance &amp; Careers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922776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vs spec-driven dev, AI guardrails, data sovereignty, and the Forward Deployed Engineer role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463040" y="4690872"/>
            <a:ext cx="1014984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09744"/>
            <a:ext cx="566928" cy="56692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809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36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 in Agentic AI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4736592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hard in production — and how the industry is responding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1463040" y="5504688"/>
            <a:ext cx="1014984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623560"/>
            <a:ext cx="566928" cy="566928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5623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36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55040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Open Discussion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5550408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and Q&amp;A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Machine Learning &amp; MLOps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fundamentals, the six jars of ML, and essential algorithms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05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06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07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 to Agentic AI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predictive models, to generative models, to autonomous agents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  •  School of Computing  •  AI &amp; 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09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0">
              <a:alpha val="92000"/>
            </a:srgbClr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097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AI UNIVERSE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52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into the “AI Agents” planet — the building blocks that power one autonomous system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05256" y="45171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37560" y="385876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8212C"/>
          </a:solidFill>
          <a:ln w="19050">
            <a:solidFill>
              <a:srgbClr val="2BB3A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3858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63240" y="385876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632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6" dirty="0"/>
          </a:p>
        </p:txBody>
      </p:sp>
      <p:sp>
        <p:nvSpPr>
          <p:cNvPr id="11" name="Shape 8"/>
          <p:cNvSpPr/>
          <p:nvPr/>
        </p:nvSpPr>
        <p:spPr>
          <a:xfrm>
            <a:off x="4727448" y="4471416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8212C"/>
          </a:solidFill>
          <a:ln w="19050">
            <a:solidFill>
              <a:srgbClr val="2BB3A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28616" y="44714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53128" y="447141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53128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6" dirty="0"/>
          </a:p>
        </p:txBody>
      </p:sp>
      <p:sp>
        <p:nvSpPr>
          <p:cNvPr id="15" name="Shape 12"/>
          <p:cNvSpPr/>
          <p:nvPr/>
        </p:nvSpPr>
        <p:spPr>
          <a:xfrm>
            <a:off x="6181344" y="373075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8212C"/>
          </a:solidFill>
          <a:ln w="19050">
            <a:solidFill>
              <a:srgbClr val="2BB3A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2512" y="3730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07024" y="3730752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07024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6" dirty="0"/>
          </a:p>
        </p:txBody>
      </p:sp>
      <p:sp>
        <p:nvSpPr>
          <p:cNvPr id="19" name="Shape 16"/>
          <p:cNvSpPr/>
          <p:nvPr/>
        </p:nvSpPr>
        <p:spPr>
          <a:xfrm>
            <a:off x="7589520" y="4425696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8212C"/>
          </a:solidFill>
          <a:ln w="19050">
            <a:solidFill>
              <a:srgbClr val="2BB3A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44256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315200" y="442569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76" dirty="0"/>
          </a:p>
        </p:txBody>
      </p:sp>
      <p:sp>
        <p:nvSpPr>
          <p:cNvPr id="23" name="Shape 20"/>
          <p:cNvSpPr/>
          <p:nvPr/>
        </p:nvSpPr>
        <p:spPr>
          <a:xfrm>
            <a:off x="9125712" y="3739896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8212C"/>
          </a:solidFill>
          <a:ln w="19050">
            <a:solidFill>
              <a:srgbClr val="2BB3A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6880" y="37398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851392" y="373989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51392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76" dirty="0"/>
          </a:p>
        </p:txBody>
      </p:sp>
      <p:sp>
        <p:nvSpPr>
          <p:cNvPr id="27" name="Shape 24"/>
          <p:cNvSpPr/>
          <p:nvPr/>
        </p:nvSpPr>
        <p:spPr>
          <a:xfrm>
            <a:off x="10497312" y="450799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8212C"/>
          </a:solidFill>
          <a:ln w="19050">
            <a:solidFill>
              <a:srgbClr val="2BB3A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98480" y="45079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10222992" y="4507992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22992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76" dirty="0"/>
          </a:p>
        </p:txBody>
      </p:sp>
      <p:sp>
        <p:nvSpPr>
          <p:cNvPr id="31" name="Text 28"/>
          <p:cNvSpPr txBox="1"/>
          <p:nvPr/>
        </p:nvSpPr>
        <p:spPr>
          <a:xfrm>
            <a:off x="3593592" y="2075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UNIVERSE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593592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 •  Healthcare  •  Retail  •  Logistics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66176" y="1078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FRONTIER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66176" y="133502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· MCP Protocols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73252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732520" y="2404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Latency · Trust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5870448"/>
            <a:ext cx="12191695" cy="56692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7160" y="59161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 </a:t>
            </a:r>
            <a:r>
              <a:rPr lang="en-US" sz="105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raw request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2167128" y="59161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</a:t>
            </a:r>
            <a:r>
              <a:rPr lang="en-US" sz="105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context across steps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197096" y="59161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 </a:t>
            </a:r>
            <a:r>
              <a:rPr lang="en-US" sz="105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APIs to act on the world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227064" y="59161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</a:t>
            </a:r>
            <a:r>
              <a:rPr lang="en-US" sz="105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goals into ordered steps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257032" y="59161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 </a:t>
            </a:r>
            <a:r>
              <a:rPr lang="en-US" sz="105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coordinate together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10287000" y="59161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</a:t>
            </a:r>
            <a:r>
              <a:rPr lang="en-US" sz="105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action safe &amp; accountable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0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1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LLMs &amp; Agentic Systems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quality, accuracy, and reliability in production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3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4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5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Practices, Governance &amp; Careers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governing, and deploying agentic AI responsibly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052560" y="822960"/>
            <a:ext cx="2377440" cy="2377440"/>
          </a:xfrm>
          <a:prstGeom prst="ellipse">
            <a:avLst/>
          </a:prstGeom>
          <a:solidFill>
            <a:srgbClr val="18212C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7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8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19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20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t/media/s21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8" y="124301"/>
            <a:ext cx="11750040" cy="66093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in Action: Enterprise Use Cases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production deployments spanning finance, procurement, retail, and insurance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66544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8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9339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Extraction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2798064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98064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vendor, line-item, tax, and total fields from invoices automatically.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810512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066544"/>
            <a:ext cx="548640" cy="54864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99339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/ No-Shop Classification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617720" y="2798064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2798064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Field Ops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field-agent store photos as valid shop visits or invalid submissions.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810512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066544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99339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to PO Creation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412480" y="2798064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2798064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approved purchase requisitions into purchase orders automatically.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142232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398264"/>
            <a:ext cx="548640" cy="54864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32511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Transformation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822960" y="5129784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1297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Finance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532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and transforms raw journal entries into structured accounting formats.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43400" y="4142232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4398264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177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8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432511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in Retail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4617720" y="5129784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17720" y="5129784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617720" y="5532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point-of-sale transactions with product, category, and promotion metadata.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38160" y="4142232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4398264"/>
            <a:ext cx="548640" cy="54864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1248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80" dirty="0"/>
          </a:p>
        </p:txBody>
      </p:sp>
      <p:sp>
        <p:nvSpPr>
          <p:cNvPr id="43" name="Text 41"/>
          <p:cNvSpPr txBox="1"/>
          <p:nvPr/>
        </p:nvSpPr>
        <p:spPr>
          <a:xfrm>
            <a:off x="9098280" y="4325112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 Extraction &amp; Validation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8412480" y="5129784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12480" y="5129784"/>
            <a:ext cx="1101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412480" y="5532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and validates policy fields against underwriting rules for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Challenges in Agentic 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hard when moving agentic systems from demo to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93392"/>
            <a:ext cx="73152" cy="69494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at scale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677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still compounds small errors into large failures across long agent trajectories.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93392"/>
            <a:ext cx="73152" cy="694944"/>
          </a:xfrm>
          <a:prstGeom prst="rect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orchestration failures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677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cascades when one tool call fails silently and downstream steps build on bad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54680"/>
            <a:ext cx="73152" cy="69494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0998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4290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benchmark yet for agent quality — teams build custom eval suites per use case.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990088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154680"/>
            <a:ext cx="73152" cy="694944"/>
          </a:xfrm>
          <a:prstGeom prst="rect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0998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prompt injection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4290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 in tool outputs can hijack an agent's next action if not isolated.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51376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15968"/>
            <a:ext cx="73152" cy="69494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611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 at scale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902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multi-step workflows multiply token cost and response time quickly.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151376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315968"/>
            <a:ext cx="73152" cy="694944"/>
          </a:xfrm>
          <a:prstGeom prst="rect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2611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accountability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5902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ownership when an autonomous action causes a real-world consequence.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12664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477256"/>
            <a:ext cx="73152" cy="69494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422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gap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75157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engineers are yet skilled in agent evaluation, orchestration, and safe deployment.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5312664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E3F4F2"/>
          </a:solidFill>
          <a:ln w="12700">
            <a:solidFill>
              <a:srgbClr val="E3F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5477256"/>
            <a:ext cx="73152" cy="694944"/>
          </a:xfrm>
          <a:prstGeom prst="rect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5422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sovereignty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75157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need control, not just residency, as agents span regions and vendors.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81912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a genuine architectural shift — from operationalizing trained models (MLOps) to orchestrating autonomous, tool-using agents (AgenticAIOps).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386584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67712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patterns — Reflection, Tool Use, Planning, and Multi-Agent Collaboration — already power real production systems across finance, healthcare, logistics, and retail.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191256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72384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not optional: without eval suites for chatbots, classifiers, and extraction pipelines, quality regressions reach users unnoticed.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995928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77056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from AI-assisted coding is real, but so is the security debt — pair vibe coding with review discipline and spec-driven practices for production.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681728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80060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68172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deployment means treating fairness, privacy, guardrails, and sovereignty as first-class architecture decisions, not afterthoughts.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6424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605272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48640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career paths — like the Forward Deployed Engineer — are emerging specifically to close the gap between agentic AI capability and real-world deployment.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discussion, and open floor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1097280" cy="0"/>
          </a:xfrm>
          <a:prstGeom prst="line">
            <a:avLst/>
          </a:prstGeom>
          <a:noFill/>
          <a:ln w="38100">
            <a:solidFill>
              <a:srgbClr val="2BB3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0233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Adilakshmi Vadavalli, PhD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62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Scientist  |  Solution Architect  |  Capgemini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691640"/>
            <a:ext cx="283464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38100">
            <a:solidFill>
              <a:srgbClr val="F2A541"/>
            </a:solidFill>
            <a:prstDash val="solid"/>
          </a:ln>
        </p:spPr>
      </p:sp>
      <p:pic>
        <p:nvPicPr>
          <p:cNvPr id="8" name="Image 0" descr="/home/claude/sat/media/s25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87452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104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connect on LinkedIn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Sathyabama Institute of Science and Technology  •  School of Computing  •  AI &amp; 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948</Words>
  <Application>Microsoft Office PowerPoint</Application>
  <PresentationFormat>Widescreen</PresentationFormat>
  <Paragraphs>171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— Industry Usecases and Current Challenges</dc:title>
  <dc:subject>PptxGenJS Presentation</dc:subject>
  <dc:creator>PptxGenJS</dc:creator>
  <cp:lastModifiedBy>Srikanth Srigiri</cp:lastModifiedBy>
  <cp:revision>3</cp:revision>
  <dcterms:created xsi:type="dcterms:W3CDTF">2026-10-01T02:18:15Z</dcterms:created>
  <dcterms:modified xsi:type="dcterms:W3CDTF">2026-10-01T03:59:16Z</dcterms:modified>
</cp:coreProperties>
</file>