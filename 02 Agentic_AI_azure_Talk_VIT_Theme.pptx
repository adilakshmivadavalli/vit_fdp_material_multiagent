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Quick self-intro as the MC hands over — your name/role are already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Walk through the bullets briefly; point out the QR code at the end for anyone who wants to connect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Preview the four sections — note that the last one may be a recording as a live-demo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Set up the real-world pain point: manual review doesn't scale. Keep 'The Ask' and 'The Bottleneck' brief and let the bullets do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Let the big numbers land — pause after '100ms vs ~1/min'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This is the credibility slide — real lessons from building the first version. Rows 3 and 5 foreshadow the Pre-Checks step and Human Review branch coming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Point out that the geotag overlay is baked into the pixels, not EXIF metadata — that is why extraction has to read it off the image (OCR), matching the Geo-Verify tool shown later in the scaled architecture. The two Not Shop examples are still real outlets — the point is the rule, not that they look fake.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Walk left to right along the diagram. The Storage account has an Event Grid subscription (System Topic on Microsoft.Storage.StorageAccounts) that fires the Function on blob creation. Call out that the Vision Classify step (teal, Mistral Medium 2505 on Azure AI Foundry) is the only AI-specific stage — everything else is standard Azure plumbing.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Expand on each of the five steps — this is the technical meat of the architecture section. Step 2 is the Event Grid subscription shown in the portal screenshot; step 4 is Mistral Medium 2505, deployed via Azure AI Foundry (Global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live (or ~2 min if playing the recording instead). Walk through the 4 steps as you go; invite the audience to suggest a tricky photo if doing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video to play (~21 sec, silent) — a recorded run of the actual classifier tool: upload an outlet photo, hit Classify, and the Shop / Not-Shop verdict with confidence score appears. Use this as the fallback if the live demo isn’t possible on the day, or play it alongside narrating what’s happening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Transition slide into scaling — these are real bottlenecks, not hypothetical ones. Sets up the 'why agentic'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min. The core scaling diagram. Point out the queue for backpressure, the Orchestrator Agent box, and the human-in-the-loop branch for low-confidence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Crisp before/after — use this to pivot from 'infrastructure scaling' to 'agentic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min. Six things to plan for — don't read every bullet verbatim, pick 2-3 to go deeper on based on audience interest (orchestration model and human-in-the-loop tend to get the most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 budget remaining time here. Thank the audience and point to the LinkedIn QR code from the About Speaker slide if it comes up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adilakshmivadavalli/drop_trigger_classify.git" TargetMode="Externa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video" Target="../media/media-11-1.mp4"/><Relationship Id="rId2" Type="http://schemas.microsoft.com/office/2007/relationships/media" Target="../media/media-11-1.mp4"/><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0"/>
        </a:solidFill>
      </p:bgPr>
    </p:bg>
    <p:spTree>
      <p:nvGrpSpPr>
        <p:cNvPr id="1" name=""/>
        <p:cNvGrpSpPr/>
        <p:nvPr/>
      </p:nvGrpSpPr>
      <p:grpSpPr>
        <a:xfrm>
          <a:off x="0" y="0"/>
          <a:ext cx="0" cy="0"/>
          <a:chOff x="0" y="0"/>
          <a:chExt cx="0" cy="0"/>
        </a:xfrm>
      </p:grpSpPr>
      <p:sp>
        <p:nvSpPr>
          <p:cNvPr id="2" name="Text 0"/>
          <p:cNvSpPr txBox="1"/>
          <p:nvPr/>
        </p:nvSpPr>
        <p:spPr>
          <a:xfrm>
            <a:off x="731520" y="1737360"/>
            <a:ext cx="86868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Drop. Trigger. Classify.</a:t>
            </a:r>
            <a:endParaRPr lang="en-US" sz="5400" dirty="0"/>
          </a:p>
        </p:txBody>
      </p:sp>
      <p:sp>
        <p:nvSpPr>
          <p:cNvPr id="3" name="Text 1"/>
          <p:cNvSpPr txBox="1"/>
          <p:nvPr/>
        </p:nvSpPr>
        <p:spPr>
          <a:xfrm>
            <a:off x="731520" y="2834640"/>
            <a:ext cx="8686800" cy="640080"/>
          </a:xfrm>
          <a:prstGeom prst="rect">
            <a:avLst/>
          </a:prstGeom>
          <a:noFill/>
          <a:ln/>
        </p:spPr>
        <p:txBody>
          <a:bodyPr wrap="square" lIns="0" tIns="0" rIns="0" bIns="0" rtlCol="0" anchor="ctr"/>
          <a:lstStyle/>
          <a:p>
            <a:pPr indent="0" marL="0">
              <a:buNone/>
            </a:pPr>
            <a:r>
              <a:rPr lang="en-US" sz="2600" dirty="0">
                <a:solidFill>
                  <a:srgbClr val="F2A541"/>
                </a:solidFill>
                <a:latin typeface="Calibri" pitchFamily="34" charset="0"/>
                <a:ea typeface="Calibri" pitchFamily="34" charset="-122"/>
                <a:cs typeface="Calibri" pitchFamily="34" charset="-120"/>
              </a:rPr>
              <a:t>Event-Driven AI on Azure</a:t>
            </a:r>
            <a:endParaRPr lang="en-US" sz="2600" dirty="0"/>
          </a:p>
        </p:txBody>
      </p:sp>
      <p:sp>
        <p:nvSpPr>
          <p:cNvPr id="4" name="Shape 2"/>
          <p:cNvSpPr/>
          <p:nvPr/>
        </p:nvSpPr>
        <p:spPr>
          <a:xfrm>
            <a:off x="731520" y="3977640"/>
            <a:ext cx="1097280" cy="0"/>
          </a:xfrm>
          <a:prstGeom prst="line">
            <a:avLst/>
          </a:prstGeom>
          <a:noFill/>
          <a:ln w="38100">
            <a:solidFill>
              <a:srgbClr val="2BB3A3"/>
            </a:solidFill>
            <a:prstDash val="solid"/>
          </a:ln>
        </p:spPr>
      </p:sp>
      <p:sp>
        <p:nvSpPr>
          <p:cNvPr id="5" name="Text 3"/>
          <p:cNvSpPr txBox="1"/>
          <p:nvPr/>
        </p:nvSpPr>
        <p:spPr>
          <a:xfrm>
            <a:off x="731520" y="420624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Adilakshmi Vadavalli, PhD</a:t>
            </a:r>
            <a:endParaRPr lang="en-US" sz="2200" dirty="0"/>
          </a:p>
        </p:txBody>
      </p:sp>
      <p:sp>
        <p:nvSpPr>
          <p:cNvPr id="6" name="Text 4"/>
          <p:cNvSpPr txBox="1"/>
          <p:nvPr/>
        </p:nvSpPr>
        <p:spPr>
          <a:xfrm>
            <a:off x="731520" y="4663440"/>
            <a:ext cx="7315200" cy="411480"/>
          </a:xfrm>
          <a:prstGeom prst="rect">
            <a:avLst/>
          </a:prstGeom>
          <a:noFill/>
          <a:ln/>
        </p:spPr>
        <p:txBody>
          <a:bodyPr wrap="square" lIns="0" tIns="0" rIns="0" bIns="0" rtlCol="0" anchor="ctr"/>
          <a:lstStyle/>
          <a:p>
            <a:pPr indent="0" marL="0">
              <a:buNone/>
            </a:pPr>
            <a:r>
              <a:rPr lang="en-US" sz="1800" dirty="0">
                <a:solidFill>
                  <a:srgbClr val="B8C2CF"/>
                </a:solidFill>
                <a:latin typeface="Calibri" pitchFamily="34" charset="0"/>
                <a:ea typeface="Calibri" pitchFamily="34" charset="-122"/>
                <a:cs typeface="Calibri" pitchFamily="34" charset="-120"/>
              </a:rPr>
              <a:t>Solution Architect  |  Capgemini</a:t>
            </a:r>
            <a:endParaRPr lang="en-US" sz="1800" dirty="0"/>
          </a:p>
        </p:txBody>
      </p:sp>
      <p:sp>
        <p:nvSpPr>
          <p:cNvPr id="7" name="Shape 5"/>
          <p:cNvSpPr/>
          <p:nvPr/>
        </p:nvSpPr>
        <p:spPr>
          <a:xfrm>
            <a:off x="9601200" y="1463040"/>
            <a:ext cx="914400" cy="914400"/>
          </a:xfrm>
          <a:prstGeom prst="ellipse">
            <a:avLst/>
          </a:prstGeom>
          <a:solidFill>
            <a:srgbClr val="18212C"/>
          </a:solidFill>
          <a:ln w="25400">
            <a:solidFill>
              <a:srgbClr val="2BB3A3"/>
            </a:solidFill>
            <a:prstDash val="solid"/>
          </a:ln>
        </p:spPr>
      </p:sp>
      <p:sp>
        <p:nvSpPr>
          <p:cNvPr id="8" name="Text 6"/>
          <p:cNvSpPr txBox="1"/>
          <p:nvPr/>
        </p:nvSpPr>
        <p:spPr>
          <a:xfrm>
            <a:off x="9601200" y="1463040"/>
            <a:ext cx="914400" cy="914400"/>
          </a:xfrm>
          <a:prstGeom prst="rect">
            <a:avLst/>
          </a:prstGeom>
          <a:noFill/>
          <a:ln/>
        </p:spPr>
        <p:txBody>
          <a:bodyPr wrap="square" lIns="0" tIns="0" rIns="0" bIns="0" rtlCol="0" anchor="ctr"/>
          <a:lstStyle/>
          <a:p>
            <a:pPr algn="ctr" indent="0" marL="0">
              <a:buNone/>
            </a:pPr>
            <a:r>
              <a:rPr lang="en-US" sz="2800" b="1" dirty="0">
                <a:solidFill>
                  <a:srgbClr val="2BB3A3"/>
                </a:solidFill>
                <a:latin typeface="Cambria" pitchFamily="34" charset="0"/>
                <a:ea typeface="Cambria" pitchFamily="34" charset="-122"/>
                <a:cs typeface="Cambria" pitchFamily="34" charset="-120"/>
              </a:rPr>
              <a:t>1</a:t>
            </a:r>
            <a:endParaRPr lang="en-US" sz="2800" dirty="0"/>
          </a:p>
        </p:txBody>
      </p:sp>
      <p:sp>
        <p:nvSpPr>
          <p:cNvPr id="9" name="Shape 7"/>
          <p:cNvSpPr/>
          <p:nvPr/>
        </p:nvSpPr>
        <p:spPr>
          <a:xfrm>
            <a:off x="10058400" y="2377440"/>
            <a:ext cx="914" cy="548640"/>
          </a:xfrm>
          <a:prstGeom prst="line">
            <a:avLst/>
          </a:prstGeom>
          <a:noFill/>
          <a:ln w="25400">
            <a:solidFill>
              <a:srgbClr val="3A4656"/>
            </a:solidFill>
            <a:prstDash val="solid"/>
            <a:tailEnd type="triangle"/>
          </a:ln>
        </p:spPr>
      </p:sp>
      <p:sp>
        <p:nvSpPr>
          <p:cNvPr id="10" name="Shape 8"/>
          <p:cNvSpPr/>
          <p:nvPr/>
        </p:nvSpPr>
        <p:spPr>
          <a:xfrm>
            <a:off x="9601200" y="2926080"/>
            <a:ext cx="914400" cy="914400"/>
          </a:xfrm>
          <a:prstGeom prst="ellipse">
            <a:avLst/>
          </a:prstGeom>
          <a:solidFill>
            <a:srgbClr val="18212C"/>
          </a:solidFill>
          <a:ln w="25400">
            <a:solidFill>
              <a:srgbClr val="2BB3A3"/>
            </a:solidFill>
            <a:prstDash val="solid"/>
          </a:ln>
        </p:spPr>
      </p:sp>
      <p:sp>
        <p:nvSpPr>
          <p:cNvPr id="11" name="Text 9"/>
          <p:cNvSpPr txBox="1"/>
          <p:nvPr/>
        </p:nvSpPr>
        <p:spPr>
          <a:xfrm>
            <a:off x="9601200" y="2926080"/>
            <a:ext cx="914400" cy="914400"/>
          </a:xfrm>
          <a:prstGeom prst="rect">
            <a:avLst/>
          </a:prstGeom>
          <a:noFill/>
          <a:ln/>
        </p:spPr>
        <p:txBody>
          <a:bodyPr wrap="square" lIns="0" tIns="0" rIns="0" bIns="0" rtlCol="0" anchor="ctr"/>
          <a:lstStyle/>
          <a:p>
            <a:pPr algn="ctr" indent="0" marL="0">
              <a:buNone/>
            </a:pPr>
            <a:r>
              <a:rPr lang="en-US" sz="2800" b="1" dirty="0">
                <a:solidFill>
                  <a:srgbClr val="2BB3A3"/>
                </a:solidFill>
                <a:latin typeface="Cambria" pitchFamily="34" charset="0"/>
                <a:ea typeface="Cambria" pitchFamily="34" charset="-122"/>
                <a:cs typeface="Cambria" pitchFamily="34" charset="-120"/>
              </a:rPr>
              <a:t>2</a:t>
            </a:r>
            <a:endParaRPr lang="en-US" sz="2800" dirty="0"/>
          </a:p>
        </p:txBody>
      </p:sp>
      <p:sp>
        <p:nvSpPr>
          <p:cNvPr id="12" name="Shape 10"/>
          <p:cNvSpPr/>
          <p:nvPr/>
        </p:nvSpPr>
        <p:spPr>
          <a:xfrm>
            <a:off x="10058400" y="3840480"/>
            <a:ext cx="914" cy="548640"/>
          </a:xfrm>
          <a:prstGeom prst="line">
            <a:avLst/>
          </a:prstGeom>
          <a:noFill/>
          <a:ln w="25400">
            <a:solidFill>
              <a:srgbClr val="3A4656"/>
            </a:solidFill>
            <a:prstDash val="solid"/>
            <a:tailEnd type="triangle"/>
          </a:ln>
        </p:spPr>
      </p:sp>
      <p:sp>
        <p:nvSpPr>
          <p:cNvPr id="13" name="Shape 11"/>
          <p:cNvSpPr/>
          <p:nvPr/>
        </p:nvSpPr>
        <p:spPr>
          <a:xfrm>
            <a:off x="9601200" y="4389120"/>
            <a:ext cx="914400" cy="914400"/>
          </a:xfrm>
          <a:prstGeom prst="ellipse">
            <a:avLst/>
          </a:prstGeom>
          <a:solidFill>
            <a:srgbClr val="F2A541"/>
          </a:solidFill>
          <a:ln w="25400">
            <a:solidFill>
              <a:srgbClr val="F2A541"/>
            </a:solidFill>
            <a:prstDash val="solid"/>
          </a:ln>
        </p:spPr>
      </p:sp>
      <p:sp>
        <p:nvSpPr>
          <p:cNvPr id="14" name="Text 12"/>
          <p:cNvSpPr txBox="1"/>
          <p:nvPr/>
        </p:nvSpPr>
        <p:spPr>
          <a:xfrm>
            <a:off x="9601200" y="4389120"/>
            <a:ext cx="914400" cy="914400"/>
          </a:xfrm>
          <a:prstGeom prst="rect">
            <a:avLst/>
          </a:prstGeom>
          <a:noFill/>
          <a:ln/>
        </p:spPr>
        <p:txBody>
          <a:bodyPr wrap="square" lIns="0" tIns="0" rIns="0" bIns="0" rtlCol="0" anchor="ctr"/>
          <a:lstStyle/>
          <a:p>
            <a:pPr algn="ctr" indent="0" marL="0">
              <a:buNone/>
            </a:pPr>
            <a:r>
              <a:rPr lang="en-US" sz="2800" b="1" dirty="0">
                <a:solidFill>
                  <a:srgbClr val="0F1720"/>
                </a:solidFill>
                <a:latin typeface="Cambria" pitchFamily="34" charset="0"/>
                <a:ea typeface="Cambria" pitchFamily="34" charset="-122"/>
                <a:cs typeface="Cambria" pitchFamily="34" charset="-120"/>
              </a:rPr>
              <a:t>3</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92608"/>
          </a:xfrm>
          <a:prstGeom prst="rect">
            <a:avLst/>
          </a:prstGeom>
          <a:noFill/>
          <a:ln/>
        </p:spPr>
        <p:txBody>
          <a:bodyPr wrap="square" lIns="0" tIns="0" rIns="0" bIns="0" rtlCol="0" anchor="ctr"/>
          <a:lstStyle/>
          <a:p>
            <a:pPr indent="0" marL="0">
              <a:buNone/>
            </a:pPr>
            <a:r>
              <a:rPr lang="en-US" sz="1300" b="1" spc="300" kern="0" dirty="0">
                <a:solidFill>
                  <a:srgbClr val="F2A541"/>
                </a:solidFill>
                <a:latin typeface="Calibri" pitchFamily="34" charset="0"/>
                <a:ea typeface="Calibri" pitchFamily="34" charset="-122"/>
                <a:cs typeface="Calibri" pitchFamily="34" charset="-120"/>
              </a:rPr>
              <a:t>ABOUT THE SPEAKER</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D2733"/>
                </a:solidFill>
                <a:latin typeface="Cambria" pitchFamily="34" charset="0"/>
                <a:ea typeface="Cambria" pitchFamily="34" charset="-122"/>
                <a:cs typeface="Cambria" pitchFamily="34" charset="-120"/>
              </a:rPr>
              <a:t>Adilakshmi Vadavalli, PhD</a:t>
            </a:r>
            <a:endParaRPr lang="en-US" sz="3200" dirty="0"/>
          </a:p>
        </p:txBody>
      </p:sp>
      <p:sp>
        <p:nvSpPr>
          <p:cNvPr id="4" name="Text 2"/>
          <p:cNvSpPr txBox="1"/>
          <p:nvPr/>
        </p:nvSpPr>
        <p:spPr>
          <a:xfrm>
            <a:off x="548640" y="1325880"/>
            <a:ext cx="10972800" cy="365760"/>
          </a:xfrm>
          <a:prstGeom prst="rect">
            <a:avLst/>
          </a:prstGeom>
          <a:noFill/>
          <a:ln/>
        </p:spPr>
        <p:txBody>
          <a:bodyPr wrap="square" lIns="0" tIns="0" rIns="0" bIns="0" rtlCol="0" anchor="ctr"/>
          <a:lstStyle/>
          <a:p>
            <a:pPr indent="0" marL="0">
              <a:buNone/>
            </a:pPr>
            <a:r>
              <a:rPr lang="en-US" sz="1700" b="1" dirty="0">
                <a:solidFill>
                  <a:srgbClr val="2BB3A3"/>
                </a:solidFill>
                <a:latin typeface="Calibri" pitchFamily="34" charset="0"/>
                <a:ea typeface="Calibri" pitchFamily="34" charset="-122"/>
                <a:cs typeface="Calibri" pitchFamily="34" charset="-120"/>
              </a:rPr>
              <a:t>Solution Architect  |  AWS &amp; Azure Specialist  |  Capgemini</a:t>
            </a:r>
            <a:endParaRPr lang="en-US" sz="1700" dirty="0"/>
          </a:p>
        </p:txBody>
      </p:sp>
      <p:sp>
        <p:nvSpPr>
          <p:cNvPr id="5" name="Shape 3"/>
          <p:cNvSpPr/>
          <p:nvPr/>
        </p:nvSpPr>
        <p:spPr>
          <a:xfrm>
            <a:off x="685800" y="1965960"/>
            <a:ext cx="2651760" cy="2651760"/>
          </a:xfrm>
          <a:prstGeom prst="ellipse">
            <a:avLst/>
          </a:prstGeom>
          <a:solidFill>
            <a:srgbClr val="F2A541"/>
          </a:solidFill>
          <a:ln w="12700">
            <a:solidFill>
              <a:srgbClr val="F2A541"/>
            </a:solidFill>
            <a:prstDash val="solid"/>
          </a:ln>
        </p:spPr>
      </p:sp>
      <p:pic>
        <p:nvPicPr>
          <p:cNvPr id="6" name="Image 0" descr="/home/claude/azure/media/speaker_sq.jpg">    </p:cNvPr>
          <p:cNvPicPr>
            <a:picLocks noChangeAspect="1"/>
          </p:cNvPicPr>
          <p:nvPr/>
        </p:nvPicPr>
        <p:blipFill>
          <a:blip r:embed="rId1"/>
          <a:stretch>
            <a:fillRect/>
          </a:stretch>
        </p:blipFill>
        <p:spPr>
          <a:xfrm>
            <a:off x="777240" y="2057400"/>
            <a:ext cx="2468880" cy="2468880"/>
          </a:xfrm>
          <a:prstGeom prst="ellipse">
            <a:avLst/>
          </a:prstGeom>
        </p:spPr>
      </p:pic>
      <p:sp>
        <p:nvSpPr>
          <p:cNvPr id="7" name="Text 4"/>
          <p:cNvSpPr txBox="1"/>
          <p:nvPr/>
        </p:nvSpPr>
        <p:spPr>
          <a:xfrm>
            <a:off x="3840480" y="2011680"/>
            <a:ext cx="7772400" cy="26517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Extensive experience across data science, cloud solution architecture, and enterprise AI delivery.</a:t>
            </a:r>
            <a:endParaRPr lang="en-US" sz="1700" dirty="0"/>
          </a:p>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AWS &amp; Azure specialist, designing production-grade ML and GenAI systems for global clients.</a:t>
            </a:r>
            <a:endParaRPr lang="en-US" sz="1700" dirty="0"/>
          </a:p>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Focus areas: MLOps, Generative AI, and Agentic AI systems — from prototypes to production.</a:t>
            </a:r>
            <a:endParaRPr lang="en-US" sz="1700" dirty="0"/>
          </a:p>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Regularly engages with academia through industry expert sessions, FDPs, and developer community connects</a:t>
            </a:r>
            <a:endParaRPr lang="en-US" sz="1700" dirty="0"/>
          </a:p>
        </p:txBody>
      </p:sp>
      <p:sp>
        <p:nvSpPr>
          <p:cNvPr id="8" name="Shape 5"/>
          <p:cNvSpPr/>
          <p:nvPr/>
        </p:nvSpPr>
        <p:spPr>
          <a:xfrm>
            <a:off x="548640" y="5074920"/>
            <a:ext cx="11064240" cy="1371600"/>
          </a:xfrm>
          <a:prstGeom prst="roundRect">
            <a:avLst>
              <a:gd name="adj" fmla="val 8000"/>
            </a:avLst>
          </a:prstGeom>
          <a:solidFill>
            <a:srgbClr val="0F1720"/>
          </a:solidFill>
          <a:ln w="12700">
            <a:solidFill>
              <a:srgbClr val="0F1720"/>
            </a:solidFill>
            <a:prstDash val="solid"/>
          </a:ln>
        </p:spPr>
      </p:sp>
      <p:sp>
        <p:nvSpPr>
          <p:cNvPr id="9" name="Shape 6"/>
          <p:cNvSpPr/>
          <p:nvPr/>
        </p:nvSpPr>
        <p:spPr>
          <a:xfrm>
            <a:off x="731520" y="5193792"/>
            <a:ext cx="1133856" cy="1133856"/>
          </a:xfrm>
          <a:prstGeom prst="roundRect">
            <a:avLst>
              <a:gd name="adj" fmla="val 4839"/>
            </a:avLst>
          </a:prstGeom>
          <a:solidFill>
            <a:srgbClr val="FFFFFF"/>
          </a:solidFill>
          <a:ln w="12700">
            <a:solidFill>
              <a:srgbClr val="FFFFFF"/>
            </a:solidFill>
            <a:prstDash val="solid"/>
          </a:ln>
        </p:spPr>
      </p:sp>
      <p:pic>
        <p:nvPicPr>
          <p:cNvPr id="10" name="Image 1" descr="/home/claude/azure/media/s02_9.png">    </p:cNvPr>
          <p:cNvPicPr>
            <a:picLocks noChangeAspect="1"/>
          </p:cNvPicPr>
          <p:nvPr/>
        </p:nvPicPr>
        <p:blipFill>
          <a:blip r:embed="rId2"/>
          <a:stretch>
            <a:fillRect/>
          </a:stretch>
        </p:blipFill>
        <p:spPr>
          <a:xfrm>
            <a:off x="777240" y="5239512"/>
            <a:ext cx="1042416" cy="1042416"/>
          </a:xfrm>
          <a:prstGeom prst="rect">
            <a:avLst/>
          </a:prstGeom>
        </p:spPr>
      </p:pic>
      <p:sp>
        <p:nvSpPr>
          <p:cNvPr id="11" name="Text 7"/>
          <p:cNvSpPr txBox="1"/>
          <p:nvPr/>
        </p:nvSpPr>
        <p:spPr>
          <a:xfrm>
            <a:off x="2148840" y="5303520"/>
            <a:ext cx="8229600" cy="411480"/>
          </a:xfrm>
          <a:prstGeom prst="rect">
            <a:avLst/>
          </a:prstGeom>
          <a:noFill/>
          <a:ln/>
        </p:spPr>
        <p:txBody>
          <a:bodyPr wrap="square" lIns="0" tIns="0" rIns="0" bIns="0" rtlCol="0" anchor="ctr"/>
          <a:lstStyle/>
          <a:p>
            <a:pPr indent="0" marL="0">
              <a:buNone/>
            </a:pPr>
            <a:r>
              <a:rPr lang="en-US" sz="1900" b="1" dirty="0">
                <a:solidFill>
                  <a:srgbClr val="F2A541"/>
                </a:solidFill>
                <a:latin typeface="Calibri" pitchFamily="34" charset="0"/>
                <a:ea typeface="Calibri" pitchFamily="34" charset="-122"/>
                <a:cs typeface="Calibri" pitchFamily="34" charset="-120"/>
              </a:rPr>
              <a:t>Let’s Connect on LinkedIn</a:t>
            </a:r>
            <a:endParaRPr lang="en-US" sz="1900" dirty="0"/>
          </a:p>
        </p:txBody>
      </p:sp>
      <p:sp>
        <p:nvSpPr>
          <p:cNvPr id="12" name="Text 8"/>
          <p:cNvSpPr txBox="1"/>
          <p:nvPr/>
        </p:nvSpPr>
        <p:spPr>
          <a:xfrm>
            <a:off x="2148840" y="5733288"/>
            <a:ext cx="9144000" cy="365760"/>
          </a:xfrm>
          <a:prstGeom prst="rect">
            <a:avLst/>
          </a:prstGeom>
          <a:noFill/>
          <a:ln/>
        </p:spPr>
        <p:txBody>
          <a:bodyPr wrap="square" lIns="0" tIns="0" rIns="0" bIns="0" rtlCol="0" anchor="ctr"/>
          <a:lstStyle/>
          <a:p>
            <a:pPr indent="0" marL="0">
              <a:buNone/>
            </a:pPr>
            <a:r>
              <a:rPr lang="en-US" sz="1500" dirty="0">
                <a:solidFill>
                  <a:srgbClr val="C9D1DB"/>
                </a:solidFill>
                <a:latin typeface="Calibri" pitchFamily="34" charset="0"/>
                <a:ea typeface="Calibri" pitchFamily="34" charset="-122"/>
                <a:cs typeface="Calibri" pitchFamily="34" charset="-120"/>
              </a:rPr>
              <a:t>Scan the QR code to view my profile, projects, and future sessions.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92608"/>
          </a:xfrm>
          <a:prstGeom prst="rect">
            <a:avLst/>
          </a:prstGeom>
          <a:noFill/>
          <a:ln/>
        </p:spPr>
        <p:txBody>
          <a:bodyPr wrap="square" lIns="0" tIns="0" rIns="0" bIns="0" rtlCol="0" anchor="ctr"/>
          <a:lstStyle/>
          <a:p>
            <a:pPr indent="0" marL="0">
              <a:buNone/>
            </a:pPr>
            <a:r>
              <a:rPr lang="en-US" sz="1300" b="1" spc="300" kern="0" dirty="0">
                <a:solidFill>
                  <a:srgbClr val="F2A541"/>
                </a:solidFill>
                <a:latin typeface="Calibri" pitchFamily="34" charset="0"/>
                <a:ea typeface="Calibri" pitchFamily="34" charset="-122"/>
                <a:cs typeface="Calibri" pitchFamily="34" charset="-120"/>
              </a:rPr>
              <a:t>SESSION AGENDA</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D2733"/>
                </a:solidFill>
                <a:latin typeface="Cambria" pitchFamily="34" charset="0"/>
                <a:ea typeface="Cambria" pitchFamily="34" charset="-122"/>
                <a:cs typeface="Cambria" pitchFamily="34" charset="-120"/>
              </a:rPr>
              <a:t>What We’ll Cover Today</a:t>
            </a:r>
            <a:endParaRPr lang="en-US" sz="3200" dirty="0"/>
          </a:p>
        </p:txBody>
      </p:sp>
      <p:sp>
        <p:nvSpPr>
          <p:cNvPr id="4" name="Shape 2"/>
          <p:cNvSpPr/>
          <p:nvPr/>
        </p:nvSpPr>
        <p:spPr>
          <a:xfrm>
            <a:off x="640080" y="1691640"/>
            <a:ext cx="731520" cy="731520"/>
          </a:xfrm>
          <a:prstGeom prst="ellipse">
            <a:avLst/>
          </a:prstGeom>
          <a:solidFill>
            <a:srgbClr val="F2A541"/>
          </a:solidFill>
          <a:ln w="12700">
            <a:solidFill>
              <a:srgbClr val="F2A541"/>
            </a:solidFill>
            <a:prstDash val="solid"/>
          </a:ln>
        </p:spPr>
      </p:sp>
      <p:sp>
        <p:nvSpPr>
          <p:cNvPr id="5" name="Text 3"/>
          <p:cNvSpPr txBox="1"/>
          <p:nvPr/>
        </p:nvSpPr>
        <p:spPr>
          <a:xfrm>
            <a:off x="640080" y="1691640"/>
            <a:ext cx="731520" cy="731520"/>
          </a:xfrm>
          <a:prstGeom prst="rect">
            <a:avLst/>
          </a:prstGeom>
          <a:noFill/>
          <a:ln/>
        </p:spPr>
        <p:txBody>
          <a:bodyPr wrap="square" lIns="0" tIns="0" rIns="0" bIns="0" rtlCol="0" anchor="ctr"/>
          <a:lstStyle/>
          <a:p>
            <a:pPr algn="ctr" indent="0" marL="0">
              <a:buNone/>
            </a:pPr>
            <a:r>
              <a:rPr lang="en-US" sz="2240" b="1" dirty="0">
                <a:solidFill>
                  <a:srgbClr val="0F1720"/>
                </a:solidFill>
                <a:latin typeface="Calibri" pitchFamily="34" charset="0"/>
                <a:ea typeface="Calibri" pitchFamily="34" charset="-122"/>
                <a:cs typeface="Calibri" pitchFamily="34" charset="-120"/>
              </a:rPr>
              <a:t>01</a:t>
            </a:r>
            <a:endParaRPr lang="en-US" sz="2240" dirty="0"/>
          </a:p>
        </p:txBody>
      </p:sp>
      <p:sp>
        <p:nvSpPr>
          <p:cNvPr id="6" name="Text 4"/>
          <p:cNvSpPr txBox="1"/>
          <p:nvPr/>
        </p:nvSpPr>
        <p:spPr>
          <a:xfrm>
            <a:off x="1691640" y="1709928"/>
            <a:ext cx="3291840" cy="685800"/>
          </a:xfrm>
          <a:prstGeom prst="rect">
            <a:avLst/>
          </a:prstGeom>
          <a:noFill/>
          <a:ln/>
        </p:spPr>
        <p:txBody>
          <a:bodyPr wrap="square" lIns="0" tIns="0" rIns="0" bIns="0" rtlCol="0" anchor="ctr"/>
          <a:lstStyle/>
          <a:p>
            <a:pPr indent="0" marL="0">
              <a:buNone/>
            </a:pPr>
            <a:r>
              <a:rPr lang="en-US" sz="2100" b="1" dirty="0">
                <a:solidFill>
                  <a:srgbClr val="1D2733"/>
                </a:solidFill>
                <a:latin typeface="Calibri" pitchFamily="34" charset="0"/>
                <a:ea typeface="Calibri" pitchFamily="34" charset="-122"/>
                <a:cs typeface="Calibri" pitchFamily="34" charset="-120"/>
              </a:rPr>
              <a:t>Business Use Case</a:t>
            </a:r>
            <a:endParaRPr lang="en-US" sz="2100" dirty="0"/>
          </a:p>
        </p:txBody>
      </p:sp>
      <p:sp>
        <p:nvSpPr>
          <p:cNvPr id="7" name="Text 5"/>
          <p:cNvSpPr txBox="1"/>
          <p:nvPr/>
        </p:nvSpPr>
        <p:spPr>
          <a:xfrm>
            <a:off x="5120640" y="1645920"/>
            <a:ext cx="6492240" cy="822960"/>
          </a:xfrm>
          <a:prstGeom prst="rect">
            <a:avLst/>
          </a:prstGeom>
          <a:noFill/>
          <a:ln/>
        </p:spPr>
        <p:txBody>
          <a:bodyPr wrap="square" lIns="0" tIns="0" rIns="0" bIns="0" rtlCol="0" anchor="ctr"/>
          <a:lstStyle/>
          <a:p>
            <a:pPr indent="0" marL="0">
              <a:buNone/>
            </a:pPr>
            <a:r>
              <a:rPr lang="en-US" sz="1600" dirty="0">
                <a:solidFill>
                  <a:srgbClr val="3A4656"/>
                </a:solidFill>
                <a:latin typeface="Calibri" pitchFamily="34" charset="0"/>
                <a:ea typeface="Calibri" pitchFamily="34" charset="-122"/>
                <a:cs typeface="Calibri" pitchFamily="34" charset="-120"/>
              </a:rPr>
              <a:t>The manual-review bottleneck, the impact of automating it, and the real challenges we hit building it</a:t>
            </a:r>
            <a:endParaRPr lang="en-US" sz="1600" dirty="0"/>
          </a:p>
        </p:txBody>
      </p:sp>
      <p:sp>
        <p:nvSpPr>
          <p:cNvPr id="8" name="Shape 6"/>
          <p:cNvSpPr/>
          <p:nvPr/>
        </p:nvSpPr>
        <p:spPr>
          <a:xfrm>
            <a:off x="1691640" y="2624328"/>
            <a:ext cx="9921240" cy="0"/>
          </a:xfrm>
          <a:prstGeom prst="line">
            <a:avLst/>
          </a:prstGeom>
          <a:noFill/>
          <a:ln w="12700">
            <a:solidFill>
              <a:srgbClr val="DDE3EA"/>
            </a:solidFill>
            <a:prstDash val="solid"/>
          </a:ln>
        </p:spPr>
      </p:sp>
      <p:sp>
        <p:nvSpPr>
          <p:cNvPr id="9" name="Shape 7"/>
          <p:cNvSpPr/>
          <p:nvPr/>
        </p:nvSpPr>
        <p:spPr>
          <a:xfrm>
            <a:off x="640080" y="2880360"/>
            <a:ext cx="731520" cy="731520"/>
          </a:xfrm>
          <a:prstGeom prst="ellipse">
            <a:avLst/>
          </a:prstGeom>
          <a:solidFill>
            <a:srgbClr val="F2A541"/>
          </a:solidFill>
          <a:ln w="12700">
            <a:solidFill>
              <a:srgbClr val="F2A541"/>
            </a:solidFill>
            <a:prstDash val="solid"/>
          </a:ln>
        </p:spPr>
      </p:sp>
      <p:sp>
        <p:nvSpPr>
          <p:cNvPr id="10" name="Text 8"/>
          <p:cNvSpPr txBox="1"/>
          <p:nvPr/>
        </p:nvSpPr>
        <p:spPr>
          <a:xfrm>
            <a:off x="640080" y="2880360"/>
            <a:ext cx="731520" cy="731520"/>
          </a:xfrm>
          <a:prstGeom prst="rect">
            <a:avLst/>
          </a:prstGeom>
          <a:noFill/>
          <a:ln/>
        </p:spPr>
        <p:txBody>
          <a:bodyPr wrap="square" lIns="0" tIns="0" rIns="0" bIns="0" rtlCol="0" anchor="ctr"/>
          <a:lstStyle/>
          <a:p>
            <a:pPr algn="ctr" indent="0" marL="0">
              <a:buNone/>
            </a:pPr>
            <a:r>
              <a:rPr lang="en-US" sz="2240" b="1" dirty="0">
                <a:solidFill>
                  <a:srgbClr val="0F1720"/>
                </a:solidFill>
                <a:latin typeface="Calibri" pitchFamily="34" charset="0"/>
                <a:ea typeface="Calibri" pitchFamily="34" charset="-122"/>
                <a:cs typeface="Calibri" pitchFamily="34" charset="-120"/>
              </a:rPr>
              <a:t>02</a:t>
            </a:r>
            <a:endParaRPr lang="en-US" sz="2240" dirty="0"/>
          </a:p>
        </p:txBody>
      </p:sp>
      <p:sp>
        <p:nvSpPr>
          <p:cNvPr id="11" name="Text 9"/>
          <p:cNvSpPr txBox="1"/>
          <p:nvPr/>
        </p:nvSpPr>
        <p:spPr>
          <a:xfrm>
            <a:off x="1691640" y="2898648"/>
            <a:ext cx="3291840" cy="685800"/>
          </a:xfrm>
          <a:prstGeom prst="rect">
            <a:avLst/>
          </a:prstGeom>
          <a:noFill/>
          <a:ln/>
        </p:spPr>
        <p:txBody>
          <a:bodyPr wrap="square" lIns="0" tIns="0" rIns="0" bIns="0" rtlCol="0" anchor="ctr"/>
          <a:lstStyle/>
          <a:p>
            <a:pPr indent="0" marL="0">
              <a:buNone/>
            </a:pPr>
            <a:r>
              <a:rPr lang="en-US" sz="2100" b="1" dirty="0">
                <a:solidFill>
                  <a:srgbClr val="1D2733"/>
                </a:solidFill>
                <a:latin typeface="Calibri" pitchFamily="34" charset="0"/>
                <a:ea typeface="Calibri" pitchFamily="34" charset="-122"/>
                <a:cs typeface="Calibri" pitchFamily="34" charset="-120"/>
              </a:rPr>
              <a:t>Architecture</a:t>
            </a:r>
            <a:endParaRPr lang="en-US" sz="2100" dirty="0"/>
          </a:p>
        </p:txBody>
      </p:sp>
      <p:sp>
        <p:nvSpPr>
          <p:cNvPr id="12" name="Text 10"/>
          <p:cNvSpPr txBox="1"/>
          <p:nvPr/>
        </p:nvSpPr>
        <p:spPr>
          <a:xfrm>
            <a:off x="5120640" y="2834640"/>
            <a:ext cx="6492240" cy="822960"/>
          </a:xfrm>
          <a:prstGeom prst="rect">
            <a:avLst/>
          </a:prstGeom>
          <a:noFill/>
          <a:ln/>
        </p:spPr>
        <p:txBody>
          <a:bodyPr wrap="square" lIns="0" tIns="0" rIns="0" bIns="0" rtlCol="0" anchor="ctr"/>
          <a:lstStyle/>
          <a:p>
            <a:pPr indent="0" marL="0">
              <a:buNone/>
            </a:pPr>
            <a:r>
              <a:rPr lang="en-US" sz="1600" dirty="0">
                <a:solidFill>
                  <a:srgbClr val="3A4656"/>
                </a:solidFill>
                <a:latin typeface="Calibri" pitchFamily="34" charset="0"/>
                <a:ea typeface="Calibri" pitchFamily="34" charset="-122"/>
                <a:cs typeface="Calibri" pitchFamily="34" charset="-120"/>
              </a:rPr>
              <a:t>Upload, event trigger, vision classification, and storage — how the pipeline works end to end</a:t>
            </a:r>
            <a:endParaRPr lang="en-US" sz="1600" dirty="0"/>
          </a:p>
        </p:txBody>
      </p:sp>
      <p:sp>
        <p:nvSpPr>
          <p:cNvPr id="13" name="Shape 11"/>
          <p:cNvSpPr/>
          <p:nvPr/>
        </p:nvSpPr>
        <p:spPr>
          <a:xfrm>
            <a:off x="1691640" y="3813048"/>
            <a:ext cx="9921240" cy="0"/>
          </a:xfrm>
          <a:prstGeom prst="line">
            <a:avLst/>
          </a:prstGeom>
          <a:noFill/>
          <a:ln w="12700">
            <a:solidFill>
              <a:srgbClr val="DDE3EA"/>
            </a:solidFill>
            <a:prstDash val="solid"/>
          </a:ln>
        </p:spPr>
      </p:sp>
      <p:sp>
        <p:nvSpPr>
          <p:cNvPr id="14" name="Shape 12"/>
          <p:cNvSpPr/>
          <p:nvPr/>
        </p:nvSpPr>
        <p:spPr>
          <a:xfrm>
            <a:off x="640080" y="4069080"/>
            <a:ext cx="731520" cy="731520"/>
          </a:xfrm>
          <a:prstGeom prst="ellipse">
            <a:avLst/>
          </a:prstGeom>
          <a:solidFill>
            <a:srgbClr val="2BB3A3"/>
          </a:solidFill>
          <a:ln w="12700">
            <a:solidFill>
              <a:srgbClr val="2BB3A3"/>
            </a:solidFill>
            <a:prstDash val="solid"/>
          </a:ln>
        </p:spPr>
      </p:sp>
      <p:sp>
        <p:nvSpPr>
          <p:cNvPr id="15" name="Text 13"/>
          <p:cNvSpPr txBox="1"/>
          <p:nvPr/>
        </p:nvSpPr>
        <p:spPr>
          <a:xfrm>
            <a:off x="640080" y="4069080"/>
            <a:ext cx="731520" cy="731520"/>
          </a:xfrm>
          <a:prstGeom prst="rect">
            <a:avLst/>
          </a:prstGeom>
          <a:noFill/>
          <a:ln/>
        </p:spPr>
        <p:txBody>
          <a:bodyPr wrap="square" lIns="0" tIns="0" rIns="0" bIns="0" rtlCol="0" anchor="ctr"/>
          <a:lstStyle/>
          <a:p>
            <a:pPr algn="ctr" indent="0" marL="0">
              <a:buNone/>
            </a:pPr>
            <a:r>
              <a:rPr lang="en-US" sz="2240" b="1" dirty="0">
                <a:solidFill>
                  <a:srgbClr val="0F1720"/>
                </a:solidFill>
                <a:latin typeface="Calibri" pitchFamily="34" charset="0"/>
                <a:ea typeface="Calibri" pitchFamily="34" charset="-122"/>
                <a:cs typeface="Calibri" pitchFamily="34" charset="-120"/>
              </a:rPr>
              <a:t>03</a:t>
            </a:r>
            <a:endParaRPr lang="en-US" sz="2240" dirty="0"/>
          </a:p>
        </p:txBody>
      </p:sp>
      <p:sp>
        <p:nvSpPr>
          <p:cNvPr id="16" name="Text 14"/>
          <p:cNvSpPr txBox="1"/>
          <p:nvPr/>
        </p:nvSpPr>
        <p:spPr>
          <a:xfrm>
            <a:off x="1691640" y="4087368"/>
            <a:ext cx="3291840" cy="685800"/>
          </a:xfrm>
          <a:prstGeom prst="rect">
            <a:avLst/>
          </a:prstGeom>
          <a:noFill/>
          <a:ln/>
        </p:spPr>
        <p:txBody>
          <a:bodyPr wrap="square" lIns="0" tIns="0" rIns="0" bIns="0" rtlCol="0" anchor="ctr"/>
          <a:lstStyle/>
          <a:p>
            <a:pPr indent="0" marL="0">
              <a:buNone/>
            </a:pPr>
            <a:r>
              <a:rPr lang="en-US" sz="2100" b="1" dirty="0">
                <a:solidFill>
                  <a:srgbClr val="1D2733"/>
                </a:solidFill>
                <a:latin typeface="Calibri" pitchFamily="34" charset="0"/>
                <a:ea typeface="Calibri" pitchFamily="34" charset="-122"/>
                <a:cs typeface="Calibri" pitchFamily="34" charset="-120"/>
              </a:rPr>
              <a:t>Live demo/recording</a:t>
            </a:r>
            <a:endParaRPr lang="en-US" sz="2100" dirty="0"/>
          </a:p>
        </p:txBody>
      </p:sp>
      <p:sp>
        <p:nvSpPr>
          <p:cNvPr id="17" name="Text 15"/>
          <p:cNvSpPr txBox="1"/>
          <p:nvPr/>
        </p:nvSpPr>
        <p:spPr>
          <a:xfrm>
            <a:off x="5120640" y="4023360"/>
            <a:ext cx="6492240" cy="822960"/>
          </a:xfrm>
          <a:prstGeom prst="rect">
            <a:avLst/>
          </a:prstGeom>
          <a:noFill/>
          <a:ln/>
        </p:spPr>
        <p:txBody>
          <a:bodyPr wrap="square" lIns="0" tIns="0" rIns="0" bIns="0" rtlCol="0" anchor="ctr"/>
          <a:lstStyle/>
          <a:p>
            <a:pPr indent="0" marL="0">
              <a:buNone/>
            </a:pPr>
            <a:r>
              <a:rPr lang="en-US" sz="1600" dirty="0">
                <a:solidFill>
                  <a:srgbClr val="3A4656"/>
                </a:solidFill>
                <a:latin typeface="Calibri" pitchFamily="34" charset="0"/>
                <a:ea typeface="Calibri" pitchFamily="34" charset="-122"/>
                <a:cs typeface="Calibri" pitchFamily="34" charset="-120"/>
              </a:rPr>
              <a:t>Watching an outlet photo move through the pipeline, live or via a recorded run</a:t>
            </a:r>
            <a:endParaRPr lang="en-US" sz="1600" dirty="0"/>
          </a:p>
        </p:txBody>
      </p:sp>
      <p:sp>
        <p:nvSpPr>
          <p:cNvPr id="18" name="Shape 16"/>
          <p:cNvSpPr/>
          <p:nvPr/>
        </p:nvSpPr>
        <p:spPr>
          <a:xfrm>
            <a:off x="1691640" y="5001768"/>
            <a:ext cx="9921240" cy="0"/>
          </a:xfrm>
          <a:prstGeom prst="line">
            <a:avLst/>
          </a:prstGeom>
          <a:noFill/>
          <a:ln w="12700">
            <a:solidFill>
              <a:srgbClr val="DDE3EA"/>
            </a:solidFill>
            <a:prstDash val="solid"/>
          </a:ln>
        </p:spPr>
      </p:sp>
      <p:sp>
        <p:nvSpPr>
          <p:cNvPr id="19" name="Shape 17"/>
          <p:cNvSpPr/>
          <p:nvPr/>
        </p:nvSpPr>
        <p:spPr>
          <a:xfrm>
            <a:off x="640080" y="5257800"/>
            <a:ext cx="731520" cy="731520"/>
          </a:xfrm>
          <a:prstGeom prst="ellipse">
            <a:avLst/>
          </a:prstGeom>
          <a:solidFill>
            <a:srgbClr val="F2A541"/>
          </a:solidFill>
          <a:ln w="12700">
            <a:solidFill>
              <a:srgbClr val="F2A541"/>
            </a:solidFill>
            <a:prstDash val="solid"/>
          </a:ln>
        </p:spPr>
      </p:sp>
      <p:sp>
        <p:nvSpPr>
          <p:cNvPr id="20" name="Text 18"/>
          <p:cNvSpPr txBox="1"/>
          <p:nvPr/>
        </p:nvSpPr>
        <p:spPr>
          <a:xfrm>
            <a:off x="640080" y="5257800"/>
            <a:ext cx="731520" cy="731520"/>
          </a:xfrm>
          <a:prstGeom prst="rect">
            <a:avLst/>
          </a:prstGeom>
          <a:noFill/>
          <a:ln/>
        </p:spPr>
        <p:txBody>
          <a:bodyPr wrap="square" lIns="0" tIns="0" rIns="0" bIns="0" rtlCol="0" anchor="ctr"/>
          <a:lstStyle/>
          <a:p>
            <a:pPr algn="ctr" indent="0" marL="0">
              <a:buNone/>
            </a:pPr>
            <a:r>
              <a:rPr lang="en-US" sz="2240" b="1" dirty="0">
                <a:solidFill>
                  <a:srgbClr val="0F1720"/>
                </a:solidFill>
                <a:latin typeface="Calibri" pitchFamily="34" charset="0"/>
                <a:ea typeface="Calibri" pitchFamily="34" charset="-122"/>
                <a:cs typeface="Calibri" pitchFamily="34" charset="-120"/>
              </a:rPr>
              <a:t>04</a:t>
            </a:r>
            <a:endParaRPr lang="en-US" sz="2240" dirty="0"/>
          </a:p>
        </p:txBody>
      </p:sp>
      <p:sp>
        <p:nvSpPr>
          <p:cNvPr id="21" name="Text 19"/>
          <p:cNvSpPr txBox="1"/>
          <p:nvPr/>
        </p:nvSpPr>
        <p:spPr>
          <a:xfrm>
            <a:off x="1691640" y="5276088"/>
            <a:ext cx="3291840" cy="685800"/>
          </a:xfrm>
          <a:prstGeom prst="rect">
            <a:avLst/>
          </a:prstGeom>
          <a:noFill/>
          <a:ln/>
        </p:spPr>
        <p:txBody>
          <a:bodyPr wrap="square" lIns="0" tIns="0" rIns="0" bIns="0" rtlCol="0" anchor="ctr"/>
          <a:lstStyle/>
          <a:p>
            <a:pPr indent="0" marL="0">
              <a:buNone/>
            </a:pPr>
            <a:r>
              <a:rPr lang="en-US" sz="2100" b="1" dirty="0">
                <a:solidFill>
                  <a:srgbClr val="1D2733"/>
                </a:solidFill>
                <a:latin typeface="Calibri" pitchFamily="34" charset="0"/>
                <a:ea typeface="Calibri" pitchFamily="34" charset="-122"/>
                <a:cs typeface="Calibri" pitchFamily="34" charset="-120"/>
              </a:rPr>
              <a:t>Scaling &amp; Agentic AI</a:t>
            </a:r>
            <a:endParaRPr lang="en-US" sz="2100" dirty="0"/>
          </a:p>
        </p:txBody>
      </p:sp>
      <p:sp>
        <p:nvSpPr>
          <p:cNvPr id="22" name="Text 20"/>
          <p:cNvSpPr txBox="1"/>
          <p:nvPr/>
        </p:nvSpPr>
        <p:spPr>
          <a:xfrm>
            <a:off x="5120640" y="5212080"/>
            <a:ext cx="6492240" cy="822960"/>
          </a:xfrm>
          <a:prstGeom prst="rect">
            <a:avLst/>
          </a:prstGeom>
          <a:noFill/>
          <a:ln/>
        </p:spPr>
        <p:txBody>
          <a:bodyPr wrap="square" lIns="0" tIns="0" rIns="0" bIns="0" rtlCol="0" anchor="ctr"/>
          <a:lstStyle/>
          <a:p>
            <a:pPr indent="0" marL="0">
              <a:buNone/>
            </a:pPr>
            <a:r>
              <a:rPr lang="en-US" sz="1600" dirty="0">
                <a:solidFill>
                  <a:srgbClr val="3A4656"/>
                </a:solidFill>
                <a:latin typeface="Calibri" pitchFamily="34" charset="0"/>
                <a:ea typeface="Calibri" pitchFamily="34" charset="-122"/>
                <a:cs typeface="Calibri" pitchFamily="34" charset="-120"/>
              </a:rPr>
              <a:t>What breaks at higher volume, the evolved architecture, and what to plan for with Microsoft’s agent framework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92608"/>
          </a:xfrm>
          <a:prstGeom prst="rect">
            <a:avLst/>
          </a:prstGeom>
          <a:noFill/>
          <a:ln/>
        </p:spPr>
        <p:txBody>
          <a:bodyPr wrap="square" lIns="0" tIns="0" rIns="0" bIns="0" rtlCol="0" anchor="ctr"/>
          <a:lstStyle/>
          <a:p>
            <a:pPr indent="0" marL="0">
              <a:buNone/>
            </a:pPr>
            <a:r>
              <a:rPr lang="en-US" sz="1300" b="1" spc="300" kern="0" dirty="0">
                <a:solidFill>
                  <a:srgbClr val="F2A541"/>
                </a:solidFill>
                <a:latin typeface="Calibri" pitchFamily="34" charset="0"/>
                <a:ea typeface="Calibri" pitchFamily="34" charset="-122"/>
                <a:cs typeface="Calibri" pitchFamily="34" charset="-120"/>
              </a:rPr>
              <a:t>01 · BUSINESS USE CASE</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D2733"/>
                </a:solidFill>
                <a:latin typeface="Cambria" pitchFamily="34" charset="0"/>
                <a:ea typeface="Cambria" pitchFamily="34" charset="-122"/>
                <a:cs typeface="Cambria" pitchFamily="34" charset="-120"/>
              </a:rPr>
              <a:t>Verifying Every Outlet Photo, One at a Time</a:t>
            </a:r>
            <a:endParaRPr lang="en-US" sz="3200" dirty="0"/>
          </a:p>
        </p:txBody>
      </p:sp>
      <p:sp>
        <p:nvSpPr>
          <p:cNvPr id="4" name="Shape 2"/>
          <p:cNvSpPr/>
          <p:nvPr/>
        </p:nvSpPr>
        <p:spPr>
          <a:xfrm>
            <a:off x="548640" y="1600200"/>
            <a:ext cx="5394960" cy="4023360"/>
          </a:xfrm>
          <a:prstGeom prst="roundRect">
            <a:avLst>
              <a:gd name="adj" fmla="val 2727"/>
            </a:avLst>
          </a:prstGeom>
          <a:solidFill>
            <a:srgbClr val="EEF2F6"/>
          </a:solidFill>
          <a:ln w="12700">
            <a:solidFill>
              <a:srgbClr val="EEF2F6"/>
            </a:solidFill>
            <a:prstDash val="solid"/>
          </a:ln>
        </p:spPr>
      </p:sp>
      <p:sp>
        <p:nvSpPr>
          <p:cNvPr id="5" name="Shape 3"/>
          <p:cNvSpPr/>
          <p:nvPr/>
        </p:nvSpPr>
        <p:spPr>
          <a:xfrm>
            <a:off x="868680" y="1874520"/>
            <a:ext cx="685800" cy="685800"/>
          </a:xfrm>
          <a:prstGeom prst="ellipse">
            <a:avLst/>
          </a:prstGeom>
          <a:solidFill>
            <a:srgbClr val="F2A541"/>
          </a:solidFill>
          <a:ln w="12700">
            <a:solidFill>
              <a:srgbClr val="F2A541"/>
            </a:solidFill>
            <a:prstDash val="solid"/>
          </a:ln>
        </p:spPr>
      </p:sp>
      <p:pic>
        <p:nvPicPr>
          <p:cNvPr id="6" name="Image 0" descr="/home/claude/azure/media/w/s04_6.png">    </p:cNvPr>
          <p:cNvPicPr>
            <a:picLocks noChangeAspect="1"/>
          </p:cNvPicPr>
          <p:nvPr/>
        </p:nvPicPr>
        <p:blipFill>
          <a:blip r:embed="rId1"/>
          <a:stretch>
            <a:fillRect/>
          </a:stretch>
        </p:blipFill>
        <p:spPr>
          <a:xfrm>
            <a:off x="1040130" y="2045970"/>
            <a:ext cx="342900" cy="342900"/>
          </a:xfrm>
          <a:prstGeom prst="rect">
            <a:avLst/>
          </a:prstGeom>
        </p:spPr>
      </p:pic>
      <p:sp>
        <p:nvSpPr>
          <p:cNvPr id="7" name="Text 4"/>
          <p:cNvSpPr txBox="1"/>
          <p:nvPr/>
        </p:nvSpPr>
        <p:spPr>
          <a:xfrm>
            <a:off x="1737360" y="1874520"/>
            <a:ext cx="3931920" cy="685800"/>
          </a:xfrm>
          <a:prstGeom prst="rect">
            <a:avLst/>
          </a:prstGeom>
          <a:noFill/>
          <a:ln/>
        </p:spPr>
        <p:txBody>
          <a:bodyPr wrap="square" lIns="0" tIns="0" rIns="0" bIns="0" rtlCol="0" anchor="ctr"/>
          <a:lstStyle/>
          <a:p>
            <a:pPr indent="0" marL="0">
              <a:buNone/>
            </a:pPr>
            <a:r>
              <a:rPr lang="en-US" sz="2200" b="1" dirty="0">
                <a:solidFill>
                  <a:srgbClr val="1D2733"/>
                </a:solidFill>
                <a:latin typeface="Calibri" pitchFamily="34" charset="0"/>
                <a:ea typeface="Calibri" pitchFamily="34" charset="-122"/>
                <a:cs typeface="Calibri" pitchFamily="34" charset="-120"/>
              </a:rPr>
              <a:t>The Ask</a:t>
            </a:r>
            <a:endParaRPr lang="en-US" sz="2200" dirty="0"/>
          </a:p>
        </p:txBody>
      </p:sp>
      <p:sp>
        <p:nvSpPr>
          <p:cNvPr id="8" name="Text 5"/>
          <p:cNvSpPr txBox="1"/>
          <p:nvPr/>
        </p:nvSpPr>
        <p:spPr>
          <a:xfrm>
            <a:off x="914400" y="2880360"/>
            <a:ext cx="4709160" cy="32918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Field teams photograph shops as proof when an outlet is created or audited</a:t>
            </a:r>
            <a:endParaRPr lang="en-US" sz="1700" dirty="0"/>
          </a:p>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Every photo must be confirmed as a genuine shop image before the record is trusted</a:t>
            </a:r>
            <a:endParaRPr lang="en-US" sz="1700" dirty="0"/>
          </a:p>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Submission volume runs into the thousands of outlets, continuously</a:t>
            </a:r>
            <a:endParaRPr lang="en-US" sz="1700" dirty="0"/>
          </a:p>
        </p:txBody>
      </p:sp>
      <p:sp>
        <p:nvSpPr>
          <p:cNvPr id="9" name="Shape 6"/>
          <p:cNvSpPr/>
          <p:nvPr/>
        </p:nvSpPr>
        <p:spPr>
          <a:xfrm>
            <a:off x="6217920" y="1600200"/>
            <a:ext cx="5394960" cy="4023360"/>
          </a:xfrm>
          <a:prstGeom prst="roundRect">
            <a:avLst>
              <a:gd name="adj" fmla="val 2727"/>
            </a:avLst>
          </a:prstGeom>
          <a:solidFill>
            <a:srgbClr val="FCEBEC"/>
          </a:solidFill>
          <a:ln w="12700">
            <a:solidFill>
              <a:srgbClr val="FCEBEC"/>
            </a:solidFill>
            <a:prstDash val="solid"/>
          </a:ln>
        </p:spPr>
      </p:sp>
      <p:sp>
        <p:nvSpPr>
          <p:cNvPr id="10" name="Shape 7"/>
          <p:cNvSpPr/>
          <p:nvPr/>
        </p:nvSpPr>
        <p:spPr>
          <a:xfrm>
            <a:off x="6537960" y="1874520"/>
            <a:ext cx="685800" cy="685800"/>
          </a:xfrm>
          <a:prstGeom prst="ellipse">
            <a:avLst/>
          </a:prstGeom>
          <a:solidFill>
            <a:srgbClr val="E0565B"/>
          </a:solidFill>
          <a:ln w="12700">
            <a:solidFill>
              <a:srgbClr val="E0565B"/>
            </a:solidFill>
            <a:prstDash val="solid"/>
          </a:ln>
        </p:spPr>
      </p:sp>
      <p:pic>
        <p:nvPicPr>
          <p:cNvPr id="11" name="Image 1" descr="/home/claude/azure/media/w/s04_11.png">    </p:cNvPr>
          <p:cNvPicPr>
            <a:picLocks noChangeAspect="1"/>
          </p:cNvPicPr>
          <p:nvPr/>
        </p:nvPicPr>
        <p:blipFill>
          <a:blip r:embed="rId2"/>
          <a:stretch>
            <a:fillRect/>
          </a:stretch>
        </p:blipFill>
        <p:spPr>
          <a:xfrm>
            <a:off x="6709410" y="2045970"/>
            <a:ext cx="342900" cy="342900"/>
          </a:xfrm>
          <a:prstGeom prst="rect">
            <a:avLst/>
          </a:prstGeom>
        </p:spPr>
      </p:pic>
      <p:sp>
        <p:nvSpPr>
          <p:cNvPr id="12" name="Text 8"/>
          <p:cNvSpPr txBox="1"/>
          <p:nvPr/>
        </p:nvSpPr>
        <p:spPr>
          <a:xfrm>
            <a:off x="7406640" y="1874520"/>
            <a:ext cx="3931920" cy="685800"/>
          </a:xfrm>
          <a:prstGeom prst="rect">
            <a:avLst/>
          </a:prstGeom>
          <a:noFill/>
          <a:ln/>
        </p:spPr>
        <p:txBody>
          <a:bodyPr wrap="square" lIns="0" tIns="0" rIns="0" bIns="0" rtlCol="0" anchor="ctr"/>
          <a:lstStyle/>
          <a:p>
            <a:pPr indent="0" marL="0">
              <a:buNone/>
            </a:pPr>
            <a:r>
              <a:rPr lang="en-US" sz="2200" b="1" dirty="0">
                <a:solidFill>
                  <a:srgbClr val="1D2733"/>
                </a:solidFill>
                <a:latin typeface="Calibri" pitchFamily="34" charset="0"/>
                <a:ea typeface="Calibri" pitchFamily="34" charset="-122"/>
                <a:cs typeface="Calibri" pitchFamily="34" charset="-120"/>
              </a:rPr>
              <a:t>The Bottleneck</a:t>
            </a:r>
            <a:endParaRPr lang="en-US" sz="2200" dirty="0"/>
          </a:p>
        </p:txBody>
      </p:sp>
      <p:sp>
        <p:nvSpPr>
          <p:cNvPr id="13" name="Text 9"/>
          <p:cNvSpPr txBox="1"/>
          <p:nvPr/>
        </p:nvSpPr>
        <p:spPr>
          <a:xfrm>
            <a:off x="6583680" y="2880360"/>
            <a:ext cx="4709160" cy="32918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Manual review runs at roughly one image per minute</a:t>
            </a:r>
            <a:endParaRPr lang="en-US" sz="1700" dirty="0"/>
          </a:p>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Judgment varies from one reviewer to the next</a:t>
            </a:r>
            <a:endParaRPr lang="en-US" sz="1700" dirty="0"/>
          </a:p>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Backlogs delay outlet onboarding and audit sign-off</a:t>
            </a:r>
            <a:endParaRPr lang="en-US" sz="1700" dirty="0"/>
          </a:p>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Doesn’t scale as the field network keeps growing</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92608"/>
          </a:xfrm>
          <a:prstGeom prst="rect">
            <a:avLst/>
          </a:prstGeom>
          <a:noFill/>
          <a:ln/>
        </p:spPr>
        <p:txBody>
          <a:bodyPr wrap="square" lIns="0" tIns="0" rIns="0" bIns="0" rtlCol="0" anchor="ctr"/>
          <a:lstStyle/>
          <a:p>
            <a:pPr indent="0" marL="0">
              <a:buNone/>
            </a:pPr>
            <a:r>
              <a:rPr lang="en-US" sz="1300" b="1" spc="300" kern="0" dirty="0">
                <a:solidFill>
                  <a:srgbClr val="F2A541"/>
                </a:solidFill>
                <a:latin typeface="Calibri" pitchFamily="34" charset="0"/>
                <a:ea typeface="Calibri" pitchFamily="34" charset="-122"/>
                <a:cs typeface="Calibri" pitchFamily="34" charset="-120"/>
              </a:rPr>
              <a:t>01 · BUSINESS USE CASE</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D2733"/>
                </a:solidFill>
                <a:latin typeface="Cambria" pitchFamily="34" charset="0"/>
                <a:ea typeface="Cambria" pitchFamily="34" charset="-122"/>
                <a:cs typeface="Cambria" pitchFamily="34" charset="-120"/>
              </a:rPr>
              <a:t>Automation Changes the Math</a:t>
            </a:r>
            <a:endParaRPr lang="en-US" sz="3200" dirty="0"/>
          </a:p>
        </p:txBody>
      </p:sp>
      <p:sp>
        <p:nvSpPr>
          <p:cNvPr id="4" name="Text 2"/>
          <p:cNvSpPr txBox="1"/>
          <p:nvPr/>
        </p:nvSpPr>
        <p:spPr>
          <a:xfrm>
            <a:off x="548640" y="1325880"/>
            <a:ext cx="10972800" cy="365760"/>
          </a:xfrm>
          <a:prstGeom prst="rect">
            <a:avLst/>
          </a:prstGeom>
          <a:noFill/>
          <a:ln/>
        </p:spPr>
        <p:txBody>
          <a:bodyPr wrap="square" lIns="0" tIns="0" rIns="0" bIns="0" rtlCol="0" anchor="ctr"/>
          <a:lstStyle/>
          <a:p>
            <a:pPr indent="0" marL="0">
              <a:buNone/>
            </a:pPr>
            <a:r>
              <a:rPr lang="en-US" sz="1500" i="1" dirty="0">
                <a:solidFill>
                  <a:srgbClr val="8B96A5"/>
                </a:solidFill>
                <a:latin typeface="Calibri" pitchFamily="34" charset="0"/>
                <a:ea typeface="Calibri" pitchFamily="34" charset="-122"/>
                <a:cs typeface="Calibri" pitchFamily="34" charset="-120"/>
              </a:rPr>
              <a:t>Figures below are from a real production deployment of this pattern in the retail sector.</a:t>
            </a:r>
            <a:endParaRPr lang="en-US" sz="1500" dirty="0"/>
          </a:p>
        </p:txBody>
      </p:sp>
      <p:sp>
        <p:nvSpPr>
          <p:cNvPr id="5" name="Shape 3"/>
          <p:cNvSpPr/>
          <p:nvPr/>
        </p:nvSpPr>
        <p:spPr>
          <a:xfrm>
            <a:off x="548640" y="1965960"/>
            <a:ext cx="2606040" cy="4343400"/>
          </a:xfrm>
          <a:prstGeom prst="roundRect">
            <a:avLst>
              <a:gd name="adj" fmla="val 4211"/>
            </a:avLst>
          </a:prstGeom>
          <a:solidFill>
            <a:srgbClr val="EEF2F6"/>
          </a:solidFill>
          <a:ln w="12700">
            <a:solidFill>
              <a:srgbClr val="EEF2F6"/>
            </a:solidFill>
            <a:prstDash val="solid"/>
          </a:ln>
        </p:spPr>
      </p:sp>
      <p:sp>
        <p:nvSpPr>
          <p:cNvPr id="6" name="Shape 4"/>
          <p:cNvSpPr/>
          <p:nvPr/>
        </p:nvSpPr>
        <p:spPr>
          <a:xfrm>
            <a:off x="1485900" y="2286000"/>
            <a:ext cx="731520" cy="731520"/>
          </a:xfrm>
          <a:prstGeom prst="ellipse">
            <a:avLst/>
          </a:prstGeom>
          <a:solidFill>
            <a:srgbClr val="F2A541"/>
          </a:solidFill>
          <a:ln w="12700">
            <a:solidFill>
              <a:srgbClr val="F2A541"/>
            </a:solidFill>
            <a:prstDash val="solid"/>
          </a:ln>
        </p:spPr>
      </p:sp>
      <p:pic>
        <p:nvPicPr>
          <p:cNvPr id="7" name="Image 0" descr="/home/claude/azure/media/w/s05_7.png">    </p:cNvPr>
          <p:cNvPicPr>
            <a:picLocks noChangeAspect="1"/>
          </p:cNvPicPr>
          <p:nvPr/>
        </p:nvPicPr>
        <p:blipFill>
          <a:blip r:embed="rId1"/>
          <a:stretch>
            <a:fillRect/>
          </a:stretch>
        </p:blipFill>
        <p:spPr>
          <a:xfrm>
            <a:off x="1668780" y="2468880"/>
            <a:ext cx="365760" cy="365760"/>
          </a:xfrm>
          <a:prstGeom prst="rect">
            <a:avLst/>
          </a:prstGeom>
        </p:spPr>
      </p:pic>
      <p:sp>
        <p:nvSpPr>
          <p:cNvPr id="8" name="Text 5"/>
          <p:cNvSpPr txBox="1"/>
          <p:nvPr/>
        </p:nvSpPr>
        <p:spPr>
          <a:xfrm>
            <a:off x="548640" y="3246120"/>
            <a:ext cx="2606040" cy="1005840"/>
          </a:xfrm>
          <a:prstGeom prst="rect">
            <a:avLst/>
          </a:prstGeom>
          <a:noFill/>
          <a:ln/>
        </p:spPr>
        <p:txBody>
          <a:bodyPr wrap="square" lIns="0" tIns="0" rIns="0" bIns="0" rtlCol="0" anchor="ctr"/>
          <a:lstStyle/>
          <a:p>
            <a:pPr algn="ctr" indent="0" marL="0">
              <a:buNone/>
            </a:pPr>
            <a:r>
              <a:rPr lang="en-US" sz="4600" b="1" dirty="0">
                <a:solidFill>
                  <a:srgbClr val="0F1720"/>
                </a:solidFill>
                <a:latin typeface="Cambria" pitchFamily="34" charset="0"/>
                <a:ea typeface="Cambria" pitchFamily="34" charset="-122"/>
                <a:cs typeface="Cambria" pitchFamily="34" charset="-120"/>
              </a:rPr>
              <a:t>100ms</a:t>
            </a:r>
            <a:endParaRPr lang="en-US" sz="4600" dirty="0"/>
          </a:p>
        </p:txBody>
      </p:sp>
      <p:sp>
        <p:nvSpPr>
          <p:cNvPr id="9" name="Text 6"/>
          <p:cNvSpPr txBox="1"/>
          <p:nvPr/>
        </p:nvSpPr>
        <p:spPr>
          <a:xfrm>
            <a:off x="731520" y="4343400"/>
            <a:ext cx="2240280" cy="640080"/>
          </a:xfrm>
          <a:prstGeom prst="rect">
            <a:avLst/>
          </a:prstGeom>
          <a:noFill/>
          <a:ln/>
        </p:spPr>
        <p:txBody>
          <a:bodyPr wrap="square" lIns="0" tIns="0" rIns="0" bIns="0" rtlCol="0" anchor="ctr"/>
          <a:lstStyle/>
          <a:p>
            <a:pPr algn="ctr" indent="0" marL="0">
              <a:buNone/>
            </a:pPr>
            <a:r>
              <a:rPr lang="en-US" sz="1700" b="1" dirty="0">
                <a:solidFill>
                  <a:srgbClr val="1D2733"/>
                </a:solidFill>
                <a:latin typeface="Calibri" pitchFamily="34" charset="0"/>
                <a:ea typeface="Calibri" pitchFamily="34" charset="-122"/>
                <a:cs typeface="Calibri" pitchFamily="34" charset="-120"/>
              </a:rPr>
              <a:t>to classify one photo</a:t>
            </a:r>
            <a:endParaRPr lang="en-US" sz="1700" dirty="0"/>
          </a:p>
        </p:txBody>
      </p:sp>
      <p:sp>
        <p:nvSpPr>
          <p:cNvPr id="10" name="Text 7"/>
          <p:cNvSpPr txBox="1"/>
          <p:nvPr/>
        </p:nvSpPr>
        <p:spPr>
          <a:xfrm>
            <a:off x="731520" y="5120640"/>
            <a:ext cx="2240280" cy="731520"/>
          </a:xfrm>
          <a:prstGeom prst="rect">
            <a:avLst/>
          </a:prstGeom>
          <a:noFill/>
          <a:ln/>
        </p:spPr>
        <p:txBody>
          <a:bodyPr wrap="square" lIns="0" tIns="0" rIns="0" bIns="0" rtlCol="0" anchor="ctr"/>
          <a:lstStyle/>
          <a:p>
            <a:pPr algn="ctr" indent="0" marL="0">
              <a:buNone/>
            </a:pPr>
            <a:r>
              <a:rPr lang="en-US" sz="1400" i="1" dirty="0">
                <a:solidFill>
                  <a:srgbClr val="8B96A5"/>
                </a:solidFill>
                <a:latin typeface="Calibri" pitchFamily="34" charset="0"/>
                <a:ea typeface="Calibri" pitchFamily="34" charset="-122"/>
                <a:cs typeface="Calibri" pitchFamily="34" charset="-120"/>
              </a:rPr>
              <a:t>manual review: ~1 per minute</a:t>
            </a:r>
            <a:endParaRPr lang="en-US" sz="1400" dirty="0"/>
          </a:p>
        </p:txBody>
      </p:sp>
      <p:sp>
        <p:nvSpPr>
          <p:cNvPr id="11" name="Shape 8"/>
          <p:cNvSpPr/>
          <p:nvPr/>
        </p:nvSpPr>
        <p:spPr>
          <a:xfrm>
            <a:off x="3367735" y="1965960"/>
            <a:ext cx="2606040" cy="4343400"/>
          </a:xfrm>
          <a:prstGeom prst="roundRect">
            <a:avLst>
              <a:gd name="adj" fmla="val 4211"/>
            </a:avLst>
          </a:prstGeom>
          <a:solidFill>
            <a:srgbClr val="E3F4F2"/>
          </a:solidFill>
          <a:ln w="12700">
            <a:solidFill>
              <a:srgbClr val="E3F4F2"/>
            </a:solidFill>
            <a:prstDash val="solid"/>
          </a:ln>
        </p:spPr>
      </p:sp>
      <p:sp>
        <p:nvSpPr>
          <p:cNvPr id="12" name="Shape 9"/>
          <p:cNvSpPr/>
          <p:nvPr/>
        </p:nvSpPr>
        <p:spPr>
          <a:xfrm>
            <a:off x="4304995" y="2286000"/>
            <a:ext cx="731520" cy="731520"/>
          </a:xfrm>
          <a:prstGeom prst="ellipse">
            <a:avLst/>
          </a:prstGeom>
          <a:solidFill>
            <a:srgbClr val="2BB3A3"/>
          </a:solidFill>
          <a:ln w="12700">
            <a:solidFill>
              <a:srgbClr val="2BB3A3"/>
            </a:solidFill>
            <a:prstDash val="solid"/>
          </a:ln>
        </p:spPr>
      </p:sp>
      <p:pic>
        <p:nvPicPr>
          <p:cNvPr id="13" name="Image 1" descr="/home/claude/azure/media/w/s05_13.png">    </p:cNvPr>
          <p:cNvPicPr>
            <a:picLocks noChangeAspect="1"/>
          </p:cNvPicPr>
          <p:nvPr/>
        </p:nvPicPr>
        <p:blipFill>
          <a:blip r:embed="rId2"/>
          <a:stretch>
            <a:fillRect/>
          </a:stretch>
        </p:blipFill>
        <p:spPr>
          <a:xfrm>
            <a:off x="4487875" y="2468880"/>
            <a:ext cx="365760" cy="365760"/>
          </a:xfrm>
          <a:prstGeom prst="rect">
            <a:avLst/>
          </a:prstGeom>
        </p:spPr>
      </p:pic>
      <p:sp>
        <p:nvSpPr>
          <p:cNvPr id="14" name="Text 10"/>
          <p:cNvSpPr txBox="1"/>
          <p:nvPr/>
        </p:nvSpPr>
        <p:spPr>
          <a:xfrm>
            <a:off x="3367735" y="3246120"/>
            <a:ext cx="2606040" cy="1005840"/>
          </a:xfrm>
          <a:prstGeom prst="rect">
            <a:avLst/>
          </a:prstGeom>
          <a:noFill/>
          <a:ln/>
        </p:spPr>
        <p:txBody>
          <a:bodyPr wrap="square" lIns="0" tIns="0" rIns="0" bIns="0" rtlCol="0" anchor="ctr"/>
          <a:lstStyle/>
          <a:p>
            <a:pPr algn="ctr" indent="0" marL="0">
              <a:buNone/>
            </a:pPr>
            <a:r>
              <a:rPr lang="en-US" sz="4600" b="1" dirty="0">
                <a:solidFill>
                  <a:srgbClr val="0F1720"/>
                </a:solidFill>
                <a:latin typeface="Cambria" pitchFamily="34" charset="0"/>
                <a:ea typeface="Cambria" pitchFamily="34" charset="-122"/>
                <a:cs typeface="Cambria" pitchFamily="34" charset="-120"/>
              </a:rPr>
              <a:t>~95%</a:t>
            </a:r>
            <a:endParaRPr lang="en-US" sz="4600" dirty="0"/>
          </a:p>
        </p:txBody>
      </p:sp>
      <p:sp>
        <p:nvSpPr>
          <p:cNvPr id="15" name="Text 11"/>
          <p:cNvSpPr txBox="1"/>
          <p:nvPr/>
        </p:nvSpPr>
        <p:spPr>
          <a:xfrm>
            <a:off x="3550615" y="4343400"/>
            <a:ext cx="2240280" cy="640080"/>
          </a:xfrm>
          <a:prstGeom prst="rect">
            <a:avLst/>
          </a:prstGeom>
          <a:noFill/>
          <a:ln/>
        </p:spPr>
        <p:txBody>
          <a:bodyPr wrap="square" lIns="0" tIns="0" rIns="0" bIns="0" rtlCol="0" anchor="ctr"/>
          <a:lstStyle/>
          <a:p>
            <a:pPr algn="ctr" indent="0" marL="0">
              <a:buNone/>
            </a:pPr>
            <a:r>
              <a:rPr lang="en-US" sz="1700" b="1" dirty="0">
                <a:solidFill>
                  <a:srgbClr val="1D2733"/>
                </a:solidFill>
                <a:latin typeface="Calibri" pitchFamily="34" charset="0"/>
                <a:ea typeface="Calibri" pitchFamily="34" charset="-122"/>
                <a:cs typeface="Calibri" pitchFamily="34" charset="-120"/>
              </a:rPr>
              <a:t>model accuracy</a:t>
            </a:r>
            <a:endParaRPr lang="en-US" sz="1700" dirty="0"/>
          </a:p>
        </p:txBody>
      </p:sp>
      <p:sp>
        <p:nvSpPr>
          <p:cNvPr id="16" name="Text 12"/>
          <p:cNvSpPr txBox="1"/>
          <p:nvPr/>
        </p:nvSpPr>
        <p:spPr>
          <a:xfrm>
            <a:off x="3550615" y="5120640"/>
            <a:ext cx="2240280" cy="731520"/>
          </a:xfrm>
          <a:prstGeom prst="rect">
            <a:avLst/>
          </a:prstGeom>
          <a:noFill/>
          <a:ln/>
        </p:spPr>
        <p:txBody>
          <a:bodyPr wrap="square" lIns="0" tIns="0" rIns="0" bIns="0" rtlCol="0" anchor="ctr"/>
          <a:lstStyle/>
          <a:p>
            <a:pPr algn="ctr" indent="0" marL="0">
              <a:buNone/>
            </a:pPr>
            <a:r>
              <a:rPr lang="en-US" sz="1400" i="1" dirty="0">
                <a:solidFill>
                  <a:srgbClr val="8B96A5"/>
                </a:solidFill>
                <a:latin typeface="Calibri" pitchFamily="34" charset="0"/>
                <a:ea typeface="Calibri" pitchFamily="34" charset="-122"/>
                <a:cs typeface="Calibri" pitchFamily="34" charset="-120"/>
              </a:rPr>
              <a:t>training &amp; validation</a:t>
            </a:r>
            <a:endParaRPr lang="en-US" sz="1400" dirty="0"/>
          </a:p>
        </p:txBody>
      </p:sp>
      <p:sp>
        <p:nvSpPr>
          <p:cNvPr id="17" name="Shape 13"/>
          <p:cNvSpPr/>
          <p:nvPr/>
        </p:nvSpPr>
        <p:spPr>
          <a:xfrm>
            <a:off x="6186830" y="1965960"/>
            <a:ext cx="2606040" cy="4343400"/>
          </a:xfrm>
          <a:prstGeom prst="roundRect">
            <a:avLst>
              <a:gd name="adj" fmla="val 4211"/>
            </a:avLst>
          </a:prstGeom>
          <a:solidFill>
            <a:srgbClr val="EEF2F6"/>
          </a:solidFill>
          <a:ln w="12700">
            <a:solidFill>
              <a:srgbClr val="EEF2F6"/>
            </a:solidFill>
            <a:prstDash val="solid"/>
          </a:ln>
        </p:spPr>
      </p:sp>
      <p:sp>
        <p:nvSpPr>
          <p:cNvPr id="18" name="Shape 14"/>
          <p:cNvSpPr/>
          <p:nvPr/>
        </p:nvSpPr>
        <p:spPr>
          <a:xfrm>
            <a:off x="7124090" y="2286000"/>
            <a:ext cx="731520" cy="731520"/>
          </a:xfrm>
          <a:prstGeom prst="ellipse">
            <a:avLst/>
          </a:prstGeom>
          <a:solidFill>
            <a:srgbClr val="F2A541"/>
          </a:solidFill>
          <a:ln w="12700">
            <a:solidFill>
              <a:srgbClr val="F2A541"/>
            </a:solidFill>
            <a:prstDash val="solid"/>
          </a:ln>
        </p:spPr>
      </p:sp>
      <p:pic>
        <p:nvPicPr>
          <p:cNvPr id="19" name="Image 2" descr="/home/claude/azure/media/w/s05_19.png">    </p:cNvPr>
          <p:cNvPicPr>
            <a:picLocks noChangeAspect="1"/>
          </p:cNvPicPr>
          <p:nvPr/>
        </p:nvPicPr>
        <p:blipFill>
          <a:blip r:embed="rId3"/>
          <a:stretch>
            <a:fillRect/>
          </a:stretch>
        </p:blipFill>
        <p:spPr>
          <a:xfrm>
            <a:off x="7306970" y="2468880"/>
            <a:ext cx="365760" cy="365760"/>
          </a:xfrm>
          <a:prstGeom prst="rect">
            <a:avLst/>
          </a:prstGeom>
        </p:spPr>
      </p:pic>
      <p:sp>
        <p:nvSpPr>
          <p:cNvPr id="20" name="Text 15"/>
          <p:cNvSpPr txBox="1"/>
          <p:nvPr/>
        </p:nvSpPr>
        <p:spPr>
          <a:xfrm>
            <a:off x="6186830" y="3246120"/>
            <a:ext cx="2606040" cy="1005840"/>
          </a:xfrm>
          <a:prstGeom prst="rect">
            <a:avLst/>
          </a:prstGeom>
          <a:noFill/>
          <a:ln/>
        </p:spPr>
        <p:txBody>
          <a:bodyPr wrap="square" lIns="0" tIns="0" rIns="0" bIns="0" rtlCol="0" anchor="ctr"/>
          <a:lstStyle/>
          <a:p>
            <a:pPr algn="ctr" indent="0" marL="0">
              <a:buNone/>
            </a:pPr>
            <a:r>
              <a:rPr lang="en-US" sz="4600" b="1" dirty="0">
                <a:solidFill>
                  <a:srgbClr val="0F1720"/>
                </a:solidFill>
                <a:latin typeface="Cambria" pitchFamily="34" charset="0"/>
                <a:ea typeface="Cambria" pitchFamily="34" charset="-122"/>
                <a:cs typeface="Cambria" pitchFamily="34" charset="-120"/>
              </a:rPr>
              <a:t>9,600+</a:t>
            </a:r>
            <a:endParaRPr lang="en-US" sz="4600" dirty="0"/>
          </a:p>
        </p:txBody>
      </p:sp>
      <p:sp>
        <p:nvSpPr>
          <p:cNvPr id="21" name="Text 16"/>
          <p:cNvSpPr txBox="1"/>
          <p:nvPr/>
        </p:nvSpPr>
        <p:spPr>
          <a:xfrm>
            <a:off x="6369710" y="4343400"/>
            <a:ext cx="2240280" cy="640080"/>
          </a:xfrm>
          <a:prstGeom prst="rect">
            <a:avLst/>
          </a:prstGeom>
          <a:noFill/>
          <a:ln/>
        </p:spPr>
        <p:txBody>
          <a:bodyPr wrap="square" lIns="0" tIns="0" rIns="0" bIns="0" rtlCol="0" anchor="ctr"/>
          <a:lstStyle/>
          <a:p>
            <a:pPr algn="ctr" indent="0" marL="0">
              <a:buNone/>
            </a:pPr>
            <a:r>
              <a:rPr lang="en-US" sz="1700" b="1" dirty="0">
                <a:solidFill>
                  <a:srgbClr val="1D2733"/>
                </a:solidFill>
                <a:latin typeface="Calibri" pitchFamily="34" charset="0"/>
                <a:ea typeface="Calibri" pitchFamily="34" charset="-122"/>
                <a:cs typeface="Calibri" pitchFamily="34" charset="-120"/>
              </a:rPr>
              <a:t>outlets verified</a:t>
            </a:r>
            <a:endParaRPr lang="en-US" sz="1700" dirty="0"/>
          </a:p>
        </p:txBody>
      </p:sp>
      <p:sp>
        <p:nvSpPr>
          <p:cNvPr id="22" name="Text 17"/>
          <p:cNvSpPr txBox="1"/>
          <p:nvPr/>
        </p:nvSpPr>
        <p:spPr>
          <a:xfrm>
            <a:off x="6369710" y="5120640"/>
            <a:ext cx="2240280" cy="731520"/>
          </a:xfrm>
          <a:prstGeom prst="rect">
            <a:avLst/>
          </a:prstGeom>
          <a:noFill/>
          <a:ln/>
        </p:spPr>
        <p:txBody>
          <a:bodyPr wrap="square" lIns="0" tIns="0" rIns="0" bIns="0" rtlCol="0" anchor="ctr"/>
          <a:lstStyle/>
          <a:p>
            <a:pPr algn="ctr" indent="0" marL="0">
              <a:buNone/>
            </a:pPr>
            <a:r>
              <a:rPr lang="en-US" sz="1400" i="1" dirty="0">
                <a:solidFill>
                  <a:srgbClr val="8B96A5"/>
                </a:solidFill>
                <a:latin typeface="Calibri" pitchFamily="34" charset="0"/>
                <a:ea typeface="Calibri" pitchFamily="34" charset="-122"/>
                <a:cs typeface="Calibri" pitchFamily="34" charset="-120"/>
              </a:rPr>
              <a:t>in production</a:t>
            </a:r>
            <a:endParaRPr lang="en-US" sz="1400" dirty="0"/>
          </a:p>
        </p:txBody>
      </p:sp>
      <p:sp>
        <p:nvSpPr>
          <p:cNvPr id="23" name="Shape 18"/>
          <p:cNvSpPr/>
          <p:nvPr/>
        </p:nvSpPr>
        <p:spPr>
          <a:xfrm>
            <a:off x="9005926" y="1965960"/>
            <a:ext cx="2606040" cy="4343400"/>
          </a:xfrm>
          <a:prstGeom prst="roundRect">
            <a:avLst>
              <a:gd name="adj" fmla="val 4211"/>
            </a:avLst>
          </a:prstGeom>
          <a:solidFill>
            <a:srgbClr val="E3F4F2"/>
          </a:solidFill>
          <a:ln w="12700">
            <a:solidFill>
              <a:srgbClr val="E3F4F2"/>
            </a:solidFill>
            <a:prstDash val="solid"/>
          </a:ln>
        </p:spPr>
      </p:sp>
      <p:sp>
        <p:nvSpPr>
          <p:cNvPr id="24" name="Shape 19"/>
          <p:cNvSpPr/>
          <p:nvPr/>
        </p:nvSpPr>
        <p:spPr>
          <a:xfrm>
            <a:off x="9943186" y="2286000"/>
            <a:ext cx="731520" cy="731520"/>
          </a:xfrm>
          <a:prstGeom prst="ellipse">
            <a:avLst/>
          </a:prstGeom>
          <a:solidFill>
            <a:srgbClr val="2BB3A3"/>
          </a:solidFill>
          <a:ln w="12700">
            <a:solidFill>
              <a:srgbClr val="2BB3A3"/>
            </a:solidFill>
            <a:prstDash val="solid"/>
          </a:ln>
        </p:spPr>
      </p:sp>
      <p:pic>
        <p:nvPicPr>
          <p:cNvPr id="25" name="Image 3" descr="/home/claude/azure/media/w/s05_25.png">    </p:cNvPr>
          <p:cNvPicPr>
            <a:picLocks noChangeAspect="1"/>
          </p:cNvPicPr>
          <p:nvPr/>
        </p:nvPicPr>
        <p:blipFill>
          <a:blip r:embed="rId4"/>
          <a:stretch>
            <a:fillRect/>
          </a:stretch>
        </p:blipFill>
        <p:spPr>
          <a:xfrm>
            <a:off x="10126066" y="2468880"/>
            <a:ext cx="365760" cy="365760"/>
          </a:xfrm>
          <a:prstGeom prst="rect">
            <a:avLst/>
          </a:prstGeom>
        </p:spPr>
      </p:pic>
      <p:sp>
        <p:nvSpPr>
          <p:cNvPr id="26" name="Text 20"/>
          <p:cNvSpPr txBox="1"/>
          <p:nvPr/>
        </p:nvSpPr>
        <p:spPr>
          <a:xfrm>
            <a:off x="9005926" y="3246120"/>
            <a:ext cx="2606040" cy="1005840"/>
          </a:xfrm>
          <a:prstGeom prst="rect">
            <a:avLst/>
          </a:prstGeom>
          <a:noFill/>
          <a:ln/>
        </p:spPr>
        <p:txBody>
          <a:bodyPr wrap="square" lIns="0" tIns="0" rIns="0" bIns="0" rtlCol="0" anchor="ctr"/>
          <a:lstStyle/>
          <a:p>
            <a:pPr algn="ctr" indent="0" marL="0">
              <a:buNone/>
            </a:pPr>
            <a:r>
              <a:rPr lang="en-US" sz="4600" b="1" dirty="0">
                <a:solidFill>
                  <a:srgbClr val="0F1720"/>
                </a:solidFill>
                <a:latin typeface="Cambria" pitchFamily="34" charset="0"/>
                <a:ea typeface="Cambria" pitchFamily="34" charset="-122"/>
                <a:cs typeface="Cambria" pitchFamily="34" charset="-120"/>
              </a:rPr>
              <a:t>97%</a:t>
            </a:r>
            <a:endParaRPr lang="en-US" sz="4600" dirty="0"/>
          </a:p>
        </p:txBody>
      </p:sp>
      <p:sp>
        <p:nvSpPr>
          <p:cNvPr id="27" name="Text 21"/>
          <p:cNvSpPr txBox="1"/>
          <p:nvPr/>
        </p:nvSpPr>
        <p:spPr>
          <a:xfrm>
            <a:off x="9188806" y="4343400"/>
            <a:ext cx="2240280" cy="640080"/>
          </a:xfrm>
          <a:prstGeom prst="rect">
            <a:avLst/>
          </a:prstGeom>
          <a:noFill/>
          <a:ln/>
        </p:spPr>
        <p:txBody>
          <a:bodyPr wrap="square" lIns="0" tIns="0" rIns="0" bIns="0" rtlCol="0" anchor="ctr"/>
          <a:lstStyle/>
          <a:p>
            <a:pPr algn="ctr" indent="0" marL="0">
              <a:buNone/>
            </a:pPr>
            <a:r>
              <a:rPr lang="en-US" sz="1700" b="1" dirty="0">
                <a:solidFill>
                  <a:srgbClr val="1D2733"/>
                </a:solidFill>
                <a:latin typeface="Calibri" pitchFamily="34" charset="0"/>
                <a:ea typeface="Calibri" pitchFamily="34" charset="-122"/>
                <a:cs typeface="Calibri" pitchFamily="34" charset="-120"/>
              </a:rPr>
              <a:t>real-world success rate</a:t>
            </a:r>
            <a:endParaRPr lang="en-US" sz="1700" dirty="0"/>
          </a:p>
        </p:txBody>
      </p:sp>
      <p:sp>
        <p:nvSpPr>
          <p:cNvPr id="28" name="Text 22"/>
          <p:cNvSpPr txBox="1"/>
          <p:nvPr/>
        </p:nvSpPr>
        <p:spPr>
          <a:xfrm>
            <a:off x="9188806" y="5120640"/>
            <a:ext cx="2240280" cy="731520"/>
          </a:xfrm>
          <a:prstGeom prst="rect">
            <a:avLst/>
          </a:prstGeom>
          <a:noFill/>
          <a:ln/>
        </p:spPr>
        <p:txBody>
          <a:bodyPr wrap="square" lIns="0" tIns="0" rIns="0" bIns="0" rtlCol="0" anchor="ctr"/>
          <a:lstStyle/>
          <a:p>
            <a:pPr algn="ctr" indent="0" marL="0">
              <a:buNone/>
            </a:pPr>
            <a:r>
              <a:rPr lang="en-US" sz="1400" i="1" dirty="0">
                <a:solidFill>
                  <a:srgbClr val="8B96A5"/>
                </a:solidFill>
                <a:latin typeface="Calibri" pitchFamily="34" charset="0"/>
                <a:ea typeface="Calibri" pitchFamily="34" charset="-122"/>
                <a:cs typeface="Calibri" pitchFamily="34" charset="-120"/>
              </a:rPr>
              <a:t>in live deployment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92608"/>
          </a:xfrm>
          <a:prstGeom prst="rect">
            <a:avLst/>
          </a:prstGeom>
          <a:noFill/>
          <a:ln/>
        </p:spPr>
        <p:txBody>
          <a:bodyPr wrap="square" lIns="0" tIns="0" rIns="0" bIns="0" rtlCol="0" anchor="ctr"/>
          <a:lstStyle/>
          <a:p>
            <a:pPr indent="0" marL="0">
              <a:buNone/>
            </a:pPr>
            <a:r>
              <a:rPr lang="en-US" sz="1300" b="1" spc="300" kern="0" dirty="0">
                <a:solidFill>
                  <a:srgbClr val="F2A541"/>
                </a:solidFill>
                <a:latin typeface="Calibri" pitchFamily="34" charset="0"/>
                <a:ea typeface="Calibri" pitchFamily="34" charset="-122"/>
                <a:cs typeface="Calibri" pitchFamily="34" charset="-120"/>
              </a:rPr>
              <a:t>01 · BUSINESS USE CASE</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D2733"/>
                </a:solidFill>
                <a:latin typeface="Cambria" pitchFamily="34" charset="0"/>
                <a:ea typeface="Cambria" pitchFamily="34" charset="-122"/>
                <a:cs typeface="Cambria" pitchFamily="34" charset="-120"/>
              </a:rPr>
              <a:t>Challenges We Hit, and What We Learned</a:t>
            </a:r>
            <a:endParaRPr lang="en-US" sz="3200" dirty="0"/>
          </a:p>
        </p:txBody>
      </p:sp>
      <p:sp>
        <p:nvSpPr>
          <p:cNvPr id="4" name="Text 2"/>
          <p:cNvSpPr txBox="1"/>
          <p:nvPr/>
        </p:nvSpPr>
        <p:spPr>
          <a:xfrm>
            <a:off x="1325880" y="1508760"/>
            <a:ext cx="4572000" cy="320040"/>
          </a:xfrm>
          <a:prstGeom prst="rect">
            <a:avLst/>
          </a:prstGeom>
          <a:noFill/>
          <a:ln/>
        </p:spPr>
        <p:txBody>
          <a:bodyPr wrap="square" lIns="0" tIns="0" rIns="0" bIns="0" rtlCol="0" anchor="ctr"/>
          <a:lstStyle/>
          <a:p>
            <a:pPr indent="0" marL="0">
              <a:buNone/>
            </a:pPr>
            <a:r>
              <a:rPr lang="en-US" sz="1300" b="1" spc="300" kern="0" dirty="0">
                <a:solidFill>
                  <a:srgbClr val="E0565B"/>
                </a:solidFill>
                <a:latin typeface="Calibri" pitchFamily="34" charset="0"/>
                <a:ea typeface="Calibri" pitchFamily="34" charset="-122"/>
                <a:cs typeface="Calibri" pitchFamily="34" charset="-120"/>
              </a:rPr>
              <a:t>CHALLENGE</a:t>
            </a:r>
            <a:endParaRPr lang="en-US" sz="1300" dirty="0"/>
          </a:p>
        </p:txBody>
      </p:sp>
      <p:sp>
        <p:nvSpPr>
          <p:cNvPr id="5" name="Text 3"/>
          <p:cNvSpPr txBox="1"/>
          <p:nvPr/>
        </p:nvSpPr>
        <p:spPr>
          <a:xfrm>
            <a:off x="6720840" y="1508760"/>
            <a:ext cx="4572000" cy="320040"/>
          </a:xfrm>
          <a:prstGeom prst="rect">
            <a:avLst/>
          </a:prstGeom>
          <a:noFill/>
          <a:ln/>
        </p:spPr>
        <p:txBody>
          <a:bodyPr wrap="square" lIns="0" tIns="0" rIns="0" bIns="0" rtlCol="0" anchor="ctr"/>
          <a:lstStyle/>
          <a:p>
            <a:pPr indent="0" marL="0">
              <a:buNone/>
            </a:pPr>
            <a:r>
              <a:rPr lang="en-US" sz="1300" b="1" spc="300" kern="0" dirty="0">
                <a:solidFill>
                  <a:srgbClr val="2BB3A3"/>
                </a:solidFill>
                <a:latin typeface="Calibri" pitchFamily="34" charset="0"/>
                <a:ea typeface="Calibri" pitchFamily="34" charset="-122"/>
                <a:cs typeface="Calibri" pitchFamily="34" charset="-120"/>
              </a:rPr>
              <a:t>LESSON LEARNT</a:t>
            </a:r>
            <a:endParaRPr lang="en-US" sz="1300" dirty="0"/>
          </a:p>
        </p:txBody>
      </p:sp>
      <p:sp>
        <p:nvSpPr>
          <p:cNvPr id="6" name="Shape 4"/>
          <p:cNvSpPr/>
          <p:nvPr/>
        </p:nvSpPr>
        <p:spPr>
          <a:xfrm>
            <a:off x="548640" y="1920240"/>
            <a:ext cx="11064240" cy="777240"/>
          </a:xfrm>
          <a:prstGeom prst="roundRect">
            <a:avLst>
              <a:gd name="adj" fmla="val 14118"/>
            </a:avLst>
          </a:prstGeom>
          <a:solidFill>
            <a:srgbClr val="EEF2F6"/>
          </a:solidFill>
          <a:ln w="12700">
            <a:solidFill>
              <a:srgbClr val="EEF2F6"/>
            </a:solidFill>
            <a:prstDash val="solid"/>
          </a:ln>
        </p:spPr>
      </p:sp>
      <p:sp>
        <p:nvSpPr>
          <p:cNvPr id="7" name="Shape 5"/>
          <p:cNvSpPr/>
          <p:nvPr/>
        </p:nvSpPr>
        <p:spPr>
          <a:xfrm>
            <a:off x="713232" y="2075688"/>
            <a:ext cx="475488" cy="475488"/>
          </a:xfrm>
          <a:prstGeom prst="ellipse">
            <a:avLst/>
          </a:prstGeom>
          <a:solidFill>
            <a:srgbClr val="F2A541"/>
          </a:solidFill>
          <a:ln w="12700">
            <a:solidFill>
              <a:srgbClr val="F2A541"/>
            </a:solidFill>
            <a:prstDash val="solid"/>
          </a:ln>
        </p:spPr>
      </p:sp>
      <p:sp>
        <p:nvSpPr>
          <p:cNvPr id="8" name="Text 6"/>
          <p:cNvSpPr txBox="1"/>
          <p:nvPr/>
        </p:nvSpPr>
        <p:spPr>
          <a:xfrm>
            <a:off x="713232" y="2075688"/>
            <a:ext cx="475488" cy="475488"/>
          </a:xfrm>
          <a:prstGeom prst="rect">
            <a:avLst/>
          </a:prstGeom>
          <a:noFill/>
          <a:ln/>
        </p:spPr>
        <p:txBody>
          <a:bodyPr wrap="square" lIns="0" tIns="0" rIns="0" bIns="0" rtlCol="0" anchor="ctr"/>
          <a:lstStyle/>
          <a:p>
            <a:pPr algn="ctr" indent="0" marL="0">
              <a:buNone/>
            </a:pPr>
            <a:r>
              <a:rPr lang="en-US" sz="1456" b="1" dirty="0">
                <a:solidFill>
                  <a:srgbClr val="0F1720"/>
                </a:solidFill>
                <a:latin typeface="Calibri" pitchFamily="34" charset="0"/>
                <a:ea typeface="Calibri" pitchFamily="34" charset="-122"/>
                <a:cs typeface="Calibri" pitchFamily="34" charset="-120"/>
              </a:rPr>
              <a:t>1</a:t>
            </a:r>
            <a:endParaRPr lang="en-US" sz="1456" dirty="0"/>
          </a:p>
        </p:txBody>
      </p:sp>
      <p:sp>
        <p:nvSpPr>
          <p:cNvPr id="9" name="Text 7"/>
          <p:cNvSpPr txBox="1"/>
          <p:nvPr/>
        </p:nvSpPr>
        <p:spPr>
          <a:xfrm>
            <a:off x="1325880" y="1920240"/>
            <a:ext cx="4754880" cy="777240"/>
          </a:xfrm>
          <a:prstGeom prst="rect">
            <a:avLst/>
          </a:prstGeom>
          <a:noFill/>
          <a:ln/>
        </p:spPr>
        <p:txBody>
          <a:bodyPr wrap="square" lIns="0" tIns="0" rIns="0" bIns="0" rtlCol="0" anchor="ctr"/>
          <a:lstStyle/>
          <a:p>
            <a:pPr indent="0" marL="0">
              <a:buNone/>
            </a:pPr>
            <a:r>
              <a:rPr lang="en-US" sz="1600" b="1" dirty="0">
                <a:solidFill>
                  <a:srgbClr val="1D2733"/>
                </a:solidFill>
                <a:latin typeface="Calibri" pitchFamily="34" charset="0"/>
                <a:ea typeface="Calibri" pitchFamily="34" charset="-122"/>
                <a:cs typeface="Calibri" pitchFamily="34" charset="-120"/>
              </a:rPr>
              <a:t>Only a few hundred labeled examples to work with</a:t>
            </a:r>
            <a:endParaRPr lang="en-US" sz="1600" dirty="0"/>
          </a:p>
        </p:txBody>
      </p:sp>
      <p:sp>
        <p:nvSpPr>
          <p:cNvPr id="10" name="Text 8"/>
          <p:cNvSpPr txBox="1"/>
          <p:nvPr/>
        </p:nvSpPr>
        <p:spPr>
          <a:xfrm>
            <a:off x="6126480" y="1920240"/>
            <a:ext cx="457200" cy="777240"/>
          </a:xfrm>
          <a:prstGeom prst="rect">
            <a:avLst/>
          </a:prstGeom>
          <a:noFill/>
          <a:ln/>
        </p:spPr>
        <p:txBody>
          <a:bodyPr wrap="square" lIns="0" tIns="0" rIns="0" bIns="0" rtlCol="0" anchor="ctr"/>
          <a:lstStyle/>
          <a:p>
            <a:pPr algn="ctr" indent="0" marL="0">
              <a:buNone/>
            </a:pPr>
            <a:r>
              <a:rPr lang="en-US" sz="2000" b="1" dirty="0">
                <a:solidFill>
                  <a:srgbClr val="F2A541"/>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6720840" y="1920240"/>
            <a:ext cx="4754880" cy="777240"/>
          </a:xfrm>
          <a:prstGeom prst="rect">
            <a:avLst/>
          </a:prstGeom>
          <a:noFill/>
          <a:ln/>
        </p:spPr>
        <p:txBody>
          <a:bodyPr wrap="square" lIns="0" tIns="0" rIns="0" bIns="0" rtlCol="0" anchor="ctr"/>
          <a:lstStyle/>
          <a:p>
            <a:pPr indent="0" marL="0">
              <a:buNone/>
            </a:pPr>
            <a:r>
              <a:rPr lang="en-US" sz="1600" dirty="0">
                <a:solidFill>
                  <a:srgbClr val="3A4656"/>
                </a:solidFill>
                <a:latin typeface="Calibri" pitchFamily="34" charset="0"/>
                <a:ea typeface="Calibri" pitchFamily="34" charset="-122"/>
                <a:cs typeface="Calibri" pitchFamily="34" charset="-120"/>
              </a:rPr>
              <a:t>Pretrained vision models cut the need for large custom training sets</a:t>
            </a:r>
            <a:endParaRPr lang="en-US" sz="1600" dirty="0"/>
          </a:p>
        </p:txBody>
      </p:sp>
      <p:sp>
        <p:nvSpPr>
          <p:cNvPr id="12" name="Shape 10"/>
          <p:cNvSpPr/>
          <p:nvPr/>
        </p:nvSpPr>
        <p:spPr>
          <a:xfrm>
            <a:off x="548640" y="2816352"/>
            <a:ext cx="11064240" cy="777240"/>
          </a:xfrm>
          <a:prstGeom prst="roundRect">
            <a:avLst>
              <a:gd name="adj" fmla="val 14118"/>
            </a:avLst>
          </a:prstGeom>
          <a:solidFill>
            <a:srgbClr val="FFFFFF"/>
          </a:solidFill>
          <a:ln w="12700">
            <a:solidFill>
              <a:srgbClr val="FFFFFF"/>
            </a:solidFill>
            <a:prstDash val="solid"/>
          </a:ln>
        </p:spPr>
      </p:sp>
      <p:sp>
        <p:nvSpPr>
          <p:cNvPr id="13" name="Shape 11"/>
          <p:cNvSpPr/>
          <p:nvPr/>
        </p:nvSpPr>
        <p:spPr>
          <a:xfrm>
            <a:off x="713232" y="2971800"/>
            <a:ext cx="475488" cy="475488"/>
          </a:xfrm>
          <a:prstGeom prst="ellipse">
            <a:avLst/>
          </a:prstGeom>
          <a:solidFill>
            <a:srgbClr val="F2A541"/>
          </a:solidFill>
          <a:ln w="12700">
            <a:solidFill>
              <a:srgbClr val="F2A541"/>
            </a:solidFill>
            <a:prstDash val="solid"/>
          </a:ln>
        </p:spPr>
      </p:sp>
      <p:sp>
        <p:nvSpPr>
          <p:cNvPr id="14" name="Text 12"/>
          <p:cNvSpPr txBox="1"/>
          <p:nvPr/>
        </p:nvSpPr>
        <p:spPr>
          <a:xfrm>
            <a:off x="713232" y="2971800"/>
            <a:ext cx="475488" cy="475488"/>
          </a:xfrm>
          <a:prstGeom prst="rect">
            <a:avLst/>
          </a:prstGeom>
          <a:noFill/>
          <a:ln/>
        </p:spPr>
        <p:txBody>
          <a:bodyPr wrap="square" lIns="0" tIns="0" rIns="0" bIns="0" rtlCol="0" anchor="ctr"/>
          <a:lstStyle/>
          <a:p>
            <a:pPr algn="ctr" indent="0" marL="0">
              <a:buNone/>
            </a:pPr>
            <a:r>
              <a:rPr lang="en-US" sz="1456" b="1" dirty="0">
                <a:solidFill>
                  <a:srgbClr val="0F1720"/>
                </a:solidFill>
                <a:latin typeface="Calibri" pitchFamily="34" charset="0"/>
                <a:ea typeface="Calibri" pitchFamily="34" charset="-122"/>
                <a:cs typeface="Calibri" pitchFamily="34" charset="-120"/>
              </a:rPr>
              <a:t>2</a:t>
            </a:r>
            <a:endParaRPr lang="en-US" sz="1456" dirty="0"/>
          </a:p>
        </p:txBody>
      </p:sp>
      <p:sp>
        <p:nvSpPr>
          <p:cNvPr id="15" name="Text 13"/>
          <p:cNvSpPr txBox="1"/>
          <p:nvPr/>
        </p:nvSpPr>
        <p:spPr>
          <a:xfrm>
            <a:off x="1325880" y="2816352"/>
            <a:ext cx="4754880" cy="777240"/>
          </a:xfrm>
          <a:prstGeom prst="rect">
            <a:avLst/>
          </a:prstGeom>
          <a:noFill/>
          <a:ln/>
        </p:spPr>
        <p:txBody>
          <a:bodyPr wrap="square" lIns="0" tIns="0" rIns="0" bIns="0" rtlCol="0" anchor="ctr"/>
          <a:lstStyle/>
          <a:p>
            <a:pPr indent="0" marL="0">
              <a:buNone/>
            </a:pPr>
            <a:r>
              <a:rPr lang="en-US" sz="1600" b="1" dirty="0">
                <a:solidFill>
                  <a:srgbClr val="1D2733"/>
                </a:solidFill>
                <a:latin typeface="Calibri" pitchFamily="34" charset="0"/>
                <a:ea typeface="Calibri" pitchFamily="34" charset="-122"/>
                <a:cs typeface="Calibri" pitchFamily="34" charset="-120"/>
              </a:rPr>
              <a:t>Far more “Shop” examples than “Not-Shop” ones</a:t>
            </a:r>
            <a:endParaRPr lang="en-US" sz="1600" dirty="0"/>
          </a:p>
        </p:txBody>
      </p:sp>
      <p:sp>
        <p:nvSpPr>
          <p:cNvPr id="16" name="Text 14"/>
          <p:cNvSpPr txBox="1"/>
          <p:nvPr/>
        </p:nvSpPr>
        <p:spPr>
          <a:xfrm>
            <a:off x="6126480" y="2816352"/>
            <a:ext cx="457200" cy="777240"/>
          </a:xfrm>
          <a:prstGeom prst="rect">
            <a:avLst/>
          </a:prstGeom>
          <a:noFill/>
          <a:ln/>
        </p:spPr>
        <p:txBody>
          <a:bodyPr wrap="square" lIns="0" tIns="0" rIns="0" bIns="0" rtlCol="0" anchor="ctr"/>
          <a:lstStyle/>
          <a:p>
            <a:pPr algn="ctr" indent="0" marL="0">
              <a:buNone/>
            </a:pPr>
            <a:r>
              <a:rPr lang="en-US" sz="2000" b="1" dirty="0">
                <a:solidFill>
                  <a:srgbClr val="F2A541"/>
                </a:solidFill>
                <a:latin typeface="Calibri" pitchFamily="34" charset="0"/>
                <a:ea typeface="Calibri" pitchFamily="34" charset="-122"/>
                <a:cs typeface="Calibri" pitchFamily="34" charset="-120"/>
              </a:rPr>
              <a:t>→</a:t>
            </a:r>
            <a:endParaRPr lang="en-US" sz="2000" dirty="0"/>
          </a:p>
        </p:txBody>
      </p:sp>
      <p:sp>
        <p:nvSpPr>
          <p:cNvPr id="17" name="Text 15"/>
          <p:cNvSpPr txBox="1"/>
          <p:nvPr/>
        </p:nvSpPr>
        <p:spPr>
          <a:xfrm>
            <a:off x="6720840" y="2816352"/>
            <a:ext cx="4754880" cy="777240"/>
          </a:xfrm>
          <a:prstGeom prst="rect">
            <a:avLst/>
          </a:prstGeom>
          <a:noFill/>
          <a:ln/>
        </p:spPr>
        <p:txBody>
          <a:bodyPr wrap="square" lIns="0" tIns="0" rIns="0" bIns="0" rtlCol="0" anchor="ctr"/>
          <a:lstStyle/>
          <a:p>
            <a:pPr indent="0" marL="0">
              <a:buNone/>
            </a:pPr>
            <a:r>
              <a:rPr lang="en-US" sz="1600" dirty="0">
                <a:solidFill>
                  <a:srgbClr val="3A4656"/>
                </a:solidFill>
                <a:latin typeface="Calibri" pitchFamily="34" charset="0"/>
                <a:ea typeface="Calibri" pitchFamily="34" charset="-122"/>
                <a:cs typeface="Calibri" pitchFamily="34" charset="-120"/>
              </a:rPr>
              <a:t>Track precision and recall per class — overall accuracy hides the gap</a:t>
            </a:r>
            <a:endParaRPr lang="en-US" sz="1600" dirty="0"/>
          </a:p>
        </p:txBody>
      </p:sp>
      <p:sp>
        <p:nvSpPr>
          <p:cNvPr id="18" name="Shape 16"/>
          <p:cNvSpPr/>
          <p:nvPr/>
        </p:nvSpPr>
        <p:spPr>
          <a:xfrm>
            <a:off x="548640" y="3712464"/>
            <a:ext cx="11064240" cy="777240"/>
          </a:xfrm>
          <a:prstGeom prst="roundRect">
            <a:avLst>
              <a:gd name="adj" fmla="val 14118"/>
            </a:avLst>
          </a:prstGeom>
          <a:solidFill>
            <a:srgbClr val="EEF2F6"/>
          </a:solidFill>
          <a:ln w="12700">
            <a:solidFill>
              <a:srgbClr val="EEF2F6"/>
            </a:solidFill>
            <a:prstDash val="solid"/>
          </a:ln>
        </p:spPr>
      </p:sp>
      <p:sp>
        <p:nvSpPr>
          <p:cNvPr id="19" name="Shape 17"/>
          <p:cNvSpPr/>
          <p:nvPr/>
        </p:nvSpPr>
        <p:spPr>
          <a:xfrm>
            <a:off x="713232" y="3867912"/>
            <a:ext cx="475488" cy="475488"/>
          </a:xfrm>
          <a:prstGeom prst="ellipse">
            <a:avLst/>
          </a:prstGeom>
          <a:solidFill>
            <a:srgbClr val="F2A541"/>
          </a:solidFill>
          <a:ln w="12700">
            <a:solidFill>
              <a:srgbClr val="F2A541"/>
            </a:solidFill>
            <a:prstDash val="solid"/>
          </a:ln>
        </p:spPr>
      </p:sp>
      <p:sp>
        <p:nvSpPr>
          <p:cNvPr id="20" name="Text 18"/>
          <p:cNvSpPr txBox="1"/>
          <p:nvPr/>
        </p:nvSpPr>
        <p:spPr>
          <a:xfrm>
            <a:off x="713232" y="3867912"/>
            <a:ext cx="475488" cy="475488"/>
          </a:xfrm>
          <a:prstGeom prst="rect">
            <a:avLst/>
          </a:prstGeom>
          <a:noFill/>
          <a:ln/>
        </p:spPr>
        <p:txBody>
          <a:bodyPr wrap="square" lIns="0" tIns="0" rIns="0" bIns="0" rtlCol="0" anchor="ctr"/>
          <a:lstStyle/>
          <a:p>
            <a:pPr algn="ctr" indent="0" marL="0">
              <a:buNone/>
            </a:pPr>
            <a:r>
              <a:rPr lang="en-US" sz="1456" b="1" dirty="0">
                <a:solidFill>
                  <a:srgbClr val="0F1720"/>
                </a:solidFill>
                <a:latin typeface="Calibri" pitchFamily="34" charset="0"/>
                <a:ea typeface="Calibri" pitchFamily="34" charset="-122"/>
                <a:cs typeface="Calibri" pitchFamily="34" charset="-120"/>
              </a:rPr>
              <a:t>3</a:t>
            </a:r>
            <a:endParaRPr lang="en-US" sz="1456" dirty="0"/>
          </a:p>
        </p:txBody>
      </p:sp>
      <p:sp>
        <p:nvSpPr>
          <p:cNvPr id="21" name="Text 19"/>
          <p:cNvSpPr txBox="1"/>
          <p:nvPr/>
        </p:nvSpPr>
        <p:spPr>
          <a:xfrm>
            <a:off x="1325880" y="3712464"/>
            <a:ext cx="4754880" cy="777240"/>
          </a:xfrm>
          <a:prstGeom prst="rect">
            <a:avLst/>
          </a:prstGeom>
          <a:noFill/>
          <a:ln/>
        </p:spPr>
        <p:txBody>
          <a:bodyPr wrap="square" lIns="0" tIns="0" rIns="0" bIns="0" rtlCol="0" anchor="ctr"/>
          <a:lstStyle/>
          <a:p>
            <a:pPr indent="0" marL="0">
              <a:buNone/>
            </a:pPr>
            <a:r>
              <a:rPr lang="en-US" sz="1600" b="1" dirty="0">
                <a:solidFill>
                  <a:srgbClr val="1D2733"/>
                </a:solidFill>
                <a:latin typeface="Calibri" pitchFamily="34" charset="0"/>
                <a:ea typeface="Calibri" pitchFamily="34" charset="-122"/>
                <a:cs typeface="Calibri" pitchFamily="34" charset="-120"/>
              </a:rPr>
              <a:t>Blurry, low-light, or low-resolution photos</a:t>
            </a:r>
            <a:endParaRPr lang="en-US" sz="1600" dirty="0"/>
          </a:p>
        </p:txBody>
      </p:sp>
      <p:sp>
        <p:nvSpPr>
          <p:cNvPr id="22" name="Text 20"/>
          <p:cNvSpPr txBox="1"/>
          <p:nvPr/>
        </p:nvSpPr>
        <p:spPr>
          <a:xfrm>
            <a:off x="6126480" y="3712464"/>
            <a:ext cx="457200" cy="777240"/>
          </a:xfrm>
          <a:prstGeom prst="rect">
            <a:avLst/>
          </a:prstGeom>
          <a:noFill/>
          <a:ln/>
        </p:spPr>
        <p:txBody>
          <a:bodyPr wrap="square" lIns="0" tIns="0" rIns="0" bIns="0" rtlCol="0" anchor="ctr"/>
          <a:lstStyle/>
          <a:p>
            <a:pPr algn="ctr" indent="0" marL="0">
              <a:buNone/>
            </a:pPr>
            <a:r>
              <a:rPr lang="en-US" sz="2000" b="1" dirty="0">
                <a:solidFill>
                  <a:srgbClr val="F2A541"/>
                </a:solidFill>
                <a:latin typeface="Calibri" pitchFamily="34" charset="0"/>
                <a:ea typeface="Calibri" pitchFamily="34" charset="-122"/>
                <a:cs typeface="Calibri" pitchFamily="34" charset="-120"/>
              </a:rPr>
              <a:t>→</a:t>
            </a:r>
            <a:endParaRPr lang="en-US" sz="2000" dirty="0"/>
          </a:p>
        </p:txBody>
      </p:sp>
      <p:sp>
        <p:nvSpPr>
          <p:cNvPr id="23" name="Text 21"/>
          <p:cNvSpPr txBox="1"/>
          <p:nvPr/>
        </p:nvSpPr>
        <p:spPr>
          <a:xfrm>
            <a:off x="6720840" y="3712464"/>
            <a:ext cx="4754880" cy="777240"/>
          </a:xfrm>
          <a:prstGeom prst="rect">
            <a:avLst/>
          </a:prstGeom>
          <a:noFill/>
          <a:ln/>
        </p:spPr>
        <p:txBody>
          <a:bodyPr wrap="square" lIns="0" tIns="0" rIns="0" bIns="0" rtlCol="0" anchor="ctr"/>
          <a:lstStyle/>
          <a:p>
            <a:pPr indent="0" marL="0">
              <a:buNone/>
            </a:pPr>
            <a:r>
              <a:rPr lang="en-US" sz="1600" dirty="0">
                <a:solidFill>
                  <a:srgbClr val="3A4656"/>
                </a:solidFill>
                <a:latin typeface="Calibri" pitchFamily="34" charset="0"/>
                <a:ea typeface="Calibri" pitchFamily="34" charset="-122"/>
                <a:cs typeface="Calibri" pitchFamily="34" charset="-120"/>
              </a:rPr>
              <a:t>Gate image quality before the model call, not after</a:t>
            </a:r>
            <a:endParaRPr lang="en-US" sz="1600" dirty="0"/>
          </a:p>
        </p:txBody>
      </p:sp>
      <p:sp>
        <p:nvSpPr>
          <p:cNvPr id="24" name="Shape 22"/>
          <p:cNvSpPr/>
          <p:nvPr/>
        </p:nvSpPr>
        <p:spPr>
          <a:xfrm>
            <a:off x="548640" y="4608576"/>
            <a:ext cx="11064240" cy="777240"/>
          </a:xfrm>
          <a:prstGeom prst="roundRect">
            <a:avLst>
              <a:gd name="adj" fmla="val 14118"/>
            </a:avLst>
          </a:prstGeom>
          <a:solidFill>
            <a:srgbClr val="FFFFFF"/>
          </a:solidFill>
          <a:ln w="12700">
            <a:solidFill>
              <a:srgbClr val="FFFFFF"/>
            </a:solidFill>
            <a:prstDash val="solid"/>
          </a:ln>
        </p:spPr>
      </p:sp>
      <p:sp>
        <p:nvSpPr>
          <p:cNvPr id="25" name="Shape 23"/>
          <p:cNvSpPr/>
          <p:nvPr/>
        </p:nvSpPr>
        <p:spPr>
          <a:xfrm>
            <a:off x="713232" y="4764024"/>
            <a:ext cx="475488" cy="475488"/>
          </a:xfrm>
          <a:prstGeom prst="ellipse">
            <a:avLst/>
          </a:prstGeom>
          <a:solidFill>
            <a:srgbClr val="F2A541"/>
          </a:solidFill>
          <a:ln w="12700">
            <a:solidFill>
              <a:srgbClr val="F2A541"/>
            </a:solidFill>
            <a:prstDash val="solid"/>
          </a:ln>
        </p:spPr>
      </p:sp>
      <p:sp>
        <p:nvSpPr>
          <p:cNvPr id="26" name="Text 24"/>
          <p:cNvSpPr txBox="1"/>
          <p:nvPr/>
        </p:nvSpPr>
        <p:spPr>
          <a:xfrm>
            <a:off x="713232" y="4764024"/>
            <a:ext cx="475488" cy="475488"/>
          </a:xfrm>
          <a:prstGeom prst="rect">
            <a:avLst/>
          </a:prstGeom>
          <a:noFill/>
          <a:ln/>
        </p:spPr>
        <p:txBody>
          <a:bodyPr wrap="square" lIns="0" tIns="0" rIns="0" bIns="0" rtlCol="0" anchor="ctr"/>
          <a:lstStyle/>
          <a:p>
            <a:pPr algn="ctr" indent="0" marL="0">
              <a:buNone/>
            </a:pPr>
            <a:r>
              <a:rPr lang="en-US" sz="1456" b="1" dirty="0">
                <a:solidFill>
                  <a:srgbClr val="0F1720"/>
                </a:solidFill>
                <a:latin typeface="Calibri" pitchFamily="34" charset="0"/>
                <a:ea typeface="Calibri" pitchFamily="34" charset="-122"/>
                <a:cs typeface="Calibri" pitchFamily="34" charset="-120"/>
              </a:rPr>
              <a:t>4</a:t>
            </a:r>
            <a:endParaRPr lang="en-US" sz="1456" dirty="0"/>
          </a:p>
        </p:txBody>
      </p:sp>
      <p:sp>
        <p:nvSpPr>
          <p:cNvPr id="27" name="Text 25"/>
          <p:cNvSpPr txBox="1"/>
          <p:nvPr/>
        </p:nvSpPr>
        <p:spPr>
          <a:xfrm>
            <a:off x="1325880" y="4608576"/>
            <a:ext cx="4754880" cy="777240"/>
          </a:xfrm>
          <a:prstGeom prst="rect">
            <a:avLst/>
          </a:prstGeom>
          <a:noFill/>
          <a:ln/>
        </p:spPr>
        <p:txBody>
          <a:bodyPr wrap="square" lIns="0" tIns="0" rIns="0" bIns="0" rtlCol="0" anchor="ctr"/>
          <a:lstStyle/>
          <a:p>
            <a:pPr indent="0" marL="0">
              <a:buNone/>
            </a:pPr>
            <a:r>
              <a:rPr lang="en-US" sz="1600" b="1" dirty="0">
                <a:solidFill>
                  <a:srgbClr val="1D2733"/>
                </a:solidFill>
                <a:latin typeface="Calibri" pitchFamily="34" charset="0"/>
                <a:ea typeface="Calibri" pitchFamily="34" charset="-122"/>
                <a:cs typeface="Calibri" pitchFamily="34" charset="-120"/>
              </a:rPr>
              <a:t>Inconsistent geotag formats coming from the field</a:t>
            </a:r>
            <a:endParaRPr lang="en-US" sz="1600" dirty="0"/>
          </a:p>
        </p:txBody>
      </p:sp>
      <p:sp>
        <p:nvSpPr>
          <p:cNvPr id="28" name="Text 26"/>
          <p:cNvSpPr txBox="1"/>
          <p:nvPr/>
        </p:nvSpPr>
        <p:spPr>
          <a:xfrm>
            <a:off x="6126480" y="4608576"/>
            <a:ext cx="457200" cy="777240"/>
          </a:xfrm>
          <a:prstGeom prst="rect">
            <a:avLst/>
          </a:prstGeom>
          <a:noFill/>
          <a:ln/>
        </p:spPr>
        <p:txBody>
          <a:bodyPr wrap="square" lIns="0" tIns="0" rIns="0" bIns="0" rtlCol="0" anchor="ctr"/>
          <a:lstStyle/>
          <a:p>
            <a:pPr algn="ctr" indent="0" marL="0">
              <a:buNone/>
            </a:pPr>
            <a:r>
              <a:rPr lang="en-US" sz="2000" b="1" dirty="0">
                <a:solidFill>
                  <a:srgbClr val="F2A541"/>
                </a:solidFill>
                <a:latin typeface="Calibri" pitchFamily="34" charset="0"/>
                <a:ea typeface="Calibri" pitchFamily="34" charset="-122"/>
                <a:cs typeface="Calibri" pitchFamily="34" charset="-120"/>
              </a:rPr>
              <a:t>→</a:t>
            </a:r>
            <a:endParaRPr lang="en-US" sz="2000" dirty="0"/>
          </a:p>
        </p:txBody>
      </p:sp>
      <p:sp>
        <p:nvSpPr>
          <p:cNvPr id="29" name="Text 27"/>
          <p:cNvSpPr txBox="1"/>
          <p:nvPr/>
        </p:nvSpPr>
        <p:spPr>
          <a:xfrm>
            <a:off x="6720840" y="4608576"/>
            <a:ext cx="4754880" cy="777240"/>
          </a:xfrm>
          <a:prstGeom prst="rect">
            <a:avLst/>
          </a:prstGeom>
          <a:noFill/>
          <a:ln/>
        </p:spPr>
        <p:txBody>
          <a:bodyPr wrap="square" lIns="0" tIns="0" rIns="0" bIns="0" rtlCol="0" anchor="ctr"/>
          <a:lstStyle/>
          <a:p>
            <a:pPr indent="0" marL="0">
              <a:buNone/>
            </a:pPr>
            <a:r>
              <a:rPr lang="en-US" sz="1600" dirty="0">
                <a:solidFill>
                  <a:srgbClr val="3A4656"/>
                </a:solidFill>
                <a:latin typeface="Calibri" pitchFamily="34" charset="0"/>
                <a:ea typeface="Calibri" pitchFamily="34" charset="-122"/>
                <a:cs typeface="Calibri" pitchFamily="34" charset="-120"/>
              </a:rPr>
              <a:t>Normalize and validate metadata at ingestion, not downstream</a:t>
            </a:r>
            <a:endParaRPr lang="en-US" sz="1600" dirty="0"/>
          </a:p>
        </p:txBody>
      </p:sp>
      <p:sp>
        <p:nvSpPr>
          <p:cNvPr id="30" name="Shape 28"/>
          <p:cNvSpPr/>
          <p:nvPr/>
        </p:nvSpPr>
        <p:spPr>
          <a:xfrm>
            <a:off x="548640" y="5504688"/>
            <a:ext cx="11064240" cy="777240"/>
          </a:xfrm>
          <a:prstGeom prst="roundRect">
            <a:avLst>
              <a:gd name="adj" fmla="val 14118"/>
            </a:avLst>
          </a:prstGeom>
          <a:solidFill>
            <a:srgbClr val="EEF2F6"/>
          </a:solidFill>
          <a:ln w="12700">
            <a:solidFill>
              <a:srgbClr val="EEF2F6"/>
            </a:solidFill>
            <a:prstDash val="solid"/>
          </a:ln>
        </p:spPr>
      </p:sp>
      <p:sp>
        <p:nvSpPr>
          <p:cNvPr id="31" name="Shape 29"/>
          <p:cNvSpPr/>
          <p:nvPr/>
        </p:nvSpPr>
        <p:spPr>
          <a:xfrm>
            <a:off x="713232" y="5660136"/>
            <a:ext cx="475488" cy="475488"/>
          </a:xfrm>
          <a:prstGeom prst="ellipse">
            <a:avLst/>
          </a:prstGeom>
          <a:solidFill>
            <a:srgbClr val="F2A541"/>
          </a:solidFill>
          <a:ln w="12700">
            <a:solidFill>
              <a:srgbClr val="F2A541"/>
            </a:solidFill>
            <a:prstDash val="solid"/>
          </a:ln>
        </p:spPr>
      </p:sp>
      <p:sp>
        <p:nvSpPr>
          <p:cNvPr id="32" name="Text 30"/>
          <p:cNvSpPr txBox="1"/>
          <p:nvPr/>
        </p:nvSpPr>
        <p:spPr>
          <a:xfrm>
            <a:off x="713232" y="5660136"/>
            <a:ext cx="475488" cy="475488"/>
          </a:xfrm>
          <a:prstGeom prst="rect">
            <a:avLst/>
          </a:prstGeom>
          <a:noFill/>
          <a:ln/>
        </p:spPr>
        <p:txBody>
          <a:bodyPr wrap="square" lIns="0" tIns="0" rIns="0" bIns="0" rtlCol="0" anchor="ctr"/>
          <a:lstStyle/>
          <a:p>
            <a:pPr algn="ctr" indent="0" marL="0">
              <a:buNone/>
            </a:pPr>
            <a:r>
              <a:rPr lang="en-US" sz="1456" b="1" dirty="0">
                <a:solidFill>
                  <a:srgbClr val="0F1720"/>
                </a:solidFill>
                <a:latin typeface="Calibri" pitchFamily="34" charset="0"/>
                <a:ea typeface="Calibri" pitchFamily="34" charset="-122"/>
                <a:cs typeface="Calibri" pitchFamily="34" charset="-120"/>
              </a:rPr>
              <a:t>5</a:t>
            </a:r>
            <a:endParaRPr lang="en-US" sz="1456" dirty="0"/>
          </a:p>
        </p:txBody>
      </p:sp>
      <p:sp>
        <p:nvSpPr>
          <p:cNvPr id="33" name="Text 31"/>
          <p:cNvSpPr txBox="1"/>
          <p:nvPr/>
        </p:nvSpPr>
        <p:spPr>
          <a:xfrm>
            <a:off x="1325880" y="5504688"/>
            <a:ext cx="4754880" cy="777240"/>
          </a:xfrm>
          <a:prstGeom prst="rect">
            <a:avLst/>
          </a:prstGeom>
          <a:noFill/>
          <a:ln/>
        </p:spPr>
        <p:txBody>
          <a:bodyPr wrap="square" lIns="0" tIns="0" rIns="0" bIns="0" rtlCol="0" anchor="ctr"/>
          <a:lstStyle/>
          <a:p>
            <a:pPr indent="0" marL="0">
              <a:buNone/>
            </a:pPr>
            <a:r>
              <a:rPr lang="en-US" sz="1600" b="1" dirty="0">
                <a:solidFill>
                  <a:srgbClr val="1D2733"/>
                </a:solidFill>
                <a:latin typeface="Calibri" pitchFamily="34" charset="0"/>
                <a:ea typeface="Calibri" pitchFamily="34" charset="-122"/>
                <a:cs typeface="Calibri" pitchFamily="34" charset="-120"/>
              </a:rPr>
              <a:t>Edge cases that still needed a human eye</a:t>
            </a:r>
            <a:endParaRPr lang="en-US" sz="1600" dirty="0"/>
          </a:p>
        </p:txBody>
      </p:sp>
      <p:sp>
        <p:nvSpPr>
          <p:cNvPr id="34" name="Text 32"/>
          <p:cNvSpPr txBox="1"/>
          <p:nvPr/>
        </p:nvSpPr>
        <p:spPr>
          <a:xfrm>
            <a:off x="6126480" y="5504688"/>
            <a:ext cx="457200" cy="777240"/>
          </a:xfrm>
          <a:prstGeom prst="rect">
            <a:avLst/>
          </a:prstGeom>
          <a:noFill/>
          <a:ln/>
        </p:spPr>
        <p:txBody>
          <a:bodyPr wrap="square" lIns="0" tIns="0" rIns="0" bIns="0" rtlCol="0" anchor="ctr"/>
          <a:lstStyle/>
          <a:p>
            <a:pPr algn="ctr" indent="0" marL="0">
              <a:buNone/>
            </a:pPr>
            <a:r>
              <a:rPr lang="en-US" sz="2000" b="1" dirty="0">
                <a:solidFill>
                  <a:srgbClr val="F2A541"/>
                </a:solidFill>
                <a:latin typeface="Calibri" pitchFamily="34" charset="0"/>
                <a:ea typeface="Calibri" pitchFamily="34" charset="-122"/>
                <a:cs typeface="Calibri" pitchFamily="34" charset="-120"/>
              </a:rPr>
              <a:t>→</a:t>
            </a:r>
            <a:endParaRPr lang="en-US" sz="2000" dirty="0"/>
          </a:p>
        </p:txBody>
      </p:sp>
      <p:sp>
        <p:nvSpPr>
          <p:cNvPr id="35" name="Text 33"/>
          <p:cNvSpPr txBox="1"/>
          <p:nvPr/>
        </p:nvSpPr>
        <p:spPr>
          <a:xfrm>
            <a:off x="6720840" y="5504688"/>
            <a:ext cx="4754880" cy="777240"/>
          </a:xfrm>
          <a:prstGeom prst="rect">
            <a:avLst/>
          </a:prstGeom>
          <a:noFill/>
          <a:ln/>
        </p:spPr>
        <p:txBody>
          <a:bodyPr wrap="square" lIns="0" tIns="0" rIns="0" bIns="0" rtlCol="0" anchor="ctr"/>
          <a:lstStyle/>
          <a:p>
            <a:pPr indent="0" marL="0">
              <a:buNone/>
            </a:pPr>
            <a:r>
              <a:rPr lang="en-US" sz="1600" dirty="0">
                <a:solidFill>
                  <a:srgbClr val="3A4656"/>
                </a:solidFill>
                <a:latin typeface="Calibri" pitchFamily="34" charset="0"/>
                <a:ea typeface="Calibri" pitchFamily="34" charset="-122"/>
                <a:cs typeface="Calibri" pitchFamily="34" charset="-120"/>
              </a:rPr>
              <a:t>Design the human-in-the-loop path in from day one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92608"/>
          </a:xfrm>
          <a:prstGeom prst="rect">
            <a:avLst/>
          </a:prstGeom>
          <a:noFill/>
          <a:ln/>
        </p:spPr>
        <p:txBody>
          <a:bodyPr wrap="square" lIns="0" tIns="0" rIns="0" bIns="0" rtlCol="0" anchor="ctr"/>
          <a:lstStyle/>
          <a:p>
            <a:pPr indent="0" marL="0">
              <a:buNone/>
            </a:pPr>
            <a:r>
              <a:rPr lang="en-US" sz="1300" b="1" spc="300" kern="0" dirty="0">
                <a:solidFill>
                  <a:srgbClr val="F2A541"/>
                </a:solidFill>
                <a:latin typeface="Calibri" pitchFamily="34" charset="0"/>
                <a:ea typeface="Calibri" pitchFamily="34" charset="-122"/>
                <a:cs typeface="Calibri" pitchFamily="34" charset="-120"/>
              </a:rPr>
              <a:t>01 · BUSINESS USE CASE</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D2733"/>
                </a:solidFill>
                <a:latin typeface="Cambria" pitchFamily="34" charset="0"/>
                <a:ea typeface="Cambria" pitchFamily="34" charset="-122"/>
                <a:cs typeface="Cambria" pitchFamily="34" charset="-120"/>
              </a:rPr>
              <a:t>Image Examples — and a Non-Negotiable Rule</a:t>
            </a:r>
            <a:endParaRPr lang="en-US" sz="3200" dirty="0"/>
          </a:p>
        </p:txBody>
      </p:sp>
      <p:sp>
        <p:nvSpPr>
          <p:cNvPr id="4" name="Shape 2"/>
          <p:cNvSpPr/>
          <p:nvPr/>
        </p:nvSpPr>
        <p:spPr>
          <a:xfrm>
            <a:off x="548640" y="1463040"/>
            <a:ext cx="2606040" cy="2560320"/>
          </a:xfrm>
          <a:prstGeom prst="roundRect">
            <a:avLst>
              <a:gd name="adj" fmla="val 3571"/>
            </a:avLst>
          </a:prstGeom>
          <a:solidFill>
            <a:srgbClr val="EEF2F6"/>
          </a:solidFill>
          <a:ln w="25400">
            <a:solidFill>
              <a:srgbClr val="E0565B"/>
            </a:solidFill>
            <a:prstDash val="solid"/>
          </a:ln>
        </p:spPr>
      </p:sp>
      <p:pic>
        <p:nvPicPr>
          <p:cNvPr id="5" name="Image 0" descr="/home/claude/azure/media/s07_5.jpg">    </p:cNvPr>
          <p:cNvPicPr>
            <a:picLocks noChangeAspect="1"/>
          </p:cNvPicPr>
          <p:nvPr/>
        </p:nvPicPr>
        <p:blipFill>
          <a:blip r:embed="rId1"/>
          <a:stretch>
            <a:fillRect/>
          </a:stretch>
        </p:blipFill>
        <p:spPr>
          <a:xfrm>
            <a:off x="960120" y="1554480"/>
            <a:ext cx="1783080" cy="2377440"/>
          </a:xfrm>
          <a:prstGeom prst="rect">
            <a:avLst/>
          </a:prstGeom>
        </p:spPr>
      </p:pic>
      <p:sp>
        <p:nvSpPr>
          <p:cNvPr id="6" name="Text 3"/>
          <p:cNvSpPr txBox="1"/>
          <p:nvPr/>
        </p:nvSpPr>
        <p:spPr>
          <a:xfrm>
            <a:off x="548640" y="4069080"/>
            <a:ext cx="2606040" cy="274320"/>
          </a:xfrm>
          <a:prstGeom prst="rect">
            <a:avLst/>
          </a:prstGeom>
          <a:noFill/>
          <a:ln/>
        </p:spPr>
        <p:txBody>
          <a:bodyPr wrap="square" lIns="0" tIns="0" rIns="0" bIns="0" rtlCol="0" anchor="ctr"/>
          <a:lstStyle/>
          <a:p>
            <a:pPr algn="ctr" indent="0" marL="0">
              <a:buNone/>
            </a:pPr>
            <a:r>
              <a:rPr lang="en-US" sz="1300" dirty="0">
                <a:solidFill>
                  <a:srgbClr val="8B96A5"/>
                </a:solidFill>
                <a:latin typeface="Calibri" pitchFamily="34" charset="0"/>
                <a:ea typeface="Calibri" pitchFamily="34" charset="-122"/>
                <a:cs typeface="Calibri" pitchFamily="34" charset="-120"/>
              </a:rPr>
              <a:t>Palembang, Indonesia</a:t>
            </a:r>
            <a:endParaRPr lang="en-US" sz="1300" dirty="0"/>
          </a:p>
        </p:txBody>
      </p:sp>
      <p:sp>
        <p:nvSpPr>
          <p:cNvPr id="7" name="Shape 4"/>
          <p:cNvSpPr/>
          <p:nvPr/>
        </p:nvSpPr>
        <p:spPr>
          <a:xfrm>
            <a:off x="1165860" y="4389120"/>
            <a:ext cx="1371600" cy="365760"/>
          </a:xfrm>
          <a:prstGeom prst="roundRect">
            <a:avLst>
              <a:gd name="adj" fmla="val 50000"/>
            </a:avLst>
          </a:prstGeom>
          <a:solidFill>
            <a:srgbClr val="FCEBEC"/>
          </a:solidFill>
          <a:ln w="12700">
            <a:solidFill>
              <a:srgbClr val="E0565B"/>
            </a:solidFill>
            <a:prstDash val="solid"/>
          </a:ln>
        </p:spPr>
      </p:sp>
      <p:sp>
        <p:nvSpPr>
          <p:cNvPr id="8" name="Text 5"/>
          <p:cNvSpPr txBox="1"/>
          <p:nvPr/>
        </p:nvSpPr>
        <p:spPr>
          <a:xfrm>
            <a:off x="1165860" y="4389120"/>
            <a:ext cx="1371600" cy="365760"/>
          </a:xfrm>
          <a:prstGeom prst="rect">
            <a:avLst/>
          </a:prstGeom>
          <a:noFill/>
          <a:ln/>
        </p:spPr>
        <p:txBody>
          <a:bodyPr wrap="square" lIns="0" tIns="0" rIns="0" bIns="0" rtlCol="0" anchor="ctr"/>
          <a:lstStyle/>
          <a:p>
            <a:pPr algn="ctr" indent="0" marL="0">
              <a:buNone/>
            </a:pPr>
            <a:r>
              <a:rPr lang="en-US" sz="1300" b="1" dirty="0">
                <a:solidFill>
                  <a:srgbClr val="E0565B"/>
                </a:solidFill>
                <a:latin typeface="Calibri" pitchFamily="34" charset="0"/>
                <a:ea typeface="Calibri" pitchFamily="34" charset="-122"/>
                <a:cs typeface="Calibri" pitchFamily="34" charset="-120"/>
              </a:rPr>
              <a:t>✕  Not Shop</a:t>
            </a:r>
            <a:endParaRPr lang="en-US" sz="1300" dirty="0"/>
          </a:p>
        </p:txBody>
      </p:sp>
      <p:sp>
        <p:nvSpPr>
          <p:cNvPr id="9" name="Shape 6"/>
          <p:cNvSpPr/>
          <p:nvPr/>
        </p:nvSpPr>
        <p:spPr>
          <a:xfrm>
            <a:off x="3367735" y="1463040"/>
            <a:ext cx="2606040" cy="2560320"/>
          </a:xfrm>
          <a:prstGeom prst="roundRect">
            <a:avLst>
              <a:gd name="adj" fmla="val 3571"/>
            </a:avLst>
          </a:prstGeom>
          <a:solidFill>
            <a:srgbClr val="EEF2F6"/>
          </a:solidFill>
          <a:ln w="25400">
            <a:solidFill>
              <a:srgbClr val="E0565B"/>
            </a:solidFill>
            <a:prstDash val="solid"/>
          </a:ln>
        </p:spPr>
      </p:sp>
      <p:pic>
        <p:nvPicPr>
          <p:cNvPr id="10" name="Image 1" descr="/home/claude/azure/media/s07_10.jpg">    </p:cNvPr>
          <p:cNvPicPr>
            <a:picLocks noChangeAspect="1"/>
          </p:cNvPicPr>
          <p:nvPr/>
        </p:nvPicPr>
        <p:blipFill>
          <a:blip r:embed="rId2"/>
          <a:stretch>
            <a:fillRect/>
          </a:stretch>
        </p:blipFill>
        <p:spPr>
          <a:xfrm>
            <a:off x="3780536" y="1554480"/>
            <a:ext cx="1780438" cy="2377440"/>
          </a:xfrm>
          <a:prstGeom prst="rect">
            <a:avLst/>
          </a:prstGeom>
        </p:spPr>
      </p:pic>
      <p:sp>
        <p:nvSpPr>
          <p:cNvPr id="11" name="Text 7"/>
          <p:cNvSpPr txBox="1"/>
          <p:nvPr/>
        </p:nvSpPr>
        <p:spPr>
          <a:xfrm>
            <a:off x="3367735" y="4069080"/>
            <a:ext cx="2606040" cy="274320"/>
          </a:xfrm>
          <a:prstGeom prst="rect">
            <a:avLst/>
          </a:prstGeom>
          <a:noFill/>
          <a:ln/>
        </p:spPr>
        <p:txBody>
          <a:bodyPr wrap="square" lIns="0" tIns="0" rIns="0" bIns="0" rtlCol="0" anchor="ctr"/>
          <a:lstStyle/>
          <a:p>
            <a:pPr algn="ctr" indent="0" marL="0">
              <a:buNone/>
            </a:pPr>
            <a:r>
              <a:rPr lang="en-US" sz="1300" dirty="0">
                <a:solidFill>
                  <a:srgbClr val="8B96A5"/>
                </a:solidFill>
                <a:latin typeface="Calibri" pitchFamily="34" charset="0"/>
                <a:ea typeface="Calibri" pitchFamily="34" charset="-122"/>
                <a:cs typeface="Calibri" pitchFamily="34" charset="-120"/>
              </a:rPr>
              <a:t>Cilaku, West Java</a:t>
            </a:r>
            <a:endParaRPr lang="en-US" sz="1300" dirty="0"/>
          </a:p>
        </p:txBody>
      </p:sp>
      <p:sp>
        <p:nvSpPr>
          <p:cNvPr id="12" name="Shape 8"/>
          <p:cNvSpPr/>
          <p:nvPr/>
        </p:nvSpPr>
        <p:spPr>
          <a:xfrm>
            <a:off x="3984955" y="4389120"/>
            <a:ext cx="1371600" cy="365760"/>
          </a:xfrm>
          <a:prstGeom prst="roundRect">
            <a:avLst>
              <a:gd name="adj" fmla="val 50000"/>
            </a:avLst>
          </a:prstGeom>
          <a:solidFill>
            <a:srgbClr val="FCEBEC"/>
          </a:solidFill>
          <a:ln w="12700">
            <a:solidFill>
              <a:srgbClr val="E0565B"/>
            </a:solidFill>
            <a:prstDash val="solid"/>
          </a:ln>
        </p:spPr>
      </p:sp>
      <p:sp>
        <p:nvSpPr>
          <p:cNvPr id="13" name="Text 9"/>
          <p:cNvSpPr txBox="1"/>
          <p:nvPr/>
        </p:nvSpPr>
        <p:spPr>
          <a:xfrm>
            <a:off x="3984955" y="4389120"/>
            <a:ext cx="1371600" cy="365760"/>
          </a:xfrm>
          <a:prstGeom prst="rect">
            <a:avLst/>
          </a:prstGeom>
          <a:noFill/>
          <a:ln/>
        </p:spPr>
        <p:txBody>
          <a:bodyPr wrap="square" lIns="0" tIns="0" rIns="0" bIns="0" rtlCol="0" anchor="ctr"/>
          <a:lstStyle/>
          <a:p>
            <a:pPr algn="ctr" indent="0" marL="0">
              <a:buNone/>
            </a:pPr>
            <a:r>
              <a:rPr lang="en-US" sz="1300" b="1" dirty="0">
                <a:solidFill>
                  <a:srgbClr val="E0565B"/>
                </a:solidFill>
                <a:latin typeface="Calibri" pitchFamily="34" charset="0"/>
                <a:ea typeface="Calibri" pitchFamily="34" charset="-122"/>
                <a:cs typeface="Calibri" pitchFamily="34" charset="-120"/>
              </a:rPr>
              <a:t>✕  Not Shop</a:t>
            </a:r>
            <a:endParaRPr lang="en-US" sz="1300" dirty="0"/>
          </a:p>
        </p:txBody>
      </p:sp>
      <p:sp>
        <p:nvSpPr>
          <p:cNvPr id="14" name="Shape 10"/>
          <p:cNvSpPr/>
          <p:nvPr/>
        </p:nvSpPr>
        <p:spPr>
          <a:xfrm>
            <a:off x="6186830" y="1463040"/>
            <a:ext cx="2606040" cy="2560320"/>
          </a:xfrm>
          <a:prstGeom prst="roundRect">
            <a:avLst>
              <a:gd name="adj" fmla="val 3571"/>
            </a:avLst>
          </a:prstGeom>
          <a:solidFill>
            <a:srgbClr val="EEF2F6"/>
          </a:solidFill>
          <a:ln w="25400">
            <a:solidFill>
              <a:srgbClr val="2BB3A3"/>
            </a:solidFill>
            <a:prstDash val="solid"/>
          </a:ln>
        </p:spPr>
      </p:sp>
      <p:pic>
        <p:nvPicPr>
          <p:cNvPr id="15" name="Image 2" descr="/home/claude/azure/media/s07_15.jpg">    </p:cNvPr>
          <p:cNvPicPr>
            <a:picLocks noChangeAspect="1"/>
          </p:cNvPicPr>
          <p:nvPr/>
        </p:nvPicPr>
        <p:blipFill>
          <a:blip r:embed="rId3"/>
          <a:stretch>
            <a:fillRect/>
          </a:stretch>
        </p:blipFill>
        <p:spPr>
          <a:xfrm>
            <a:off x="6278270" y="1834515"/>
            <a:ext cx="2423160" cy="1817370"/>
          </a:xfrm>
          <a:prstGeom prst="rect">
            <a:avLst/>
          </a:prstGeom>
        </p:spPr>
      </p:pic>
      <p:sp>
        <p:nvSpPr>
          <p:cNvPr id="16" name="Text 11"/>
          <p:cNvSpPr txBox="1"/>
          <p:nvPr/>
        </p:nvSpPr>
        <p:spPr>
          <a:xfrm>
            <a:off x="6186830" y="4069080"/>
            <a:ext cx="2606040" cy="274320"/>
          </a:xfrm>
          <a:prstGeom prst="rect">
            <a:avLst/>
          </a:prstGeom>
          <a:noFill/>
          <a:ln/>
        </p:spPr>
        <p:txBody>
          <a:bodyPr wrap="square" lIns="0" tIns="0" rIns="0" bIns="0" rtlCol="0" anchor="ctr"/>
          <a:lstStyle/>
          <a:p>
            <a:pPr algn="ctr" indent="0" marL="0">
              <a:buNone/>
            </a:pPr>
            <a:r>
              <a:rPr lang="en-US" sz="1300" dirty="0">
                <a:solidFill>
                  <a:srgbClr val="8B96A5"/>
                </a:solidFill>
                <a:latin typeface="Calibri" pitchFamily="34" charset="0"/>
                <a:ea typeface="Calibri" pitchFamily="34" charset="-122"/>
                <a:cs typeface="Calibri" pitchFamily="34" charset="-120"/>
              </a:rPr>
              <a:t>Gisting, Lampung</a:t>
            </a:r>
            <a:endParaRPr lang="en-US" sz="1300" dirty="0"/>
          </a:p>
        </p:txBody>
      </p:sp>
      <p:sp>
        <p:nvSpPr>
          <p:cNvPr id="17" name="Shape 12"/>
          <p:cNvSpPr/>
          <p:nvPr/>
        </p:nvSpPr>
        <p:spPr>
          <a:xfrm>
            <a:off x="6804050" y="4389120"/>
            <a:ext cx="1371600" cy="365760"/>
          </a:xfrm>
          <a:prstGeom prst="roundRect">
            <a:avLst>
              <a:gd name="adj" fmla="val 50000"/>
            </a:avLst>
          </a:prstGeom>
          <a:solidFill>
            <a:srgbClr val="E3F4F2"/>
          </a:solidFill>
          <a:ln w="12700">
            <a:solidFill>
              <a:srgbClr val="2BB3A3"/>
            </a:solidFill>
            <a:prstDash val="solid"/>
          </a:ln>
        </p:spPr>
      </p:sp>
      <p:sp>
        <p:nvSpPr>
          <p:cNvPr id="18" name="Text 13"/>
          <p:cNvSpPr txBox="1"/>
          <p:nvPr/>
        </p:nvSpPr>
        <p:spPr>
          <a:xfrm>
            <a:off x="6804050" y="4389120"/>
            <a:ext cx="1371600" cy="365760"/>
          </a:xfrm>
          <a:prstGeom prst="rect">
            <a:avLst/>
          </a:prstGeom>
          <a:noFill/>
          <a:ln/>
        </p:spPr>
        <p:txBody>
          <a:bodyPr wrap="square" lIns="0" tIns="0" rIns="0" bIns="0" rtlCol="0" anchor="ctr"/>
          <a:lstStyle/>
          <a:p>
            <a:pPr algn="ctr" indent="0" marL="0">
              <a:buNone/>
            </a:pPr>
            <a:r>
              <a:rPr lang="en-US" sz="1300" b="1" dirty="0">
                <a:solidFill>
                  <a:srgbClr val="2BB3A3"/>
                </a:solidFill>
                <a:latin typeface="Calibri" pitchFamily="34" charset="0"/>
                <a:ea typeface="Calibri" pitchFamily="34" charset="-122"/>
                <a:cs typeface="Calibri" pitchFamily="34" charset="-120"/>
              </a:rPr>
              <a:t>✓  Shop</a:t>
            </a:r>
            <a:endParaRPr lang="en-US" sz="1300" dirty="0"/>
          </a:p>
        </p:txBody>
      </p:sp>
      <p:sp>
        <p:nvSpPr>
          <p:cNvPr id="19" name="Shape 14"/>
          <p:cNvSpPr/>
          <p:nvPr/>
        </p:nvSpPr>
        <p:spPr>
          <a:xfrm>
            <a:off x="9005926" y="1463040"/>
            <a:ext cx="2606040" cy="2560320"/>
          </a:xfrm>
          <a:prstGeom prst="roundRect">
            <a:avLst>
              <a:gd name="adj" fmla="val 3571"/>
            </a:avLst>
          </a:prstGeom>
          <a:solidFill>
            <a:srgbClr val="EEF2F6"/>
          </a:solidFill>
          <a:ln w="25400">
            <a:solidFill>
              <a:srgbClr val="2BB3A3"/>
            </a:solidFill>
            <a:prstDash val="solid"/>
          </a:ln>
        </p:spPr>
      </p:sp>
      <p:pic>
        <p:nvPicPr>
          <p:cNvPr id="20" name="Image 3" descr="/home/claude/azure/media/s07_20.jpg">    </p:cNvPr>
          <p:cNvPicPr>
            <a:picLocks noChangeAspect="1"/>
          </p:cNvPicPr>
          <p:nvPr/>
        </p:nvPicPr>
        <p:blipFill>
          <a:blip r:embed="rId4"/>
          <a:stretch>
            <a:fillRect/>
          </a:stretch>
        </p:blipFill>
        <p:spPr>
          <a:xfrm>
            <a:off x="9097366" y="1834515"/>
            <a:ext cx="2423160" cy="1817370"/>
          </a:xfrm>
          <a:prstGeom prst="rect">
            <a:avLst/>
          </a:prstGeom>
        </p:spPr>
      </p:pic>
      <p:sp>
        <p:nvSpPr>
          <p:cNvPr id="21" name="Text 15"/>
          <p:cNvSpPr txBox="1"/>
          <p:nvPr/>
        </p:nvSpPr>
        <p:spPr>
          <a:xfrm>
            <a:off x="9005926" y="4069080"/>
            <a:ext cx="2606040" cy="274320"/>
          </a:xfrm>
          <a:prstGeom prst="rect">
            <a:avLst/>
          </a:prstGeom>
          <a:noFill/>
          <a:ln/>
        </p:spPr>
        <p:txBody>
          <a:bodyPr wrap="square" lIns="0" tIns="0" rIns="0" bIns="0" rtlCol="0" anchor="ctr"/>
          <a:lstStyle/>
          <a:p>
            <a:pPr algn="ctr" indent="0" marL="0">
              <a:buNone/>
            </a:pPr>
            <a:r>
              <a:rPr lang="en-US" sz="1300" dirty="0">
                <a:solidFill>
                  <a:srgbClr val="8B96A5"/>
                </a:solidFill>
                <a:latin typeface="Calibri" pitchFamily="34" charset="0"/>
                <a:ea typeface="Calibri" pitchFamily="34" charset="-122"/>
                <a:cs typeface="Calibri" pitchFamily="34" charset="-120"/>
              </a:rPr>
              <a:t>Wonosobo, Lampung</a:t>
            </a:r>
            <a:endParaRPr lang="en-US" sz="1300" dirty="0"/>
          </a:p>
        </p:txBody>
      </p:sp>
      <p:sp>
        <p:nvSpPr>
          <p:cNvPr id="22" name="Shape 16"/>
          <p:cNvSpPr/>
          <p:nvPr/>
        </p:nvSpPr>
        <p:spPr>
          <a:xfrm>
            <a:off x="9623146" y="4389120"/>
            <a:ext cx="1371600" cy="365760"/>
          </a:xfrm>
          <a:prstGeom prst="roundRect">
            <a:avLst>
              <a:gd name="adj" fmla="val 50000"/>
            </a:avLst>
          </a:prstGeom>
          <a:solidFill>
            <a:srgbClr val="E3F4F2"/>
          </a:solidFill>
          <a:ln w="12700">
            <a:solidFill>
              <a:srgbClr val="2BB3A3"/>
            </a:solidFill>
            <a:prstDash val="solid"/>
          </a:ln>
        </p:spPr>
      </p:sp>
      <p:sp>
        <p:nvSpPr>
          <p:cNvPr id="23" name="Text 17"/>
          <p:cNvSpPr txBox="1"/>
          <p:nvPr/>
        </p:nvSpPr>
        <p:spPr>
          <a:xfrm>
            <a:off x="9623146" y="4389120"/>
            <a:ext cx="1371600" cy="365760"/>
          </a:xfrm>
          <a:prstGeom prst="rect">
            <a:avLst/>
          </a:prstGeom>
          <a:noFill/>
          <a:ln/>
        </p:spPr>
        <p:txBody>
          <a:bodyPr wrap="square" lIns="0" tIns="0" rIns="0" bIns="0" rtlCol="0" anchor="ctr"/>
          <a:lstStyle/>
          <a:p>
            <a:pPr algn="ctr" indent="0" marL="0">
              <a:buNone/>
            </a:pPr>
            <a:r>
              <a:rPr lang="en-US" sz="1300" b="1" dirty="0">
                <a:solidFill>
                  <a:srgbClr val="2BB3A3"/>
                </a:solidFill>
                <a:latin typeface="Calibri" pitchFamily="34" charset="0"/>
                <a:ea typeface="Calibri" pitchFamily="34" charset="-122"/>
                <a:cs typeface="Calibri" pitchFamily="34" charset="-120"/>
              </a:rPr>
              <a:t>✓  Shop</a:t>
            </a:r>
            <a:endParaRPr lang="en-US" sz="1300" dirty="0"/>
          </a:p>
        </p:txBody>
      </p:sp>
      <p:sp>
        <p:nvSpPr>
          <p:cNvPr id="24" name="Shape 18"/>
          <p:cNvSpPr/>
          <p:nvPr/>
        </p:nvSpPr>
        <p:spPr>
          <a:xfrm>
            <a:off x="548640" y="4937760"/>
            <a:ext cx="11064240" cy="1600200"/>
          </a:xfrm>
          <a:prstGeom prst="roundRect">
            <a:avLst>
              <a:gd name="adj" fmla="val 6857"/>
            </a:avLst>
          </a:prstGeom>
          <a:solidFill>
            <a:srgbClr val="0F1720"/>
          </a:solidFill>
          <a:ln w="12700">
            <a:solidFill>
              <a:srgbClr val="0F1720"/>
            </a:solidFill>
            <a:prstDash val="solid"/>
          </a:ln>
        </p:spPr>
      </p:sp>
      <p:sp>
        <p:nvSpPr>
          <p:cNvPr id="25" name="Shape 19"/>
          <p:cNvSpPr/>
          <p:nvPr/>
        </p:nvSpPr>
        <p:spPr>
          <a:xfrm>
            <a:off x="777240" y="5138928"/>
            <a:ext cx="594360" cy="594360"/>
          </a:xfrm>
          <a:prstGeom prst="ellipse">
            <a:avLst/>
          </a:prstGeom>
          <a:solidFill>
            <a:srgbClr val="F2A541"/>
          </a:solidFill>
          <a:ln w="12700">
            <a:solidFill>
              <a:srgbClr val="F2A541"/>
            </a:solidFill>
            <a:prstDash val="solid"/>
          </a:ln>
        </p:spPr>
      </p:sp>
      <p:pic>
        <p:nvPicPr>
          <p:cNvPr id="26" name="Image 4" descr="/home/claude/azure/media/w/s07_26.png">    </p:cNvPr>
          <p:cNvPicPr>
            <a:picLocks noChangeAspect="1"/>
          </p:cNvPicPr>
          <p:nvPr/>
        </p:nvPicPr>
        <p:blipFill>
          <a:blip r:embed="rId5"/>
          <a:stretch>
            <a:fillRect/>
          </a:stretch>
        </p:blipFill>
        <p:spPr>
          <a:xfrm>
            <a:off x="925830" y="5287518"/>
            <a:ext cx="297180" cy="297180"/>
          </a:xfrm>
          <a:prstGeom prst="rect">
            <a:avLst/>
          </a:prstGeom>
        </p:spPr>
      </p:pic>
      <p:sp>
        <p:nvSpPr>
          <p:cNvPr id="27" name="Text 20"/>
          <p:cNvSpPr txBox="1"/>
          <p:nvPr/>
        </p:nvSpPr>
        <p:spPr>
          <a:xfrm>
            <a:off x="1600200" y="5074920"/>
            <a:ext cx="9601200" cy="365760"/>
          </a:xfrm>
          <a:prstGeom prst="rect">
            <a:avLst/>
          </a:prstGeom>
          <a:noFill/>
          <a:ln/>
        </p:spPr>
        <p:txBody>
          <a:bodyPr wrap="square" lIns="0" tIns="0" rIns="0" bIns="0" rtlCol="0" anchor="ctr"/>
          <a:lstStyle/>
          <a:p>
            <a:pPr indent="0" marL="0">
              <a:buNone/>
            </a:pPr>
            <a:r>
              <a:rPr lang="en-US" sz="1800" b="1" dirty="0">
                <a:solidFill>
                  <a:srgbClr val="F2A541"/>
                </a:solidFill>
                <a:latin typeface="Calibri" pitchFamily="34" charset="0"/>
                <a:ea typeface="Calibri" pitchFamily="34" charset="-122"/>
                <a:cs typeface="Calibri" pitchFamily="34" charset="-120"/>
              </a:rPr>
              <a:t>Business Rule: Geotag or It Doesn’t Count</a:t>
            </a:r>
            <a:endParaRPr lang="en-US" sz="1800" dirty="0"/>
          </a:p>
        </p:txBody>
      </p:sp>
      <p:sp>
        <p:nvSpPr>
          <p:cNvPr id="28" name="Text 21"/>
          <p:cNvSpPr txBox="1"/>
          <p:nvPr/>
        </p:nvSpPr>
        <p:spPr>
          <a:xfrm>
            <a:off x="1600200" y="5486400"/>
            <a:ext cx="9875520" cy="1005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C9D1DB"/>
                </a:solidFill>
                <a:latin typeface="Calibri" pitchFamily="34" charset="0"/>
                <a:ea typeface="Calibri" pitchFamily="34" charset="-122"/>
                <a:cs typeface="Calibri" pitchFamily="34" charset="-120"/>
              </a:rPr>
              <a:t>Every outlet photo must carry a geotag — no exceptions.</a:t>
            </a:r>
            <a:endParaRPr lang="en-US" sz="1400" dirty="0"/>
          </a:p>
          <a:p>
            <a:pPr marL="342900" indent="-342900">
              <a:spcAft>
                <a:spcPts val="800"/>
              </a:spcAft>
              <a:buSzPct val="100000"/>
              <a:buChar char="•"/>
            </a:pPr>
            <a:r>
              <a:rPr lang="en-US" sz="1400" dirty="0">
                <a:solidFill>
                  <a:srgbClr val="C9D1DB"/>
                </a:solidFill>
                <a:latin typeface="Calibri" pitchFamily="34" charset="0"/>
                <a:ea typeface="Calibri" pitchFamily="34" charset="-122"/>
                <a:cs typeface="Calibri" pitchFamily="34" charset="-120"/>
              </a:rPr>
              <a:t>A photo that looks like a shop but has no geotag is still classified Not Shop.</a:t>
            </a:r>
            <a:endParaRPr lang="en-US" sz="1400" dirty="0"/>
          </a:p>
          <a:p>
            <a:pPr marL="342900" indent="-342900">
              <a:spcAft>
                <a:spcPts val="800"/>
              </a:spcAft>
              <a:buSzPct val="100000"/>
              <a:buChar char="•"/>
            </a:pPr>
            <a:r>
              <a:rPr lang="en-US" sz="1400" dirty="0">
                <a:solidFill>
                  <a:srgbClr val="C9D1DB"/>
                </a:solidFill>
                <a:latin typeface="Calibri" pitchFamily="34" charset="0"/>
                <a:ea typeface="Calibri" pitchFamily="34" charset="-122"/>
                <a:cs typeface="Calibri" pitchFamily="34" charset="-120"/>
              </a:rPr>
              <a:t>Geolocation is extracted directly from the shop image itself, not entered separately.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92608"/>
          </a:xfrm>
          <a:prstGeom prst="rect">
            <a:avLst/>
          </a:prstGeom>
          <a:noFill/>
          <a:ln/>
        </p:spPr>
        <p:txBody>
          <a:bodyPr wrap="square" lIns="0" tIns="0" rIns="0" bIns="0" rtlCol="0" anchor="ctr"/>
          <a:lstStyle/>
          <a:p>
            <a:pPr indent="0" marL="0">
              <a:buNone/>
            </a:pPr>
            <a:r>
              <a:rPr lang="en-US" sz="1300" b="1" spc="300" kern="0" dirty="0">
                <a:solidFill>
                  <a:srgbClr val="2BB3A3"/>
                </a:solidFill>
                <a:latin typeface="Calibri" pitchFamily="34" charset="0"/>
                <a:ea typeface="Calibri" pitchFamily="34" charset="-122"/>
                <a:cs typeface="Calibri" pitchFamily="34" charset="-120"/>
              </a:rPr>
              <a:t>02 · ARCHITECTURE</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D2733"/>
                </a:solidFill>
                <a:latin typeface="Cambria" pitchFamily="34" charset="0"/>
                <a:ea typeface="Cambria" pitchFamily="34" charset="-122"/>
                <a:cs typeface="Cambria" pitchFamily="34" charset="-120"/>
              </a:rPr>
              <a:t>An Event-Driven Pipeline, End to End</a:t>
            </a:r>
            <a:endParaRPr lang="en-US" sz="3200" dirty="0"/>
          </a:p>
        </p:txBody>
      </p:sp>
      <p:sp>
        <p:nvSpPr>
          <p:cNvPr id="4" name="Shape 2"/>
          <p:cNvSpPr/>
          <p:nvPr/>
        </p:nvSpPr>
        <p:spPr>
          <a:xfrm>
            <a:off x="548640" y="2377440"/>
            <a:ext cx="1600200" cy="2103120"/>
          </a:xfrm>
          <a:prstGeom prst="roundRect">
            <a:avLst>
              <a:gd name="adj" fmla="val 6857"/>
            </a:avLst>
          </a:prstGeom>
          <a:solidFill>
            <a:srgbClr val="EEF2F6"/>
          </a:solidFill>
          <a:ln w="12700">
            <a:solidFill>
              <a:srgbClr val="EEF2F6"/>
            </a:solidFill>
            <a:prstDash val="solid"/>
          </a:ln>
        </p:spPr>
      </p:sp>
      <p:sp>
        <p:nvSpPr>
          <p:cNvPr id="5" name="Shape 3"/>
          <p:cNvSpPr/>
          <p:nvPr/>
        </p:nvSpPr>
        <p:spPr>
          <a:xfrm>
            <a:off x="1005840" y="2651760"/>
            <a:ext cx="685800" cy="685800"/>
          </a:xfrm>
          <a:prstGeom prst="ellipse">
            <a:avLst/>
          </a:prstGeom>
          <a:solidFill>
            <a:srgbClr val="2BB3A3"/>
          </a:solidFill>
          <a:ln w="12700">
            <a:solidFill>
              <a:srgbClr val="2BB3A3"/>
            </a:solidFill>
            <a:prstDash val="solid"/>
          </a:ln>
        </p:spPr>
      </p:sp>
      <p:pic>
        <p:nvPicPr>
          <p:cNvPr id="6" name="Image 0" descr="/home/claude/azure/media/w/s08_6.png">    </p:cNvPr>
          <p:cNvPicPr>
            <a:picLocks noChangeAspect="1"/>
          </p:cNvPicPr>
          <p:nvPr/>
        </p:nvPicPr>
        <p:blipFill>
          <a:blip r:embed="rId1"/>
          <a:stretch>
            <a:fillRect/>
          </a:stretch>
        </p:blipFill>
        <p:spPr>
          <a:xfrm>
            <a:off x="1177290" y="2823210"/>
            <a:ext cx="342900" cy="342900"/>
          </a:xfrm>
          <a:prstGeom prst="rect">
            <a:avLst/>
          </a:prstGeom>
        </p:spPr>
      </p:pic>
      <p:sp>
        <p:nvSpPr>
          <p:cNvPr id="7" name="Text 4"/>
          <p:cNvSpPr txBox="1"/>
          <p:nvPr/>
        </p:nvSpPr>
        <p:spPr>
          <a:xfrm>
            <a:off x="594360" y="3474720"/>
            <a:ext cx="1508760" cy="411480"/>
          </a:xfrm>
          <a:prstGeom prst="rect">
            <a:avLst/>
          </a:prstGeom>
          <a:noFill/>
          <a:ln/>
        </p:spPr>
        <p:txBody>
          <a:bodyPr wrap="square" lIns="0" tIns="0" rIns="0" bIns="0" rtlCol="0" anchor="ctr"/>
          <a:lstStyle/>
          <a:p>
            <a:pPr algn="ctr" indent="0" marL="0">
              <a:buNone/>
            </a:pPr>
            <a:r>
              <a:rPr lang="en-US" sz="1600" b="1" dirty="0">
                <a:solidFill>
                  <a:srgbClr val="1D2733"/>
                </a:solidFill>
                <a:latin typeface="Calibri" pitchFamily="34" charset="0"/>
                <a:ea typeface="Calibri" pitchFamily="34" charset="-122"/>
                <a:cs typeface="Calibri" pitchFamily="34" charset="-120"/>
              </a:rPr>
              <a:t>Upload</a:t>
            </a:r>
            <a:endParaRPr lang="en-US" sz="1600" dirty="0"/>
          </a:p>
        </p:txBody>
      </p:sp>
      <p:sp>
        <p:nvSpPr>
          <p:cNvPr id="8" name="Text 5"/>
          <p:cNvSpPr txBox="1"/>
          <p:nvPr/>
        </p:nvSpPr>
        <p:spPr>
          <a:xfrm>
            <a:off x="594360" y="3886200"/>
            <a:ext cx="1508760" cy="457200"/>
          </a:xfrm>
          <a:prstGeom prst="rect">
            <a:avLst/>
          </a:prstGeom>
          <a:noFill/>
          <a:ln/>
        </p:spPr>
        <p:txBody>
          <a:bodyPr wrap="square" lIns="0" tIns="0" rIns="0" bIns="0" rtlCol="0" anchor="ctr"/>
          <a:lstStyle/>
          <a:p>
            <a:pPr algn="ctr" indent="0" marL="0">
              <a:buNone/>
            </a:pPr>
            <a:r>
              <a:rPr lang="en-US" sz="1250" i="1" dirty="0">
                <a:solidFill>
                  <a:srgbClr val="8B96A5"/>
                </a:solidFill>
                <a:latin typeface="Calibri" pitchFamily="34" charset="0"/>
                <a:ea typeface="Calibri" pitchFamily="34" charset="-122"/>
                <a:cs typeface="Calibri" pitchFamily="34" charset="-120"/>
              </a:rPr>
              <a:t>Field app</a:t>
            </a:r>
            <a:endParaRPr lang="en-US" sz="1250" dirty="0"/>
          </a:p>
        </p:txBody>
      </p:sp>
      <p:sp>
        <p:nvSpPr>
          <p:cNvPr id="9" name="Shape 6"/>
          <p:cNvSpPr/>
          <p:nvPr/>
        </p:nvSpPr>
        <p:spPr>
          <a:xfrm>
            <a:off x="2176272" y="3429000"/>
            <a:ext cx="237744" cy="914"/>
          </a:xfrm>
          <a:prstGeom prst="line">
            <a:avLst/>
          </a:prstGeom>
          <a:noFill/>
          <a:ln w="25400">
            <a:solidFill>
              <a:srgbClr val="8B96A5"/>
            </a:solidFill>
            <a:prstDash val="solid"/>
            <a:tailEnd type="triangle"/>
          </a:ln>
        </p:spPr>
      </p:sp>
      <p:sp>
        <p:nvSpPr>
          <p:cNvPr id="10" name="Shape 7"/>
          <p:cNvSpPr/>
          <p:nvPr/>
        </p:nvSpPr>
        <p:spPr>
          <a:xfrm>
            <a:off x="2441448" y="2377440"/>
            <a:ext cx="1600200" cy="2103120"/>
          </a:xfrm>
          <a:prstGeom prst="roundRect">
            <a:avLst>
              <a:gd name="adj" fmla="val 6857"/>
            </a:avLst>
          </a:prstGeom>
          <a:solidFill>
            <a:srgbClr val="EEF2F6"/>
          </a:solidFill>
          <a:ln w="12700">
            <a:solidFill>
              <a:srgbClr val="EEF2F6"/>
            </a:solidFill>
            <a:prstDash val="solid"/>
          </a:ln>
        </p:spPr>
      </p:sp>
      <p:sp>
        <p:nvSpPr>
          <p:cNvPr id="11" name="Shape 8"/>
          <p:cNvSpPr/>
          <p:nvPr/>
        </p:nvSpPr>
        <p:spPr>
          <a:xfrm>
            <a:off x="2898648" y="2651760"/>
            <a:ext cx="685800" cy="685800"/>
          </a:xfrm>
          <a:prstGeom prst="ellipse">
            <a:avLst/>
          </a:prstGeom>
          <a:solidFill>
            <a:srgbClr val="2BB3A3"/>
          </a:solidFill>
          <a:ln w="12700">
            <a:solidFill>
              <a:srgbClr val="2BB3A3"/>
            </a:solidFill>
            <a:prstDash val="solid"/>
          </a:ln>
        </p:spPr>
      </p:sp>
      <p:pic>
        <p:nvPicPr>
          <p:cNvPr id="12" name="Image 1" descr="/home/claude/azure/media/w/s08_12.png">    </p:cNvPr>
          <p:cNvPicPr>
            <a:picLocks noChangeAspect="1"/>
          </p:cNvPicPr>
          <p:nvPr/>
        </p:nvPicPr>
        <p:blipFill>
          <a:blip r:embed="rId2"/>
          <a:stretch>
            <a:fillRect/>
          </a:stretch>
        </p:blipFill>
        <p:spPr>
          <a:xfrm>
            <a:off x="3070098" y="2823210"/>
            <a:ext cx="342900" cy="342900"/>
          </a:xfrm>
          <a:prstGeom prst="rect">
            <a:avLst/>
          </a:prstGeom>
        </p:spPr>
      </p:pic>
      <p:sp>
        <p:nvSpPr>
          <p:cNvPr id="13" name="Text 9"/>
          <p:cNvSpPr txBox="1"/>
          <p:nvPr/>
        </p:nvSpPr>
        <p:spPr>
          <a:xfrm>
            <a:off x="2487168" y="3474720"/>
            <a:ext cx="1508760" cy="411480"/>
          </a:xfrm>
          <a:prstGeom prst="rect">
            <a:avLst/>
          </a:prstGeom>
          <a:noFill/>
          <a:ln/>
        </p:spPr>
        <p:txBody>
          <a:bodyPr wrap="square" lIns="0" tIns="0" rIns="0" bIns="0" rtlCol="0" anchor="ctr"/>
          <a:lstStyle/>
          <a:p>
            <a:pPr algn="ctr" indent="0" marL="0">
              <a:buNone/>
            </a:pPr>
            <a:r>
              <a:rPr lang="en-US" sz="1600" b="1" dirty="0">
                <a:solidFill>
                  <a:srgbClr val="1D2733"/>
                </a:solidFill>
                <a:latin typeface="Calibri" pitchFamily="34" charset="0"/>
                <a:ea typeface="Calibri" pitchFamily="34" charset="-122"/>
                <a:cs typeface="Calibri" pitchFamily="34" charset="-120"/>
              </a:rPr>
              <a:t>Blob Storage</a:t>
            </a:r>
            <a:endParaRPr lang="en-US" sz="1600" dirty="0"/>
          </a:p>
        </p:txBody>
      </p:sp>
      <p:sp>
        <p:nvSpPr>
          <p:cNvPr id="14" name="Text 10"/>
          <p:cNvSpPr txBox="1"/>
          <p:nvPr/>
        </p:nvSpPr>
        <p:spPr>
          <a:xfrm>
            <a:off x="2487168" y="3886200"/>
            <a:ext cx="1508760" cy="457200"/>
          </a:xfrm>
          <a:prstGeom prst="rect">
            <a:avLst/>
          </a:prstGeom>
          <a:noFill/>
          <a:ln/>
        </p:spPr>
        <p:txBody>
          <a:bodyPr wrap="square" lIns="0" tIns="0" rIns="0" bIns="0" rtlCol="0" anchor="ctr"/>
          <a:lstStyle/>
          <a:p>
            <a:pPr algn="ctr" indent="0" marL="0">
              <a:buNone/>
            </a:pPr>
            <a:r>
              <a:rPr lang="en-US" sz="1250" i="1" dirty="0">
                <a:solidFill>
                  <a:srgbClr val="8B96A5"/>
                </a:solidFill>
                <a:latin typeface="Calibri" pitchFamily="34" charset="0"/>
                <a:ea typeface="Calibri" pitchFamily="34" charset="-122"/>
                <a:cs typeface="Calibri" pitchFamily="34" charset="-120"/>
              </a:rPr>
              <a:t>Azure Storage</a:t>
            </a:r>
            <a:endParaRPr lang="en-US" sz="1250" dirty="0"/>
          </a:p>
        </p:txBody>
      </p:sp>
      <p:sp>
        <p:nvSpPr>
          <p:cNvPr id="15" name="Shape 11"/>
          <p:cNvSpPr/>
          <p:nvPr/>
        </p:nvSpPr>
        <p:spPr>
          <a:xfrm>
            <a:off x="4069080" y="3429000"/>
            <a:ext cx="237744" cy="914"/>
          </a:xfrm>
          <a:prstGeom prst="line">
            <a:avLst/>
          </a:prstGeom>
          <a:noFill/>
          <a:ln w="25400">
            <a:solidFill>
              <a:srgbClr val="8B96A5"/>
            </a:solidFill>
            <a:prstDash val="solid"/>
            <a:tailEnd type="triangle"/>
          </a:ln>
        </p:spPr>
      </p:sp>
      <p:sp>
        <p:nvSpPr>
          <p:cNvPr id="16" name="Shape 12"/>
          <p:cNvSpPr/>
          <p:nvPr/>
        </p:nvSpPr>
        <p:spPr>
          <a:xfrm>
            <a:off x="4334256" y="2377440"/>
            <a:ext cx="1600200" cy="2103120"/>
          </a:xfrm>
          <a:prstGeom prst="roundRect">
            <a:avLst>
              <a:gd name="adj" fmla="val 6857"/>
            </a:avLst>
          </a:prstGeom>
          <a:solidFill>
            <a:srgbClr val="EEF2F6"/>
          </a:solidFill>
          <a:ln w="12700">
            <a:solidFill>
              <a:srgbClr val="EEF2F6"/>
            </a:solidFill>
            <a:prstDash val="solid"/>
          </a:ln>
        </p:spPr>
      </p:sp>
      <p:sp>
        <p:nvSpPr>
          <p:cNvPr id="17" name="Shape 13"/>
          <p:cNvSpPr/>
          <p:nvPr/>
        </p:nvSpPr>
        <p:spPr>
          <a:xfrm>
            <a:off x="4791456" y="2651760"/>
            <a:ext cx="685800" cy="685800"/>
          </a:xfrm>
          <a:prstGeom prst="ellipse">
            <a:avLst/>
          </a:prstGeom>
          <a:solidFill>
            <a:srgbClr val="2BB3A3"/>
          </a:solidFill>
          <a:ln w="12700">
            <a:solidFill>
              <a:srgbClr val="2BB3A3"/>
            </a:solidFill>
            <a:prstDash val="solid"/>
          </a:ln>
        </p:spPr>
      </p:sp>
      <p:pic>
        <p:nvPicPr>
          <p:cNvPr id="18" name="Image 2" descr="/home/claude/azure/media/w/s08_18.png">    </p:cNvPr>
          <p:cNvPicPr>
            <a:picLocks noChangeAspect="1"/>
          </p:cNvPicPr>
          <p:nvPr/>
        </p:nvPicPr>
        <p:blipFill>
          <a:blip r:embed="rId3"/>
          <a:stretch>
            <a:fillRect/>
          </a:stretch>
        </p:blipFill>
        <p:spPr>
          <a:xfrm>
            <a:off x="4962906" y="2823210"/>
            <a:ext cx="342900" cy="342900"/>
          </a:xfrm>
          <a:prstGeom prst="rect">
            <a:avLst/>
          </a:prstGeom>
        </p:spPr>
      </p:pic>
      <p:sp>
        <p:nvSpPr>
          <p:cNvPr id="19" name="Text 14"/>
          <p:cNvSpPr txBox="1"/>
          <p:nvPr/>
        </p:nvSpPr>
        <p:spPr>
          <a:xfrm>
            <a:off x="4379976" y="3474720"/>
            <a:ext cx="1508760" cy="411480"/>
          </a:xfrm>
          <a:prstGeom prst="rect">
            <a:avLst/>
          </a:prstGeom>
          <a:noFill/>
          <a:ln/>
        </p:spPr>
        <p:txBody>
          <a:bodyPr wrap="square" lIns="0" tIns="0" rIns="0" bIns="0" rtlCol="0" anchor="ctr"/>
          <a:lstStyle/>
          <a:p>
            <a:pPr algn="ctr" indent="0" marL="0">
              <a:buNone/>
            </a:pPr>
            <a:r>
              <a:rPr lang="en-US" sz="1600" b="1" dirty="0">
                <a:solidFill>
                  <a:srgbClr val="1D2733"/>
                </a:solidFill>
                <a:latin typeface="Calibri" pitchFamily="34" charset="0"/>
                <a:ea typeface="Calibri" pitchFamily="34" charset="-122"/>
                <a:cs typeface="Calibri" pitchFamily="34" charset="-120"/>
              </a:rPr>
              <a:t>Event Grid</a:t>
            </a:r>
            <a:endParaRPr lang="en-US" sz="1600" dirty="0"/>
          </a:p>
        </p:txBody>
      </p:sp>
      <p:sp>
        <p:nvSpPr>
          <p:cNvPr id="20" name="Text 15"/>
          <p:cNvSpPr txBox="1"/>
          <p:nvPr/>
        </p:nvSpPr>
        <p:spPr>
          <a:xfrm>
            <a:off x="4379976" y="3886200"/>
            <a:ext cx="1508760" cy="457200"/>
          </a:xfrm>
          <a:prstGeom prst="rect">
            <a:avLst/>
          </a:prstGeom>
          <a:noFill/>
          <a:ln/>
        </p:spPr>
        <p:txBody>
          <a:bodyPr wrap="square" lIns="0" tIns="0" rIns="0" bIns="0" rtlCol="0" anchor="ctr"/>
          <a:lstStyle/>
          <a:p>
            <a:pPr algn="ctr" indent="0" marL="0">
              <a:buNone/>
            </a:pPr>
            <a:r>
              <a:rPr lang="en-US" sz="1250" i="1" dirty="0">
                <a:solidFill>
                  <a:srgbClr val="8B96A5"/>
                </a:solidFill>
                <a:latin typeface="Calibri" pitchFamily="34" charset="0"/>
                <a:ea typeface="Calibri" pitchFamily="34" charset="-122"/>
                <a:cs typeface="Calibri" pitchFamily="34" charset="-120"/>
              </a:rPr>
              <a:t>Storage subscription</a:t>
            </a:r>
            <a:endParaRPr lang="en-US" sz="1250" dirty="0"/>
          </a:p>
        </p:txBody>
      </p:sp>
      <p:sp>
        <p:nvSpPr>
          <p:cNvPr id="21" name="Shape 16"/>
          <p:cNvSpPr/>
          <p:nvPr/>
        </p:nvSpPr>
        <p:spPr>
          <a:xfrm>
            <a:off x="5961888" y="3429000"/>
            <a:ext cx="237744" cy="914"/>
          </a:xfrm>
          <a:prstGeom prst="line">
            <a:avLst/>
          </a:prstGeom>
          <a:noFill/>
          <a:ln w="25400">
            <a:solidFill>
              <a:srgbClr val="8B96A5"/>
            </a:solidFill>
            <a:prstDash val="solid"/>
            <a:tailEnd type="triangle"/>
          </a:ln>
        </p:spPr>
      </p:sp>
      <p:sp>
        <p:nvSpPr>
          <p:cNvPr id="22" name="Shape 17"/>
          <p:cNvSpPr/>
          <p:nvPr/>
        </p:nvSpPr>
        <p:spPr>
          <a:xfrm>
            <a:off x="6227064" y="2377440"/>
            <a:ext cx="1600200" cy="2103120"/>
          </a:xfrm>
          <a:prstGeom prst="roundRect">
            <a:avLst>
              <a:gd name="adj" fmla="val 6857"/>
            </a:avLst>
          </a:prstGeom>
          <a:solidFill>
            <a:srgbClr val="EEF2F6"/>
          </a:solidFill>
          <a:ln w="12700">
            <a:solidFill>
              <a:srgbClr val="EEF2F6"/>
            </a:solidFill>
            <a:prstDash val="solid"/>
          </a:ln>
        </p:spPr>
      </p:sp>
      <p:sp>
        <p:nvSpPr>
          <p:cNvPr id="23" name="Shape 18"/>
          <p:cNvSpPr/>
          <p:nvPr/>
        </p:nvSpPr>
        <p:spPr>
          <a:xfrm>
            <a:off x="6684264" y="2651760"/>
            <a:ext cx="685800" cy="685800"/>
          </a:xfrm>
          <a:prstGeom prst="ellipse">
            <a:avLst/>
          </a:prstGeom>
          <a:solidFill>
            <a:srgbClr val="2BB3A3"/>
          </a:solidFill>
          <a:ln w="12700">
            <a:solidFill>
              <a:srgbClr val="2BB3A3"/>
            </a:solidFill>
            <a:prstDash val="solid"/>
          </a:ln>
        </p:spPr>
      </p:sp>
      <p:pic>
        <p:nvPicPr>
          <p:cNvPr id="24" name="Image 3" descr="/home/claude/azure/media/w/s08_24.png">    </p:cNvPr>
          <p:cNvPicPr>
            <a:picLocks noChangeAspect="1"/>
          </p:cNvPicPr>
          <p:nvPr/>
        </p:nvPicPr>
        <p:blipFill>
          <a:blip r:embed="rId4"/>
          <a:stretch>
            <a:fillRect/>
          </a:stretch>
        </p:blipFill>
        <p:spPr>
          <a:xfrm>
            <a:off x="6855714" y="2823210"/>
            <a:ext cx="342900" cy="342900"/>
          </a:xfrm>
          <a:prstGeom prst="rect">
            <a:avLst/>
          </a:prstGeom>
        </p:spPr>
      </p:pic>
      <p:sp>
        <p:nvSpPr>
          <p:cNvPr id="25" name="Text 19"/>
          <p:cNvSpPr txBox="1"/>
          <p:nvPr/>
        </p:nvSpPr>
        <p:spPr>
          <a:xfrm>
            <a:off x="6272784" y="3474720"/>
            <a:ext cx="1508760" cy="411480"/>
          </a:xfrm>
          <a:prstGeom prst="rect">
            <a:avLst/>
          </a:prstGeom>
          <a:noFill/>
          <a:ln/>
        </p:spPr>
        <p:txBody>
          <a:bodyPr wrap="square" lIns="0" tIns="0" rIns="0" bIns="0" rtlCol="0" anchor="ctr"/>
          <a:lstStyle/>
          <a:p>
            <a:pPr algn="ctr" indent="0" marL="0">
              <a:buNone/>
            </a:pPr>
            <a:r>
              <a:rPr lang="en-US" sz="1600" b="1" dirty="0">
                <a:solidFill>
                  <a:srgbClr val="1D2733"/>
                </a:solidFill>
                <a:latin typeface="Calibri" pitchFamily="34" charset="0"/>
                <a:ea typeface="Calibri" pitchFamily="34" charset="-122"/>
                <a:cs typeface="Calibri" pitchFamily="34" charset="-120"/>
              </a:rPr>
              <a:t>Function App</a:t>
            </a:r>
            <a:endParaRPr lang="en-US" sz="1600" dirty="0"/>
          </a:p>
        </p:txBody>
      </p:sp>
      <p:sp>
        <p:nvSpPr>
          <p:cNvPr id="26" name="Text 20"/>
          <p:cNvSpPr txBox="1"/>
          <p:nvPr/>
        </p:nvSpPr>
        <p:spPr>
          <a:xfrm>
            <a:off x="6272784" y="3886200"/>
            <a:ext cx="1508760" cy="457200"/>
          </a:xfrm>
          <a:prstGeom prst="rect">
            <a:avLst/>
          </a:prstGeom>
          <a:noFill/>
          <a:ln/>
        </p:spPr>
        <p:txBody>
          <a:bodyPr wrap="square" lIns="0" tIns="0" rIns="0" bIns="0" rtlCol="0" anchor="ctr"/>
          <a:lstStyle/>
          <a:p>
            <a:pPr algn="ctr" indent="0" marL="0">
              <a:buNone/>
            </a:pPr>
            <a:r>
              <a:rPr lang="en-US" sz="1250" i="1" dirty="0">
                <a:solidFill>
                  <a:srgbClr val="8B96A5"/>
                </a:solidFill>
                <a:latin typeface="Calibri" pitchFamily="34" charset="0"/>
                <a:ea typeface="Calibri" pitchFamily="34" charset="-122"/>
                <a:cs typeface="Calibri" pitchFamily="34" charset="-120"/>
              </a:rPr>
              <a:t>Serverless compute</a:t>
            </a:r>
            <a:endParaRPr lang="en-US" sz="1250" dirty="0"/>
          </a:p>
        </p:txBody>
      </p:sp>
      <p:sp>
        <p:nvSpPr>
          <p:cNvPr id="27" name="Shape 21"/>
          <p:cNvSpPr/>
          <p:nvPr/>
        </p:nvSpPr>
        <p:spPr>
          <a:xfrm>
            <a:off x="7854696" y="3429000"/>
            <a:ext cx="237744" cy="914"/>
          </a:xfrm>
          <a:prstGeom prst="line">
            <a:avLst/>
          </a:prstGeom>
          <a:noFill/>
          <a:ln w="25400">
            <a:solidFill>
              <a:srgbClr val="8B96A5"/>
            </a:solidFill>
            <a:prstDash val="solid"/>
            <a:tailEnd type="triangle"/>
          </a:ln>
        </p:spPr>
      </p:sp>
      <p:sp>
        <p:nvSpPr>
          <p:cNvPr id="28" name="Shape 22"/>
          <p:cNvSpPr/>
          <p:nvPr/>
        </p:nvSpPr>
        <p:spPr>
          <a:xfrm>
            <a:off x="8119872" y="2377440"/>
            <a:ext cx="1600200" cy="2103120"/>
          </a:xfrm>
          <a:prstGeom prst="roundRect">
            <a:avLst>
              <a:gd name="adj" fmla="val 6857"/>
            </a:avLst>
          </a:prstGeom>
          <a:solidFill>
            <a:srgbClr val="0F1720"/>
          </a:solidFill>
          <a:ln w="12700">
            <a:solidFill>
              <a:srgbClr val="0F1720"/>
            </a:solidFill>
            <a:prstDash val="solid"/>
          </a:ln>
        </p:spPr>
      </p:sp>
      <p:sp>
        <p:nvSpPr>
          <p:cNvPr id="29" name="Shape 23"/>
          <p:cNvSpPr/>
          <p:nvPr/>
        </p:nvSpPr>
        <p:spPr>
          <a:xfrm>
            <a:off x="8577072" y="2651760"/>
            <a:ext cx="685800" cy="685800"/>
          </a:xfrm>
          <a:prstGeom prst="ellipse">
            <a:avLst/>
          </a:prstGeom>
          <a:solidFill>
            <a:srgbClr val="F2A541"/>
          </a:solidFill>
          <a:ln w="12700">
            <a:solidFill>
              <a:srgbClr val="F2A541"/>
            </a:solidFill>
            <a:prstDash val="solid"/>
          </a:ln>
        </p:spPr>
      </p:sp>
      <p:pic>
        <p:nvPicPr>
          <p:cNvPr id="30" name="Image 4" descr="/home/claude/azure/media/w/s08_30.png">    </p:cNvPr>
          <p:cNvPicPr>
            <a:picLocks noChangeAspect="1"/>
          </p:cNvPicPr>
          <p:nvPr/>
        </p:nvPicPr>
        <p:blipFill>
          <a:blip r:embed="rId5"/>
          <a:stretch>
            <a:fillRect/>
          </a:stretch>
        </p:blipFill>
        <p:spPr>
          <a:xfrm>
            <a:off x="8748522" y="2823210"/>
            <a:ext cx="342900" cy="342900"/>
          </a:xfrm>
          <a:prstGeom prst="rect">
            <a:avLst/>
          </a:prstGeom>
        </p:spPr>
      </p:pic>
      <p:sp>
        <p:nvSpPr>
          <p:cNvPr id="31" name="Text 24"/>
          <p:cNvSpPr txBox="1"/>
          <p:nvPr/>
        </p:nvSpPr>
        <p:spPr>
          <a:xfrm>
            <a:off x="8165592" y="3474720"/>
            <a:ext cx="150876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Vision Classify</a:t>
            </a:r>
            <a:endParaRPr lang="en-US" sz="1600" dirty="0"/>
          </a:p>
        </p:txBody>
      </p:sp>
      <p:sp>
        <p:nvSpPr>
          <p:cNvPr id="32" name="Text 25"/>
          <p:cNvSpPr txBox="1"/>
          <p:nvPr/>
        </p:nvSpPr>
        <p:spPr>
          <a:xfrm>
            <a:off x="8165592" y="3886200"/>
            <a:ext cx="1508760" cy="457200"/>
          </a:xfrm>
          <a:prstGeom prst="rect">
            <a:avLst/>
          </a:prstGeom>
          <a:noFill/>
          <a:ln/>
        </p:spPr>
        <p:txBody>
          <a:bodyPr wrap="square" lIns="0" tIns="0" rIns="0" bIns="0" rtlCol="0" anchor="ctr"/>
          <a:lstStyle/>
          <a:p>
            <a:pPr algn="ctr" indent="0" marL="0">
              <a:buNone/>
            </a:pPr>
            <a:r>
              <a:rPr lang="en-US" sz="1250" i="1" dirty="0">
                <a:solidFill>
                  <a:srgbClr val="B8C2CF"/>
                </a:solidFill>
                <a:latin typeface="Calibri" pitchFamily="34" charset="0"/>
                <a:ea typeface="Calibri" pitchFamily="34" charset="-122"/>
                <a:cs typeface="Calibri" pitchFamily="34" charset="-120"/>
              </a:rPr>
              <a:t>Mistral Medium 2505</a:t>
            </a:r>
            <a:endParaRPr lang="en-US" sz="1250" dirty="0"/>
          </a:p>
        </p:txBody>
      </p:sp>
      <p:sp>
        <p:nvSpPr>
          <p:cNvPr id="33" name="Shape 26"/>
          <p:cNvSpPr/>
          <p:nvPr/>
        </p:nvSpPr>
        <p:spPr>
          <a:xfrm>
            <a:off x="9747504" y="3429000"/>
            <a:ext cx="237744" cy="914"/>
          </a:xfrm>
          <a:prstGeom prst="line">
            <a:avLst/>
          </a:prstGeom>
          <a:noFill/>
          <a:ln w="25400">
            <a:solidFill>
              <a:srgbClr val="8B96A5"/>
            </a:solidFill>
            <a:prstDash val="solid"/>
            <a:tailEnd type="triangle"/>
          </a:ln>
        </p:spPr>
      </p:sp>
      <p:sp>
        <p:nvSpPr>
          <p:cNvPr id="34" name="Shape 27"/>
          <p:cNvSpPr/>
          <p:nvPr/>
        </p:nvSpPr>
        <p:spPr>
          <a:xfrm>
            <a:off x="10012680" y="2377440"/>
            <a:ext cx="1600200" cy="2103120"/>
          </a:xfrm>
          <a:prstGeom prst="roundRect">
            <a:avLst>
              <a:gd name="adj" fmla="val 6857"/>
            </a:avLst>
          </a:prstGeom>
          <a:solidFill>
            <a:srgbClr val="EEF2F6"/>
          </a:solidFill>
          <a:ln w="12700">
            <a:solidFill>
              <a:srgbClr val="EEF2F6"/>
            </a:solidFill>
            <a:prstDash val="solid"/>
          </a:ln>
        </p:spPr>
      </p:sp>
      <p:sp>
        <p:nvSpPr>
          <p:cNvPr id="35" name="Shape 28"/>
          <p:cNvSpPr/>
          <p:nvPr/>
        </p:nvSpPr>
        <p:spPr>
          <a:xfrm>
            <a:off x="10469880" y="2651760"/>
            <a:ext cx="685800" cy="685800"/>
          </a:xfrm>
          <a:prstGeom prst="ellipse">
            <a:avLst/>
          </a:prstGeom>
          <a:solidFill>
            <a:srgbClr val="2BB3A3"/>
          </a:solidFill>
          <a:ln w="12700">
            <a:solidFill>
              <a:srgbClr val="2BB3A3"/>
            </a:solidFill>
            <a:prstDash val="solid"/>
          </a:ln>
        </p:spPr>
      </p:sp>
      <p:pic>
        <p:nvPicPr>
          <p:cNvPr id="36" name="Image 5" descr="/home/claude/azure/media/w/s08_36.png">    </p:cNvPr>
          <p:cNvPicPr>
            <a:picLocks noChangeAspect="1"/>
          </p:cNvPicPr>
          <p:nvPr/>
        </p:nvPicPr>
        <p:blipFill>
          <a:blip r:embed="rId6"/>
          <a:stretch>
            <a:fillRect/>
          </a:stretch>
        </p:blipFill>
        <p:spPr>
          <a:xfrm>
            <a:off x="10641330" y="2823210"/>
            <a:ext cx="342900" cy="342900"/>
          </a:xfrm>
          <a:prstGeom prst="rect">
            <a:avLst/>
          </a:prstGeom>
        </p:spPr>
      </p:pic>
      <p:sp>
        <p:nvSpPr>
          <p:cNvPr id="37" name="Text 29"/>
          <p:cNvSpPr txBox="1"/>
          <p:nvPr/>
        </p:nvSpPr>
        <p:spPr>
          <a:xfrm>
            <a:off x="10058400" y="3474720"/>
            <a:ext cx="1508760" cy="411480"/>
          </a:xfrm>
          <a:prstGeom prst="rect">
            <a:avLst/>
          </a:prstGeom>
          <a:noFill/>
          <a:ln/>
        </p:spPr>
        <p:txBody>
          <a:bodyPr wrap="square" lIns="0" tIns="0" rIns="0" bIns="0" rtlCol="0" anchor="ctr"/>
          <a:lstStyle/>
          <a:p>
            <a:pPr algn="ctr" indent="0" marL="0">
              <a:buNone/>
            </a:pPr>
            <a:r>
              <a:rPr lang="en-US" sz="1600" b="1" dirty="0">
                <a:solidFill>
                  <a:srgbClr val="1D2733"/>
                </a:solidFill>
                <a:latin typeface="Calibri" pitchFamily="34" charset="0"/>
                <a:ea typeface="Calibri" pitchFamily="34" charset="-122"/>
                <a:cs typeface="Calibri" pitchFamily="34" charset="-120"/>
              </a:rPr>
              <a:t>Store Result</a:t>
            </a:r>
            <a:endParaRPr lang="en-US" sz="1600" dirty="0"/>
          </a:p>
        </p:txBody>
      </p:sp>
      <p:sp>
        <p:nvSpPr>
          <p:cNvPr id="38" name="Text 30"/>
          <p:cNvSpPr txBox="1"/>
          <p:nvPr/>
        </p:nvSpPr>
        <p:spPr>
          <a:xfrm>
            <a:off x="10058400" y="3886200"/>
            <a:ext cx="1508760" cy="457200"/>
          </a:xfrm>
          <a:prstGeom prst="rect">
            <a:avLst/>
          </a:prstGeom>
          <a:noFill/>
          <a:ln/>
        </p:spPr>
        <p:txBody>
          <a:bodyPr wrap="square" lIns="0" tIns="0" rIns="0" bIns="0" rtlCol="0" anchor="ctr"/>
          <a:lstStyle/>
          <a:p>
            <a:pPr algn="ctr" indent="0" marL="0">
              <a:buNone/>
            </a:pPr>
            <a:r>
              <a:rPr lang="en-US" sz="1250" i="1" dirty="0">
                <a:solidFill>
                  <a:srgbClr val="8B96A5"/>
                </a:solidFill>
                <a:latin typeface="Calibri" pitchFamily="34" charset="0"/>
                <a:ea typeface="Calibri" pitchFamily="34" charset="-122"/>
                <a:cs typeface="Calibri" pitchFamily="34" charset="-120"/>
              </a:rPr>
              <a:t>Cosmos DB</a:t>
            </a:r>
            <a:endParaRPr lang="en-US" sz="1250" dirty="0"/>
          </a:p>
        </p:txBody>
      </p:sp>
      <p:sp>
        <p:nvSpPr>
          <p:cNvPr id="39" name="Text 31"/>
          <p:cNvSpPr txBox="1"/>
          <p:nvPr/>
        </p:nvSpPr>
        <p:spPr>
          <a:xfrm>
            <a:off x="548640" y="5120640"/>
            <a:ext cx="11064240" cy="548640"/>
          </a:xfrm>
          <a:prstGeom prst="rect">
            <a:avLst/>
          </a:prstGeom>
          <a:noFill/>
          <a:ln/>
        </p:spPr>
        <p:txBody>
          <a:bodyPr wrap="square" lIns="0" tIns="0" rIns="0" bIns="0" rtlCol="0" anchor="ctr"/>
          <a:lstStyle/>
          <a:p>
            <a:pPr algn="ctr" indent="0" marL="0">
              <a:buNone/>
            </a:pPr>
            <a:r>
              <a:rPr lang="en-US" sz="1600" i="1" dirty="0">
                <a:solidFill>
                  <a:srgbClr val="3A4656"/>
                </a:solidFill>
                <a:latin typeface="Calibri" pitchFamily="34" charset="0"/>
                <a:ea typeface="Calibri" pitchFamily="34" charset="-122"/>
                <a:cs typeface="Calibri" pitchFamily="34" charset="-120"/>
              </a:rPr>
              <a:t>An Event Grid subscription on the storage account triggers the Function — nothing runs unless there’s an image to process.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92608"/>
          </a:xfrm>
          <a:prstGeom prst="rect">
            <a:avLst/>
          </a:prstGeom>
          <a:noFill/>
          <a:ln/>
        </p:spPr>
        <p:txBody>
          <a:bodyPr wrap="square" lIns="0" tIns="0" rIns="0" bIns="0" rtlCol="0" anchor="ctr"/>
          <a:lstStyle/>
          <a:p>
            <a:pPr indent="0" marL="0">
              <a:buNone/>
            </a:pPr>
            <a:r>
              <a:rPr lang="en-US" sz="1300" b="1" spc="300" kern="0" dirty="0">
                <a:solidFill>
                  <a:srgbClr val="2BB3A3"/>
                </a:solidFill>
                <a:latin typeface="Calibri" pitchFamily="34" charset="0"/>
                <a:ea typeface="Calibri" pitchFamily="34" charset="-122"/>
                <a:cs typeface="Calibri" pitchFamily="34" charset="-120"/>
              </a:rPr>
              <a:t>02 · ARCHITECTURE</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D2733"/>
                </a:solidFill>
                <a:latin typeface="Cambria" pitchFamily="34" charset="0"/>
                <a:ea typeface="Cambria" pitchFamily="34" charset="-122"/>
                <a:cs typeface="Cambria" pitchFamily="34" charset="-120"/>
              </a:rPr>
              <a:t>Five Steps From Photo to Insight</a:t>
            </a:r>
            <a:endParaRPr lang="en-US" sz="3200" dirty="0"/>
          </a:p>
        </p:txBody>
      </p:sp>
      <p:sp>
        <p:nvSpPr>
          <p:cNvPr id="4" name="Shape 2"/>
          <p:cNvSpPr/>
          <p:nvPr/>
        </p:nvSpPr>
        <p:spPr>
          <a:xfrm>
            <a:off x="548640" y="1600200"/>
            <a:ext cx="3474720" cy="2240280"/>
          </a:xfrm>
          <a:prstGeom prst="roundRect">
            <a:avLst>
              <a:gd name="adj" fmla="val 4898"/>
            </a:avLst>
          </a:prstGeom>
          <a:solidFill>
            <a:srgbClr val="EEF2F6"/>
          </a:solidFill>
          <a:ln w="12700">
            <a:solidFill>
              <a:srgbClr val="EEF2F6"/>
            </a:solidFill>
            <a:prstDash val="solid"/>
          </a:ln>
        </p:spPr>
      </p:sp>
      <p:sp>
        <p:nvSpPr>
          <p:cNvPr id="5" name="Shape 3"/>
          <p:cNvSpPr/>
          <p:nvPr/>
        </p:nvSpPr>
        <p:spPr>
          <a:xfrm>
            <a:off x="822960" y="1874520"/>
            <a:ext cx="640080" cy="640080"/>
          </a:xfrm>
          <a:prstGeom prst="ellipse">
            <a:avLst/>
          </a:prstGeom>
          <a:solidFill>
            <a:srgbClr val="0F1720"/>
          </a:solidFill>
          <a:ln w="12700">
            <a:solidFill>
              <a:srgbClr val="0F1720"/>
            </a:solidFill>
            <a:prstDash val="solid"/>
          </a:ln>
        </p:spPr>
      </p:sp>
      <p:pic>
        <p:nvPicPr>
          <p:cNvPr id="6" name="Image 0" descr="/home/claude/azure/media/w/s09_6.png">    </p:cNvPr>
          <p:cNvPicPr>
            <a:picLocks noChangeAspect="1"/>
          </p:cNvPicPr>
          <p:nvPr/>
        </p:nvPicPr>
        <p:blipFill>
          <a:blip r:embed="rId1"/>
          <a:stretch>
            <a:fillRect/>
          </a:stretch>
        </p:blipFill>
        <p:spPr>
          <a:xfrm>
            <a:off x="982980" y="2034540"/>
            <a:ext cx="320040" cy="320040"/>
          </a:xfrm>
          <a:prstGeom prst="rect">
            <a:avLst/>
          </a:prstGeom>
        </p:spPr>
      </p:pic>
      <p:sp>
        <p:nvSpPr>
          <p:cNvPr id="7" name="Shape 4"/>
          <p:cNvSpPr/>
          <p:nvPr/>
        </p:nvSpPr>
        <p:spPr>
          <a:xfrm>
            <a:off x="3337560" y="1874520"/>
            <a:ext cx="411480" cy="411480"/>
          </a:xfrm>
          <a:prstGeom prst="ellipse">
            <a:avLst/>
          </a:prstGeom>
          <a:solidFill>
            <a:srgbClr val="F2A541"/>
          </a:solidFill>
          <a:ln w="12700">
            <a:solidFill>
              <a:srgbClr val="F2A541"/>
            </a:solidFill>
            <a:prstDash val="solid"/>
          </a:ln>
        </p:spPr>
      </p:sp>
      <p:sp>
        <p:nvSpPr>
          <p:cNvPr id="8" name="Text 5"/>
          <p:cNvSpPr txBox="1"/>
          <p:nvPr/>
        </p:nvSpPr>
        <p:spPr>
          <a:xfrm>
            <a:off x="3337560" y="1874520"/>
            <a:ext cx="411480" cy="411480"/>
          </a:xfrm>
          <a:prstGeom prst="rect">
            <a:avLst/>
          </a:prstGeom>
          <a:noFill/>
          <a:ln/>
        </p:spPr>
        <p:txBody>
          <a:bodyPr wrap="square" lIns="0" tIns="0" rIns="0" bIns="0" rtlCol="0" anchor="ctr"/>
          <a:lstStyle/>
          <a:p>
            <a:pPr algn="ctr" indent="0" marL="0">
              <a:buNone/>
            </a:pPr>
            <a:r>
              <a:rPr lang="en-US" sz="1260" b="1" dirty="0">
                <a:solidFill>
                  <a:srgbClr val="0F1720"/>
                </a:solidFill>
                <a:latin typeface="Calibri" pitchFamily="34" charset="0"/>
                <a:ea typeface="Calibri" pitchFamily="34" charset="-122"/>
                <a:cs typeface="Calibri" pitchFamily="34" charset="-120"/>
              </a:rPr>
              <a:t>1</a:t>
            </a:r>
            <a:endParaRPr lang="en-US" sz="1260" dirty="0"/>
          </a:p>
        </p:txBody>
      </p:sp>
      <p:sp>
        <p:nvSpPr>
          <p:cNvPr id="9" name="Text 6"/>
          <p:cNvSpPr txBox="1"/>
          <p:nvPr/>
        </p:nvSpPr>
        <p:spPr>
          <a:xfrm>
            <a:off x="822960" y="2606040"/>
            <a:ext cx="2926080" cy="365760"/>
          </a:xfrm>
          <a:prstGeom prst="rect">
            <a:avLst/>
          </a:prstGeom>
          <a:noFill/>
          <a:ln/>
        </p:spPr>
        <p:txBody>
          <a:bodyPr wrap="square" lIns="0" tIns="0" rIns="0" bIns="0" rtlCol="0" anchor="ctr"/>
          <a:lstStyle/>
          <a:p>
            <a:pPr indent="0" marL="0">
              <a:buNone/>
            </a:pPr>
            <a:r>
              <a:rPr lang="en-US" sz="1800" b="1" dirty="0">
                <a:solidFill>
                  <a:srgbClr val="1D2733"/>
                </a:solidFill>
                <a:latin typeface="Calibri" pitchFamily="34" charset="0"/>
                <a:ea typeface="Calibri" pitchFamily="34" charset="-122"/>
                <a:cs typeface="Calibri" pitchFamily="34" charset="-120"/>
              </a:rPr>
              <a:t>Upload &amp; Ingest</a:t>
            </a:r>
            <a:endParaRPr lang="en-US" sz="1800" dirty="0"/>
          </a:p>
        </p:txBody>
      </p:sp>
      <p:sp>
        <p:nvSpPr>
          <p:cNvPr id="10" name="Text 7"/>
          <p:cNvSpPr txBox="1"/>
          <p:nvPr/>
        </p:nvSpPr>
        <p:spPr>
          <a:xfrm>
            <a:off x="822960" y="3017520"/>
            <a:ext cx="2926080" cy="731520"/>
          </a:xfrm>
          <a:prstGeom prst="rect">
            <a:avLst/>
          </a:prstGeom>
          <a:noFill/>
          <a:ln/>
        </p:spPr>
        <p:txBody>
          <a:bodyPr wrap="square" lIns="0" tIns="0" rIns="0" bIns="0" rtlCol="0" anchor="t"/>
          <a:lstStyle/>
          <a:p>
            <a:pPr indent="0" marL="0">
              <a:buNone/>
            </a:pPr>
            <a:r>
              <a:rPr lang="en-US" sz="1400" dirty="0">
                <a:solidFill>
                  <a:srgbClr val="3A4656"/>
                </a:solidFill>
                <a:latin typeface="Calibri" pitchFamily="34" charset="0"/>
                <a:ea typeface="Calibri" pitchFamily="34" charset="-122"/>
                <a:cs typeface="Calibri" pitchFamily="34" charset="-120"/>
              </a:rPr>
              <a:t>The field app uploads the outlet photo straight to Azure Blob Storage.</a:t>
            </a:r>
            <a:endParaRPr lang="en-US" sz="1400" dirty="0"/>
          </a:p>
        </p:txBody>
      </p:sp>
      <p:sp>
        <p:nvSpPr>
          <p:cNvPr id="11" name="Shape 8"/>
          <p:cNvSpPr/>
          <p:nvPr/>
        </p:nvSpPr>
        <p:spPr>
          <a:xfrm>
            <a:off x="4343400" y="1600200"/>
            <a:ext cx="3474720" cy="2240280"/>
          </a:xfrm>
          <a:prstGeom prst="roundRect">
            <a:avLst>
              <a:gd name="adj" fmla="val 4898"/>
            </a:avLst>
          </a:prstGeom>
          <a:solidFill>
            <a:srgbClr val="EEF2F6"/>
          </a:solidFill>
          <a:ln w="12700">
            <a:solidFill>
              <a:srgbClr val="EEF2F6"/>
            </a:solidFill>
            <a:prstDash val="solid"/>
          </a:ln>
        </p:spPr>
      </p:sp>
      <p:sp>
        <p:nvSpPr>
          <p:cNvPr id="12" name="Shape 9"/>
          <p:cNvSpPr/>
          <p:nvPr/>
        </p:nvSpPr>
        <p:spPr>
          <a:xfrm>
            <a:off x="4617720" y="1874520"/>
            <a:ext cx="640080" cy="640080"/>
          </a:xfrm>
          <a:prstGeom prst="ellipse">
            <a:avLst/>
          </a:prstGeom>
          <a:solidFill>
            <a:srgbClr val="0F1720"/>
          </a:solidFill>
          <a:ln w="12700">
            <a:solidFill>
              <a:srgbClr val="0F1720"/>
            </a:solidFill>
            <a:prstDash val="solid"/>
          </a:ln>
        </p:spPr>
      </p:sp>
      <p:pic>
        <p:nvPicPr>
          <p:cNvPr id="13" name="Image 1" descr="/home/claude/azure/media/w/s09_13.png">    </p:cNvPr>
          <p:cNvPicPr>
            <a:picLocks noChangeAspect="1"/>
          </p:cNvPicPr>
          <p:nvPr/>
        </p:nvPicPr>
        <p:blipFill>
          <a:blip r:embed="rId2"/>
          <a:stretch>
            <a:fillRect/>
          </a:stretch>
        </p:blipFill>
        <p:spPr>
          <a:xfrm>
            <a:off x="4777740" y="2034540"/>
            <a:ext cx="320040" cy="320040"/>
          </a:xfrm>
          <a:prstGeom prst="rect">
            <a:avLst/>
          </a:prstGeom>
        </p:spPr>
      </p:pic>
      <p:sp>
        <p:nvSpPr>
          <p:cNvPr id="14" name="Shape 10"/>
          <p:cNvSpPr/>
          <p:nvPr/>
        </p:nvSpPr>
        <p:spPr>
          <a:xfrm>
            <a:off x="7132320" y="1874520"/>
            <a:ext cx="411480" cy="411480"/>
          </a:xfrm>
          <a:prstGeom prst="ellipse">
            <a:avLst/>
          </a:prstGeom>
          <a:solidFill>
            <a:srgbClr val="F2A541"/>
          </a:solidFill>
          <a:ln w="12700">
            <a:solidFill>
              <a:srgbClr val="F2A541"/>
            </a:solidFill>
            <a:prstDash val="solid"/>
          </a:ln>
        </p:spPr>
      </p:sp>
      <p:sp>
        <p:nvSpPr>
          <p:cNvPr id="15" name="Text 11"/>
          <p:cNvSpPr txBox="1"/>
          <p:nvPr/>
        </p:nvSpPr>
        <p:spPr>
          <a:xfrm>
            <a:off x="7132320" y="1874520"/>
            <a:ext cx="411480" cy="411480"/>
          </a:xfrm>
          <a:prstGeom prst="rect">
            <a:avLst/>
          </a:prstGeom>
          <a:noFill/>
          <a:ln/>
        </p:spPr>
        <p:txBody>
          <a:bodyPr wrap="square" lIns="0" tIns="0" rIns="0" bIns="0" rtlCol="0" anchor="ctr"/>
          <a:lstStyle/>
          <a:p>
            <a:pPr algn="ctr" indent="0" marL="0">
              <a:buNone/>
            </a:pPr>
            <a:r>
              <a:rPr lang="en-US" sz="1260" b="1" dirty="0">
                <a:solidFill>
                  <a:srgbClr val="0F1720"/>
                </a:solidFill>
                <a:latin typeface="Calibri" pitchFamily="34" charset="0"/>
                <a:ea typeface="Calibri" pitchFamily="34" charset="-122"/>
                <a:cs typeface="Calibri" pitchFamily="34" charset="-120"/>
              </a:rPr>
              <a:t>2</a:t>
            </a:r>
            <a:endParaRPr lang="en-US" sz="1260" dirty="0"/>
          </a:p>
        </p:txBody>
      </p:sp>
      <p:sp>
        <p:nvSpPr>
          <p:cNvPr id="16" name="Text 12"/>
          <p:cNvSpPr txBox="1"/>
          <p:nvPr/>
        </p:nvSpPr>
        <p:spPr>
          <a:xfrm>
            <a:off x="4617720" y="2606040"/>
            <a:ext cx="2926080" cy="365760"/>
          </a:xfrm>
          <a:prstGeom prst="rect">
            <a:avLst/>
          </a:prstGeom>
          <a:noFill/>
          <a:ln/>
        </p:spPr>
        <p:txBody>
          <a:bodyPr wrap="square" lIns="0" tIns="0" rIns="0" bIns="0" rtlCol="0" anchor="ctr"/>
          <a:lstStyle/>
          <a:p>
            <a:pPr indent="0" marL="0">
              <a:buNone/>
            </a:pPr>
            <a:r>
              <a:rPr lang="en-US" sz="1800" b="1" dirty="0">
                <a:solidFill>
                  <a:srgbClr val="1D2733"/>
                </a:solidFill>
                <a:latin typeface="Calibri" pitchFamily="34" charset="0"/>
                <a:ea typeface="Calibri" pitchFamily="34" charset="-122"/>
                <a:cs typeface="Calibri" pitchFamily="34" charset="-120"/>
              </a:rPr>
              <a:t>Event Trigger</a:t>
            </a:r>
            <a:endParaRPr lang="en-US" sz="1800" dirty="0"/>
          </a:p>
        </p:txBody>
      </p:sp>
      <p:sp>
        <p:nvSpPr>
          <p:cNvPr id="17" name="Text 13"/>
          <p:cNvSpPr txBox="1"/>
          <p:nvPr/>
        </p:nvSpPr>
        <p:spPr>
          <a:xfrm>
            <a:off x="4617720" y="3017520"/>
            <a:ext cx="2926080" cy="731520"/>
          </a:xfrm>
          <a:prstGeom prst="rect">
            <a:avLst/>
          </a:prstGeom>
          <a:noFill/>
          <a:ln/>
        </p:spPr>
        <p:txBody>
          <a:bodyPr wrap="square" lIns="0" tIns="0" rIns="0" bIns="0" rtlCol="0" anchor="t"/>
          <a:lstStyle/>
          <a:p>
            <a:pPr indent="0" marL="0">
              <a:buNone/>
            </a:pPr>
            <a:r>
              <a:rPr lang="en-US" sz="1400" dirty="0">
                <a:solidFill>
                  <a:srgbClr val="3A4656"/>
                </a:solidFill>
                <a:latin typeface="Calibri" pitchFamily="34" charset="0"/>
                <a:ea typeface="Calibri" pitchFamily="34" charset="-122"/>
                <a:cs typeface="Calibri" pitchFamily="34" charset="-120"/>
              </a:rPr>
              <a:t>An Event Grid subscription on the storage account fires the moment the blob lands — no polling.</a:t>
            </a:r>
            <a:endParaRPr lang="en-US" sz="1400" dirty="0"/>
          </a:p>
        </p:txBody>
      </p:sp>
      <p:sp>
        <p:nvSpPr>
          <p:cNvPr id="18" name="Shape 14"/>
          <p:cNvSpPr/>
          <p:nvPr/>
        </p:nvSpPr>
        <p:spPr>
          <a:xfrm>
            <a:off x="8138160" y="1600200"/>
            <a:ext cx="3474720" cy="2240280"/>
          </a:xfrm>
          <a:prstGeom prst="roundRect">
            <a:avLst>
              <a:gd name="adj" fmla="val 4898"/>
            </a:avLst>
          </a:prstGeom>
          <a:solidFill>
            <a:srgbClr val="EEF2F6"/>
          </a:solidFill>
          <a:ln w="12700">
            <a:solidFill>
              <a:srgbClr val="EEF2F6"/>
            </a:solidFill>
            <a:prstDash val="solid"/>
          </a:ln>
        </p:spPr>
      </p:sp>
      <p:sp>
        <p:nvSpPr>
          <p:cNvPr id="19" name="Shape 15"/>
          <p:cNvSpPr/>
          <p:nvPr/>
        </p:nvSpPr>
        <p:spPr>
          <a:xfrm>
            <a:off x="8412480" y="1874520"/>
            <a:ext cx="640080" cy="640080"/>
          </a:xfrm>
          <a:prstGeom prst="ellipse">
            <a:avLst/>
          </a:prstGeom>
          <a:solidFill>
            <a:srgbClr val="0F1720"/>
          </a:solidFill>
          <a:ln w="12700">
            <a:solidFill>
              <a:srgbClr val="0F1720"/>
            </a:solidFill>
            <a:prstDash val="solid"/>
          </a:ln>
        </p:spPr>
      </p:sp>
      <p:pic>
        <p:nvPicPr>
          <p:cNvPr id="20" name="Image 2" descr="/home/claude/azure/media/w/s09_20.png">    </p:cNvPr>
          <p:cNvPicPr>
            <a:picLocks noChangeAspect="1"/>
          </p:cNvPicPr>
          <p:nvPr/>
        </p:nvPicPr>
        <p:blipFill>
          <a:blip r:embed="rId3"/>
          <a:stretch>
            <a:fillRect/>
          </a:stretch>
        </p:blipFill>
        <p:spPr>
          <a:xfrm>
            <a:off x="8572500" y="2034540"/>
            <a:ext cx="320040" cy="320040"/>
          </a:xfrm>
          <a:prstGeom prst="rect">
            <a:avLst/>
          </a:prstGeom>
        </p:spPr>
      </p:pic>
      <p:sp>
        <p:nvSpPr>
          <p:cNvPr id="21" name="Shape 16"/>
          <p:cNvSpPr/>
          <p:nvPr/>
        </p:nvSpPr>
        <p:spPr>
          <a:xfrm>
            <a:off x="10927080" y="1874520"/>
            <a:ext cx="411480" cy="411480"/>
          </a:xfrm>
          <a:prstGeom prst="ellipse">
            <a:avLst/>
          </a:prstGeom>
          <a:solidFill>
            <a:srgbClr val="F2A541"/>
          </a:solidFill>
          <a:ln w="12700">
            <a:solidFill>
              <a:srgbClr val="F2A541"/>
            </a:solidFill>
            <a:prstDash val="solid"/>
          </a:ln>
        </p:spPr>
      </p:sp>
      <p:sp>
        <p:nvSpPr>
          <p:cNvPr id="22" name="Text 17"/>
          <p:cNvSpPr txBox="1"/>
          <p:nvPr/>
        </p:nvSpPr>
        <p:spPr>
          <a:xfrm>
            <a:off x="10927080" y="1874520"/>
            <a:ext cx="411480" cy="411480"/>
          </a:xfrm>
          <a:prstGeom prst="rect">
            <a:avLst/>
          </a:prstGeom>
          <a:noFill/>
          <a:ln/>
        </p:spPr>
        <p:txBody>
          <a:bodyPr wrap="square" lIns="0" tIns="0" rIns="0" bIns="0" rtlCol="0" anchor="ctr"/>
          <a:lstStyle/>
          <a:p>
            <a:pPr algn="ctr" indent="0" marL="0">
              <a:buNone/>
            </a:pPr>
            <a:r>
              <a:rPr lang="en-US" sz="1260" b="1" dirty="0">
                <a:solidFill>
                  <a:srgbClr val="0F1720"/>
                </a:solidFill>
                <a:latin typeface="Calibri" pitchFamily="34" charset="0"/>
                <a:ea typeface="Calibri" pitchFamily="34" charset="-122"/>
                <a:cs typeface="Calibri" pitchFamily="34" charset="-120"/>
              </a:rPr>
              <a:t>3</a:t>
            </a:r>
            <a:endParaRPr lang="en-US" sz="1260" dirty="0"/>
          </a:p>
        </p:txBody>
      </p:sp>
      <p:sp>
        <p:nvSpPr>
          <p:cNvPr id="23" name="Text 18"/>
          <p:cNvSpPr txBox="1"/>
          <p:nvPr/>
        </p:nvSpPr>
        <p:spPr>
          <a:xfrm>
            <a:off x="8412480" y="2606040"/>
            <a:ext cx="2926080" cy="365760"/>
          </a:xfrm>
          <a:prstGeom prst="rect">
            <a:avLst/>
          </a:prstGeom>
          <a:noFill/>
          <a:ln/>
        </p:spPr>
        <p:txBody>
          <a:bodyPr wrap="square" lIns="0" tIns="0" rIns="0" bIns="0" rtlCol="0" anchor="ctr"/>
          <a:lstStyle/>
          <a:p>
            <a:pPr indent="0" marL="0">
              <a:buNone/>
            </a:pPr>
            <a:r>
              <a:rPr lang="en-US" sz="1800" b="1" dirty="0">
                <a:solidFill>
                  <a:srgbClr val="1D2733"/>
                </a:solidFill>
                <a:latin typeface="Calibri" pitchFamily="34" charset="0"/>
                <a:ea typeface="Calibri" pitchFamily="34" charset="-122"/>
                <a:cs typeface="Calibri" pitchFamily="34" charset="-120"/>
              </a:rPr>
              <a:t>Pre-Checks</a:t>
            </a:r>
            <a:endParaRPr lang="en-US" sz="1800" dirty="0"/>
          </a:p>
        </p:txBody>
      </p:sp>
      <p:sp>
        <p:nvSpPr>
          <p:cNvPr id="24" name="Text 19"/>
          <p:cNvSpPr txBox="1"/>
          <p:nvPr/>
        </p:nvSpPr>
        <p:spPr>
          <a:xfrm>
            <a:off x="8412480" y="3017520"/>
            <a:ext cx="2926080" cy="731520"/>
          </a:xfrm>
          <a:prstGeom prst="rect">
            <a:avLst/>
          </a:prstGeom>
          <a:noFill/>
          <a:ln/>
        </p:spPr>
        <p:txBody>
          <a:bodyPr wrap="square" lIns="0" tIns="0" rIns="0" bIns="0" rtlCol="0" anchor="t"/>
          <a:lstStyle/>
          <a:p>
            <a:pPr indent="0" marL="0">
              <a:buNone/>
            </a:pPr>
            <a:r>
              <a:rPr lang="en-US" sz="1400" dirty="0">
                <a:solidFill>
                  <a:srgbClr val="3A4656"/>
                </a:solidFill>
                <a:latin typeface="Calibri" pitchFamily="34" charset="0"/>
                <a:ea typeface="Calibri" pitchFamily="34" charset="-122"/>
                <a:cs typeface="Calibri" pitchFamily="34" charset="-120"/>
              </a:rPr>
              <a:t>The function validates image quality and DPI before spending a model call on it.</a:t>
            </a:r>
            <a:endParaRPr lang="en-US" sz="1400" dirty="0"/>
          </a:p>
        </p:txBody>
      </p:sp>
      <p:sp>
        <p:nvSpPr>
          <p:cNvPr id="25" name="Shape 20"/>
          <p:cNvSpPr/>
          <p:nvPr/>
        </p:nvSpPr>
        <p:spPr>
          <a:xfrm>
            <a:off x="2446020" y="4160520"/>
            <a:ext cx="3474720" cy="2240280"/>
          </a:xfrm>
          <a:prstGeom prst="roundRect">
            <a:avLst>
              <a:gd name="adj" fmla="val 4898"/>
            </a:avLst>
          </a:prstGeom>
          <a:solidFill>
            <a:srgbClr val="E3F4F2"/>
          </a:solidFill>
          <a:ln w="12700">
            <a:solidFill>
              <a:srgbClr val="E3F4F2"/>
            </a:solidFill>
            <a:prstDash val="solid"/>
          </a:ln>
        </p:spPr>
      </p:sp>
      <p:sp>
        <p:nvSpPr>
          <p:cNvPr id="26" name="Shape 21"/>
          <p:cNvSpPr/>
          <p:nvPr/>
        </p:nvSpPr>
        <p:spPr>
          <a:xfrm>
            <a:off x="2720340" y="4434840"/>
            <a:ext cx="640080" cy="640080"/>
          </a:xfrm>
          <a:prstGeom prst="ellipse">
            <a:avLst/>
          </a:prstGeom>
          <a:solidFill>
            <a:srgbClr val="2BB3A3"/>
          </a:solidFill>
          <a:ln w="12700">
            <a:solidFill>
              <a:srgbClr val="2BB3A3"/>
            </a:solidFill>
            <a:prstDash val="solid"/>
          </a:ln>
        </p:spPr>
      </p:sp>
      <p:pic>
        <p:nvPicPr>
          <p:cNvPr id="27" name="Image 3" descr="/home/claude/azure/media/w/s09_27.png">    </p:cNvPr>
          <p:cNvPicPr>
            <a:picLocks noChangeAspect="1"/>
          </p:cNvPicPr>
          <p:nvPr/>
        </p:nvPicPr>
        <p:blipFill>
          <a:blip r:embed="rId4"/>
          <a:stretch>
            <a:fillRect/>
          </a:stretch>
        </p:blipFill>
        <p:spPr>
          <a:xfrm>
            <a:off x="2880360" y="4594860"/>
            <a:ext cx="320040" cy="320040"/>
          </a:xfrm>
          <a:prstGeom prst="rect">
            <a:avLst/>
          </a:prstGeom>
        </p:spPr>
      </p:pic>
      <p:sp>
        <p:nvSpPr>
          <p:cNvPr id="28" name="Shape 22"/>
          <p:cNvSpPr/>
          <p:nvPr/>
        </p:nvSpPr>
        <p:spPr>
          <a:xfrm>
            <a:off x="5234940" y="4434840"/>
            <a:ext cx="411480" cy="411480"/>
          </a:xfrm>
          <a:prstGeom prst="ellipse">
            <a:avLst/>
          </a:prstGeom>
          <a:solidFill>
            <a:srgbClr val="F2A541"/>
          </a:solidFill>
          <a:ln w="12700">
            <a:solidFill>
              <a:srgbClr val="F2A541"/>
            </a:solidFill>
            <a:prstDash val="solid"/>
          </a:ln>
        </p:spPr>
      </p:sp>
      <p:sp>
        <p:nvSpPr>
          <p:cNvPr id="29" name="Text 23"/>
          <p:cNvSpPr txBox="1"/>
          <p:nvPr/>
        </p:nvSpPr>
        <p:spPr>
          <a:xfrm>
            <a:off x="5234940" y="4434840"/>
            <a:ext cx="411480" cy="411480"/>
          </a:xfrm>
          <a:prstGeom prst="rect">
            <a:avLst/>
          </a:prstGeom>
          <a:noFill/>
          <a:ln/>
        </p:spPr>
        <p:txBody>
          <a:bodyPr wrap="square" lIns="0" tIns="0" rIns="0" bIns="0" rtlCol="0" anchor="ctr"/>
          <a:lstStyle/>
          <a:p>
            <a:pPr algn="ctr" indent="0" marL="0">
              <a:buNone/>
            </a:pPr>
            <a:r>
              <a:rPr lang="en-US" sz="1260" b="1" dirty="0">
                <a:solidFill>
                  <a:srgbClr val="0F1720"/>
                </a:solidFill>
                <a:latin typeface="Calibri" pitchFamily="34" charset="0"/>
                <a:ea typeface="Calibri" pitchFamily="34" charset="-122"/>
                <a:cs typeface="Calibri" pitchFamily="34" charset="-120"/>
              </a:rPr>
              <a:t>4</a:t>
            </a:r>
            <a:endParaRPr lang="en-US" sz="1260" dirty="0"/>
          </a:p>
        </p:txBody>
      </p:sp>
      <p:sp>
        <p:nvSpPr>
          <p:cNvPr id="30" name="Text 24"/>
          <p:cNvSpPr txBox="1"/>
          <p:nvPr/>
        </p:nvSpPr>
        <p:spPr>
          <a:xfrm>
            <a:off x="2720340" y="5166360"/>
            <a:ext cx="2926080" cy="365760"/>
          </a:xfrm>
          <a:prstGeom prst="rect">
            <a:avLst/>
          </a:prstGeom>
          <a:noFill/>
          <a:ln/>
        </p:spPr>
        <p:txBody>
          <a:bodyPr wrap="square" lIns="0" tIns="0" rIns="0" bIns="0" rtlCol="0" anchor="ctr"/>
          <a:lstStyle/>
          <a:p>
            <a:pPr indent="0" marL="0">
              <a:buNone/>
            </a:pPr>
            <a:r>
              <a:rPr lang="en-US" sz="1800" b="1" dirty="0">
                <a:solidFill>
                  <a:srgbClr val="1D2733"/>
                </a:solidFill>
                <a:latin typeface="Calibri" pitchFamily="34" charset="0"/>
                <a:ea typeface="Calibri" pitchFamily="34" charset="-122"/>
                <a:cs typeface="Calibri" pitchFamily="34" charset="-120"/>
              </a:rPr>
              <a:t>Vision Classification</a:t>
            </a:r>
            <a:endParaRPr lang="en-US" sz="1800" dirty="0"/>
          </a:p>
        </p:txBody>
      </p:sp>
      <p:sp>
        <p:nvSpPr>
          <p:cNvPr id="31" name="Text 25"/>
          <p:cNvSpPr txBox="1"/>
          <p:nvPr/>
        </p:nvSpPr>
        <p:spPr>
          <a:xfrm>
            <a:off x="2720340" y="5577840"/>
            <a:ext cx="2926080" cy="731520"/>
          </a:xfrm>
          <a:prstGeom prst="rect">
            <a:avLst/>
          </a:prstGeom>
          <a:noFill/>
          <a:ln/>
        </p:spPr>
        <p:txBody>
          <a:bodyPr wrap="square" lIns="0" tIns="0" rIns="0" bIns="0" rtlCol="0" anchor="t"/>
          <a:lstStyle/>
          <a:p>
            <a:pPr indent="0" marL="0">
              <a:buNone/>
            </a:pPr>
            <a:r>
              <a:rPr lang="en-US" sz="1400" dirty="0">
                <a:solidFill>
                  <a:srgbClr val="3A4656"/>
                </a:solidFill>
                <a:latin typeface="Calibri" pitchFamily="34" charset="0"/>
                <a:ea typeface="Calibri" pitchFamily="34" charset="-122"/>
                <a:cs typeface="Calibri" pitchFamily="34" charset="-120"/>
              </a:rPr>
              <a:t>Mistral Medium 2505 scores the photo as Shop or Not-Shop with a confidence value.</a:t>
            </a:r>
            <a:endParaRPr lang="en-US" sz="1400" dirty="0"/>
          </a:p>
        </p:txBody>
      </p:sp>
      <p:sp>
        <p:nvSpPr>
          <p:cNvPr id="32" name="Shape 26"/>
          <p:cNvSpPr/>
          <p:nvPr/>
        </p:nvSpPr>
        <p:spPr>
          <a:xfrm>
            <a:off x="6240780" y="4160520"/>
            <a:ext cx="3474720" cy="2240280"/>
          </a:xfrm>
          <a:prstGeom prst="roundRect">
            <a:avLst>
              <a:gd name="adj" fmla="val 4898"/>
            </a:avLst>
          </a:prstGeom>
          <a:solidFill>
            <a:srgbClr val="EEF2F6"/>
          </a:solidFill>
          <a:ln w="12700">
            <a:solidFill>
              <a:srgbClr val="EEF2F6"/>
            </a:solidFill>
            <a:prstDash val="solid"/>
          </a:ln>
        </p:spPr>
      </p:sp>
      <p:sp>
        <p:nvSpPr>
          <p:cNvPr id="33" name="Shape 27"/>
          <p:cNvSpPr/>
          <p:nvPr/>
        </p:nvSpPr>
        <p:spPr>
          <a:xfrm>
            <a:off x="6515100" y="4434840"/>
            <a:ext cx="640080" cy="640080"/>
          </a:xfrm>
          <a:prstGeom prst="ellipse">
            <a:avLst/>
          </a:prstGeom>
          <a:solidFill>
            <a:srgbClr val="0F1720"/>
          </a:solidFill>
          <a:ln w="12700">
            <a:solidFill>
              <a:srgbClr val="0F1720"/>
            </a:solidFill>
            <a:prstDash val="solid"/>
          </a:ln>
        </p:spPr>
      </p:sp>
      <p:pic>
        <p:nvPicPr>
          <p:cNvPr id="34" name="Image 4" descr="/home/claude/azure/media/w/s09_34.png">    </p:cNvPr>
          <p:cNvPicPr>
            <a:picLocks noChangeAspect="1"/>
          </p:cNvPicPr>
          <p:nvPr/>
        </p:nvPicPr>
        <p:blipFill>
          <a:blip r:embed="rId5"/>
          <a:stretch>
            <a:fillRect/>
          </a:stretch>
        </p:blipFill>
        <p:spPr>
          <a:xfrm>
            <a:off x="6675120" y="4594860"/>
            <a:ext cx="320040" cy="320040"/>
          </a:xfrm>
          <a:prstGeom prst="rect">
            <a:avLst/>
          </a:prstGeom>
        </p:spPr>
      </p:pic>
      <p:sp>
        <p:nvSpPr>
          <p:cNvPr id="35" name="Shape 28"/>
          <p:cNvSpPr/>
          <p:nvPr/>
        </p:nvSpPr>
        <p:spPr>
          <a:xfrm>
            <a:off x="9029700" y="4434840"/>
            <a:ext cx="411480" cy="411480"/>
          </a:xfrm>
          <a:prstGeom prst="ellipse">
            <a:avLst/>
          </a:prstGeom>
          <a:solidFill>
            <a:srgbClr val="F2A541"/>
          </a:solidFill>
          <a:ln w="12700">
            <a:solidFill>
              <a:srgbClr val="F2A541"/>
            </a:solidFill>
            <a:prstDash val="solid"/>
          </a:ln>
        </p:spPr>
      </p:sp>
      <p:sp>
        <p:nvSpPr>
          <p:cNvPr id="36" name="Text 29"/>
          <p:cNvSpPr txBox="1"/>
          <p:nvPr/>
        </p:nvSpPr>
        <p:spPr>
          <a:xfrm>
            <a:off x="9029700" y="4434840"/>
            <a:ext cx="411480" cy="411480"/>
          </a:xfrm>
          <a:prstGeom prst="rect">
            <a:avLst/>
          </a:prstGeom>
          <a:noFill/>
          <a:ln/>
        </p:spPr>
        <p:txBody>
          <a:bodyPr wrap="square" lIns="0" tIns="0" rIns="0" bIns="0" rtlCol="0" anchor="ctr"/>
          <a:lstStyle/>
          <a:p>
            <a:pPr algn="ctr" indent="0" marL="0">
              <a:buNone/>
            </a:pPr>
            <a:r>
              <a:rPr lang="en-US" sz="1260" b="1" dirty="0">
                <a:solidFill>
                  <a:srgbClr val="0F1720"/>
                </a:solidFill>
                <a:latin typeface="Calibri" pitchFamily="34" charset="0"/>
                <a:ea typeface="Calibri" pitchFamily="34" charset="-122"/>
                <a:cs typeface="Calibri" pitchFamily="34" charset="-120"/>
              </a:rPr>
              <a:t>5</a:t>
            </a:r>
            <a:endParaRPr lang="en-US" sz="1260" dirty="0"/>
          </a:p>
        </p:txBody>
      </p:sp>
      <p:sp>
        <p:nvSpPr>
          <p:cNvPr id="37" name="Text 30"/>
          <p:cNvSpPr txBox="1"/>
          <p:nvPr/>
        </p:nvSpPr>
        <p:spPr>
          <a:xfrm>
            <a:off x="6515100" y="5166360"/>
            <a:ext cx="2926080" cy="365760"/>
          </a:xfrm>
          <a:prstGeom prst="rect">
            <a:avLst/>
          </a:prstGeom>
          <a:noFill/>
          <a:ln/>
        </p:spPr>
        <p:txBody>
          <a:bodyPr wrap="square" lIns="0" tIns="0" rIns="0" bIns="0" rtlCol="0" anchor="ctr"/>
          <a:lstStyle/>
          <a:p>
            <a:pPr indent="0" marL="0">
              <a:buNone/>
            </a:pPr>
            <a:r>
              <a:rPr lang="en-US" sz="1800" b="1" dirty="0">
                <a:solidFill>
                  <a:srgbClr val="1D2733"/>
                </a:solidFill>
                <a:latin typeface="Calibri" pitchFamily="34" charset="0"/>
                <a:ea typeface="Calibri" pitchFamily="34" charset="-122"/>
                <a:cs typeface="Calibri" pitchFamily="34" charset="-120"/>
              </a:rPr>
              <a:t>Persist the Result</a:t>
            </a:r>
            <a:endParaRPr lang="en-US" sz="1800" dirty="0"/>
          </a:p>
        </p:txBody>
      </p:sp>
      <p:sp>
        <p:nvSpPr>
          <p:cNvPr id="38" name="Text 31"/>
          <p:cNvSpPr txBox="1"/>
          <p:nvPr/>
        </p:nvSpPr>
        <p:spPr>
          <a:xfrm>
            <a:off x="6515100" y="5577840"/>
            <a:ext cx="2926080" cy="731520"/>
          </a:xfrm>
          <a:prstGeom prst="rect">
            <a:avLst/>
          </a:prstGeom>
          <a:noFill/>
          <a:ln/>
        </p:spPr>
        <p:txBody>
          <a:bodyPr wrap="square" lIns="0" tIns="0" rIns="0" bIns="0" rtlCol="0" anchor="t"/>
          <a:lstStyle/>
          <a:p>
            <a:pPr indent="0" marL="0">
              <a:buNone/>
            </a:pPr>
            <a:r>
              <a:rPr lang="en-US" sz="1400" dirty="0">
                <a:solidFill>
                  <a:srgbClr val="3A4656"/>
                </a:solidFill>
                <a:latin typeface="Calibri" pitchFamily="34" charset="0"/>
                <a:ea typeface="Calibri" pitchFamily="34" charset="-122"/>
                <a:cs typeface="Calibri" pitchFamily="34" charset="-120"/>
              </a:rPr>
              <a:t>Classification, confidence, and metadata are written to Cosmos DB against the outlet record.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92608"/>
          </a:xfrm>
          <a:prstGeom prst="rect">
            <a:avLst/>
          </a:prstGeom>
          <a:noFill/>
          <a:ln/>
        </p:spPr>
        <p:txBody>
          <a:bodyPr wrap="square" lIns="0" tIns="0" rIns="0" bIns="0" rtlCol="0" anchor="ctr"/>
          <a:lstStyle/>
          <a:p>
            <a:pPr indent="0" marL="0">
              <a:buNone/>
            </a:pPr>
            <a:r>
              <a:rPr lang="en-US" sz="1300" b="1" spc="300" kern="0" dirty="0">
                <a:solidFill>
                  <a:srgbClr val="F2A541"/>
                </a:solidFill>
                <a:latin typeface="Calibri" pitchFamily="34" charset="0"/>
                <a:ea typeface="Calibri" pitchFamily="34" charset="-122"/>
                <a:cs typeface="Calibri" pitchFamily="34" charset="-120"/>
              </a:rPr>
              <a:t>03 · LIVE DEMO</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D2733"/>
                </a:solidFill>
                <a:latin typeface="Cambria" pitchFamily="34" charset="0"/>
                <a:ea typeface="Cambria" pitchFamily="34" charset="-122"/>
                <a:cs typeface="Cambria" pitchFamily="34" charset="-120"/>
              </a:rPr>
              <a:t>What We’ll Walk Through</a:t>
            </a:r>
            <a:endParaRPr lang="en-US" sz="3200" dirty="0"/>
          </a:p>
        </p:txBody>
      </p:sp>
      <p:sp>
        <p:nvSpPr>
          <p:cNvPr id="4" name="Shape 2"/>
          <p:cNvSpPr/>
          <p:nvPr/>
        </p:nvSpPr>
        <p:spPr>
          <a:xfrm>
            <a:off x="548640" y="1600200"/>
            <a:ext cx="5394960" cy="1691640"/>
          </a:xfrm>
          <a:prstGeom prst="roundRect">
            <a:avLst>
              <a:gd name="adj" fmla="val 6486"/>
            </a:avLst>
          </a:prstGeom>
          <a:solidFill>
            <a:srgbClr val="EEF2F6"/>
          </a:solidFill>
          <a:ln w="12700">
            <a:solidFill>
              <a:srgbClr val="EEF2F6"/>
            </a:solidFill>
            <a:prstDash val="solid"/>
          </a:ln>
        </p:spPr>
      </p:sp>
      <p:sp>
        <p:nvSpPr>
          <p:cNvPr id="5" name="Shape 3"/>
          <p:cNvSpPr/>
          <p:nvPr/>
        </p:nvSpPr>
        <p:spPr>
          <a:xfrm>
            <a:off x="822960" y="1920240"/>
            <a:ext cx="640080" cy="640080"/>
          </a:xfrm>
          <a:prstGeom prst="ellipse">
            <a:avLst/>
          </a:prstGeom>
          <a:solidFill>
            <a:srgbClr val="F2A541"/>
          </a:solidFill>
          <a:ln w="12700">
            <a:solidFill>
              <a:srgbClr val="F2A541"/>
            </a:solidFill>
            <a:prstDash val="solid"/>
          </a:ln>
        </p:spPr>
      </p:sp>
      <p:sp>
        <p:nvSpPr>
          <p:cNvPr id="6" name="Text 4"/>
          <p:cNvSpPr txBox="1"/>
          <p:nvPr/>
        </p:nvSpPr>
        <p:spPr>
          <a:xfrm>
            <a:off x="822960" y="1920240"/>
            <a:ext cx="640080" cy="640080"/>
          </a:xfrm>
          <a:prstGeom prst="rect">
            <a:avLst/>
          </a:prstGeom>
          <a:noFill/>
          <a:ln/>
        </p:spPr>
        <p:txBody>
          <a:bodyPr wrap="square" lIns="0" tIns="0" rIns="0" bIns="0" rtlCol="0" anchor="ctr"/>
          <a:lstStyle/>
          <a:p>
            <a:pPr algn="ctr" indent="0" marL="0">
              <a:buNone/>
            </a:pPr>
            <a:r>
              <a:rPr lang="en-US" sz="1960" b="1" dirty="0">
                <a:solidFill>
                  <a:srgbClr val="0F1720"/>
                </a:solidFill>
                <a:latin typeface="Calibri" pitchFamily="34" charset="0"/>
                <a:ea typeface="Calibri" pitchFamily="34" charset="-122"/>
                <a:cs typeface="Calibri" pitchFamily="34" charset="-120"/>
              </a:rPr>
              <a:t>1</a:t>
            </a:r>
            <a:endParaRPr lang="en-US" sz="1960" dirty="0"/>
          </a:p>
        </p:txBody>
      </p:sp>
      <p:sp>
        <p:nvSpPr>
          <p:cNvPr id="7" name="Text 5"/>
          <p:cNvSpPr txBox="1"/>
          <p:nvPr/>
        </p:nvSpPr>
        <p:spPr>
          <a:xfrm>
            <a:off x="1691640" y="1874520"/>
            <a:ext cx="4023360" cy="457200"/>
          </a:xfrm>
          <a:prstGeom prst="rect">
            <a:avLst/>
          </a:prstGeom>
          <a:noFill/>
          <a:ln/>
        </p:spPr>
        <p:txBody>
          <a:bodyPr wrap="square" lIns="0" tIns="0" rIns="0" bIns="0" rtlCol="0" anchor="ctr"/>
          <a:lstStyle/>
          <a:p>
            <a:pPr indent="0" marL="0">
              <a:buNone/>
            </a:pPr>
            <a:r>
              <a:rPr lang="en-US" sz="1900" b="1" dirty="0">
                <a:solidFill>
                  <a:srgbClr val="1D2733"/>
                </a:solidFill>
                <a:latin typeface="Calibri" pitchFamily="34" charset="0"/>
                <a:ea typeface="Calibri" pitchFamily="34" charset="-122"/>
                <a:cs typeface="Calibri" pitchFamily="34" charset="-120"/>
              </a:rPr>
              <a:t>Drop a photo into Blob Storage</a:t>
            </a:r>
            <a:endParaRPr lang="en-US" sz="1900" dirty="0"/>
          </a:p>
        </p:txBody>
      </p:sp>
      <p:sp>
        <p:nvSpPr>
          <p:cNvPr id="8" name="Text 6"/>
          <p:cNvSpPr txBox="1"/>
          <p:nvPr/>
        </p:nvSpPr>
        <p:spPr>
          <a:xfrm>
            <a:off x="1691640" y="2377440"/>
            <a:ext cx="4023360" cy="731520"/>
          </a:xfrm>
          <a:prstGeom prst="rect">
            <a:avLst/>
          </a:prstGeom>
          <a:noFill/>
          <a:ln/>
        </p:spPr>
        <p:txBody>
          <a:bodyPr wrap="square" lIns="0" tIns="0" rIns="0" bIns="0" rtlCol="0" anchor="t"/>
          <a:lstStyle/>
          <a:p>
            <a:pPr indent="0" marL="0">
              <a:buNone/>
            </a:pPr>
            <a:r>
              <a:rPr lang="en-US" sz="1500" dirty="0">
                <a:solidFill>
                  <a:srgbClr val="3A4656"/>
                </a:solidFill>
                <a:latin typeface="Calibri" pitchFamily="34" charset="0"/>
                <a:ea typeface="Calibri" pitchFamily="34" charset="-122"/>
                <a:cs typeface="Calibri" pitchFamily="34" charset="-120"/>
              </a:rPr>
              <a:t>Upload a sample outlet photo, just like the field app would.</a:t>
            </a:r>
            <a:endParaRPr lang="en-US" sz="1500" dirty="0"/>
          </a:p>
        </p:txBody>
      </p:sp>
      <p:sp>
        <p:nvSpPr>
          <p:cNvPr id="9" name="Shape 7"/>
          <p:cNvSpPr/>
          <p:nvPr/>
        </p:nvSpPr>
        <p:spPr>
          <a:xfrm>
            <a:off x="6217920" y="1600200"/>
            <a:ext cx="5394960" cy="1691640"/>
          </a:xfrm>
          <a:prstGeom prst="roundRect">
            <a:avLst>
              <a:gd name="adj" fmla="val 6486"/>
            </a:avLst>
          </a:prstGeom>
          <a:solidFill>
            <a:srgbClr val="EEF2F6"/>
          </a:solidFill>
          <a:ln w="12700">
            <a:solidFill>
              <a:srgbClr val="EEF2F6"/>
            </a:solidFill>
            <a:prstDash val="solid"/>
          </a:ln>
        </p:spPr>
      </p:sp>
      <p:sp>
        <p:nvSpPr>
          <p:cNvPr id="10" name="Shape 8"/>
          <p:cNvSpPr/>
          <p:nvPr/>
        </p:nvSpPr>
        <p:spPr>
          <a:xfrm>
            <a:off x="6492240" y="1920240"/>
            <a:ext cx="640080" cy="640080"/>
          </a:xfrm>
          <a:prstGeom prst="ellipse">
            <a:avLst/>
          </a:prstGeom>
          <a:solidFill>
            <a:srgbClr val="F2A541"/>
          </a:solidFill>
          <a:ln w="12700">
            <a:solidFill>
              <a:srgbClr val="F2A541"/>
            </a:solidFill>
            <a:prstDash val="solid"/>
          </a:ln>
        </p:spPr>
      </p:sp>
      <p:sp>
        <p:nvSpPr>
          <p:cNvPr id="11" name="Text 9"/>
          <p:cNvSpPr txBox="1"/>
          <p:nvPr/>
        </p:nvSpPr>
        <p:spPr>
          <a:xfrm>
            <a:off x="6492240" y="1920240"/>
            <a:ext cx="640080" cy="640080"/>
          </a:xfrm>
          <a:prstGeom prst="rect">
            <a:avLst/>
          </a:prstGeom>
          <a:noFill/>
          <a:ln/>
        </p:spPr>
        <p:txBody>
          <a:bodyPr wrap="square" lIns="0" tIns="0" rIns="0" bIns="0" rtlCol="0" anchor="ctr"/>
          <a:lstStyle/>
          <a:p>
            <a:pPr algn="ctr" indent="0" marL="0">
              <a:buNone/>
            </a:pPr>
            <a:r>
              <a:rPr lang="en-US" sz="1960" b="1" dirty="0">
                <a:solidFill>
                  <a:srgbClr val="0F1720"/>
                </a:solidFill>
                <a:latin typeface="Calibri" pitchFamily="34" charset="0"/>
                <a:ea typeface="Calibri" pitchFamily="34" charset="-122"/>
                <a:cs typeface="Calibri" pitchFamily="34" charset="-120"/>
              </a:rPr>
              <a:t>2</a:t>
            </a:r>
            <a:endParaRPr lang="en-US" sz="1960" dirty="0"/>
          </a:p>
        </p:txBody>
      </p:sp>
      <p:sp>
        <p:nvSpPr>
          <p:cNvPr id="12" name="Text 10"/>
          <p:cNvSpPr txBox="1"/>
          <p:nvPr/>
        </p:nvSpPr>
        <p:spPr>
          <a:xfrm>
            <a:off x="7360920" y="1874520"/>
            <a:ext cx="4023360" cy="457200"/>
          </a:xfrm>
          <a:prstGeom prst="rect">
            <a:avLst/>
          </a:prstGeom>
          <a:noFill/>
          <a:ln/>
        </p:spPr>
        <p:txBody>
          <a:bodyPr wrap="square" lIns="0" tIns="0" rIns="0" bIns="0" rtlCol="0" anchor="ctr"/>
          <a:lstStyle/>
          <a:p>
            <a:pPr indent="0" marL="0">
              <a:buNone/>
            </a:pPr>
            <a:r>
              <a:rPr lang="en-US" sz="1900" b="1" dirty="0">
                <a:solidFill>
                  <a:srgbClr val="1D2733"/>
                </a:solidFill>
                <a:latin typeface="Calibri" pitchFamily="34" charset="0"/>
                <a:ea typeface="Calibri" pitchFamily="34" charset="-122"/>
                <a:cs typeface="Calibri" pitchFamily="34" charset="-120"/>
              </a:rPr>
              <a:t>Watch the Function trigger fire</a:t>
            </a:r>
            <a:endParaRPr lang="en-US" sz="1900" dirty="0"/>
          </a:p>
        </p:txBody>
      </p:sp>
      <p:sp>
        <p:nvSpPr>
          <p:cNvPr id="13" name="Text 11"/>
          <p:cNvSpPr txBox="1"/>
          <p:nvPr/>
        </p:nvSpPr>
        <p:spPr>
          <a:xfrm>
            <a:off x="7360920" y="2377440"/>
            <a:ext cx="4023360" cy="731520"/>
          </a:xfrm>
          <a:prstGeom prst="rect">
            <a:avLst/>
          </a:prstGeom>
          <a:noFill/>
          <a:ln/>
        </p:spPr>
        <p:txBody>
          <a:bodyPr wrap="square" lIns="0" tIns="0" rIns="0" bIns="0" rtlCol="0" anchor="t"/>
          <a:lstStyle/>
          <a:p>
            <a:pPr indent="0" marL="0">
              <a:buNone/>
            </a:pPr>
            <a:r>
              <a:rPr lang="en-US" sz="1500" dirty="0">
                <a:solidFill>
                  <a:srgbClr val="3A4656"/>
                </a:solidFill>
                <a:latin typeface="Calibri" pitchFamily="34" charset="0"/>
                <a:ea typeface="Calibri" pitchFamily="34" charset="-122"/>
                <a:cs typeface="Calibri" pitchFamily="34" charset="-120"/>
              </a:rPr>
              <a:t>Live in the Azure Portal, the moment the Event Grid subscription fires.</a:t>
            </a:r>
            <a:endParaRPr lang="en-US" sz="1500" dirty="0"/>
          </a:p>
        </p:txBody>
      </p:sp>
      <p:sp>
        <p:nvSpPr>
          <p:cNvPr id="14" name="Shape 12"/>
          <p:cNvSpPr/>
          <p:nvPr/>
        </p:nvSpPr>
        <p:spPr>
          <a:xfrm>
            <a:off x="548640" y="3566160"/>
            <a:ext cx="5394960" cy="1691640"/>
          </a:xfrm>
          <a:prstGeom prst="roundRect">
            <a:avLst>
              <a:gd name="adj" fmla="val 6486"/>
            </a:avLst>
          </a:prstGeom>
          <a:solidFill>
            <a:srgbClr val="EEF2F6"/>
          </a:solidFill>
          <a:ln w="12700">
            <a:solidFill>
              <a:srgbClr val="EEF2F6"/>
            </a:solidFill>
            <a:prstDash val="solid"/>
          </a:ln>
        </p:spPr>
      </p:sp>
      <p:sp>
        <p:nvSpPr>
          <p:cNvPr id="15" name="Shape 13"/>
          <p:cNvSpPr/>
          <p:nvPr/>
        </p:nvSpPr>
        <p:spPr>
          <a:xfrm>
            <a:off x="822960" y="3886200"/>
            <a:ext cx="640080" cy="640080"/>
          </a:xfrm>
          <a:prstGeom prst="ellipse">
            <a:avLst/>
          </a:prstGeom>
          <a:solidFill>
            <a:srgbClr val="F2A541"/>
          </a:solidFill>
          <a:ln w="12700">
            <a:solidFill>
              <a:srgbClr val="F2A541"/>
            </a:solidFill>
            <a:prstDash val="solid"/>
          </a:ln>
        </p:spPr>
      </p:sp>
      <p:sp>
        <p:nvSpPr>
          <p:cNvPr id="16" name="Text 14"/>
          <p:cNvSpPr txBox="1"/>
          <p:nvPr/>
        </p:nvSpPr>
        <p:spPr>
          <a:xfrm>
            <a:off x="822960" y="3886200"/>
            <a:ext cx="640080" cy="640080"/>
          </a:xfrm>
          <a:prstGeom prst="rect">
            <a:avLst/>
          </a:prstGeom>
          <a:noFill/>
          <a:ln/>
        </p:spPr>
        <p:txBody>
          <a:bodyPr wrap="square" lIns="0" tIns="0" rIns="0" bIns="0" rtlCol="0" anchor="ctr"/>
          <a:lstStyle/>
          <a:p>
            <a:pPr algn="ctr" indent="0" marL="0">
              <a:buNone/>
            </a:pPr>
            <a:r>
              <a:rPr lang="en-US" sz="1960" b="1" dirty="0">
                <a:solidFill>
                  <a:srgbClr val="0F1720"/>
                </a:solidFill>
                <a:latin typeface="Calibri" pitchFamily="34" charset="0"/>
                <a:ea typeface="Calibri" pitchFamily="34" charset="-122"/>
                <a:cs typeface="Calibri" pitchFamily="34" charset="-120"/>
              </a:rPr>
              <a:t>3</a:t>
            </a:r>
            <a:endParaRPr lang="en-US" sz="1960" dirty="0"/>
          </a:p>
        </p:txBody>
      </p:sp>
      <p:sp>
        <p:nvSpPr>
          <p:cNvPr id="17" name="Text 15"/>
          <p:cNvSpPr txBox="1"/>
          <p:nvPr/>
        </p:nvSpPr>
        <p:spPr>
          <a:xfrm>
            <a:off x="1691640" y="3840480"/>
            <a:ext cx="4023360" cy="457200"/>
          </a:xfrm>
          <a:prstGeom prst="rect">
            <a:avLst/>
          </a:prstGeom>
          <a:noFill/>
          <a:ln/>
        </p:spPr>
        <p:txBody>
          <a:bodyPr wrap="square" lIns="0" tIns="0" rIns="0" bIns="0" rtlCol="0" anchor="ctr"/>
          <a:lstStyle/>
          <a:p>
            <a:pPr indent="0" marL="0">
              <a:buNone/>
            </a:pPr>
            <a:r>
              <a:rPr lang="en-US" sz="1900" b="1" dirty="0">
                <a:solidFill>
                  <a:srgbClr val="1D2733"/>
                </a:solidFill>
                <a:latin typeface="Calibri" pitchFamily="34" charset="0"/>
                <a:ea typeface="Calibri" pitchFamily="34" charset="-122"/>
                <a:cs typeface="Calibri" pitchFamily="34" charset="-120"/>
              </a:rPr>
              <a:t>See the vision model respond</a:t>
            </a:r>
            <a:endParaRPr lang="en-US" sz="1900" dirty="0"/>
          </a:p>
        </p:txBody>
      </p:sp>
      <p:sp>
        <p:nvSpPr>
          <p:cNvPr id="18" name="Text 16"/>
          <p:cNvSpPr txBox="1"/>
          <p:nvPr/>
        </p:nvSpPr>
        <p:spPr>
          <a:xfrm>
            <a:off x="1691640" y="4343400"/>
            <a:ext cx="4023360" cy="731520"/>
          </a:xfrm>
          <a:prstGeom prst="rect">
            <a:avLst/>
          </a:prstGeom>
          <a:noFill/>
          <a:ln/>
        </p:spPr>
        <p:txBody>
          <a:bodyPr wrap="square" lIns="0" tIns="0" rIns="0" bIns="0" rtlCol="0" anchor="t"/>
          <a:lstStyle/>
          <a:p>
            <a:pPr indent="0" marL="0">
              <a:buNone/>
            </a:pPr>
            <a:r>
              <a:rPr lang="en-US" sz="1500" dirty="0">
                <a:solidFill>
                  <a:srgbClr val="3A4656"/>
                </a:solidFill>
                <a:latin typeface="Calibri" pitchFamily="34" charset="0"/>
                <a:ea typeface="Calibri" pitchFamily="34" charset="-122"/>
                <a:cs typeface="Calibri" pitchFamily="34" charset="-120"/>
              </a:rPr>
              <a:t>Shop or Not-Shop, scored by Mistral Medium 2505 with a confidence value.</a:t>
            </a:r>
            <a:endParaRPr lang="en-US" sz="1500" dirty="0"/>
          </a:p>
        </p:txBody>
      </p:sp>
      <p:sp>
        <p:nvSpPr>
          <p:cNvPr id="19" name="Shape 17"/>
          <p:cNvSpPr/>
          <p:nvPr/>
        </p:nvSpPr>
        <p:spPr>
          <a:xfrm>
            <a:off x="6217920" y="3566160"/>
            <a:ext cx="5394960" cy="1691640"/>
          </a:xfrm>
          <a:prstGeom prst="roundRect">
            <a:avLst>
              <a:gd name="adj" fmla="val 6486"/>
            </a:avLst>
          </a:prstGeom>
          <a:solidFill>
            <a:srgbClr val="EEF2F6"/>
          </a:solidFill>
          <a:ln w="12700">
            <a:solidFill>
              <a:srgbClr val="EEF2F6"/>
            </a:solidFill>
            <a:prstDash val="solid"/>
          </a:ln>
        </p:spPr>
      </p:sp>
      <p:sp>
        <p:nvSpPr>
          <p:cNvPr id="20" name="Shape 18"/>
          <p:cNvSpPr/>
          <p:nvPr/>
        </p:nvSpPr>
        <p:spPr>
          <a:xfrm>
            <a:off x="6492240" y="3886200"/>
            <a:ext cx="640080" cy="640080"/>
          </a:xfrm>
          <a:prstGeom prst="ellipse">
            <a:avLst/>
          </a:prstGeom>
          <a:solidFill>
            <a:srgbClr val="F2A541"/>
          </a:solidFill>
          <a:ln w="12700">
            <a:solidFill>
              <a:srgbClr val="F2A541"/>
            </a:solidFill>
            <a:prstDash val="solid"/>
          </a:ln>
        </p:spPr>
      </p:sp>
      <p:sp>
        <p:nvSpPr>
          <p:cNvPr id="21" name="Text 19"/>
          <p:cNvSpPr txBox="1"/>
          <p:nvPr/>
        </p:nvSpPr>
        <p:spPr>
          <a:xfrm>
            <a:off x="6492240" y="3886200"/>
            <a:ext cx="640080" cy="640080"/>
          </a:xfrm>
          <a:prstGeom prst="rect">
            <a:avLst/>
          </a:prstGeom>
          <a:noFill/>
          <a:ln/>
        </p:spPr>
        <p:txBody>
          <a:bodyPr wrap="square" lIns="0" tIns="0" rIns="0" bIns="0" rtlCol="0" anchor="ctr"/>
          <a:lstStyle/>
          <a:p>
            <a:pPr algn="ctr" indent="0" marL="0">
              <a:buNone/>
            </a:pPr>
            <a:r>
              <a:rPr lang="en-US" sz="1960" b="1" dirty="0">
                <a:solidFill>
                  <a:srgbClr val="0F1720"/>
                </a:solidFill>
                <a:latin typeface="Calibri" pitchFamily="34" charset="0"/>
                <a:ea typeface="Calibri" pitchFamily="34" charset="-122"/>
                <a:cs typeface="Calibri" pitchFamily="34" charset="-120"/>
              </a:rPr>
              <a:t>4</a:t>
            </a:r>
            <a:endParaRPr lang="en-US" sz="1960" dirty="0"/>
          </a:p>
        </p:txBody>
      </p:sp>
      <p:sp>
        <p:nvSpPr>
          <p:cNvPr id="22" name="Text 20"/>
          <p:cNvSpPr txBox="1"/>
          <p:nvPr/>
        </p:nvSpPr>
        <p:spPr>
          <a:xfrm>
            <a:off x="7360920" y="3840480"/>
            <a:ext cx="4023360" cy="457200"/>
          </a:xfrm>
          <a:prstGeom prst="rect">
            <a:avLst/>
          </a:prstGeom>
          <a:noFill/>
          <a:ln/>
        </p:spPr>
        <p:txBody>
          <a:bodyPr wrap="square" lIns="0" tIns="0" rIns="0" bIns="0" rtlCol="0" anchor="ctr"/>
          <a:lstStyle/>
          <a:p>
            <a:pPr indent="0" marL="0">
              <a:buNone/>
            </a:pPr>
            <a:r>
              <a:rPr lang="en-US" sz="1900" b="1" dirty="0">
                <a:solidFill>
                  <a:srgbClr val="1D2733"/>
                </a:solidFill>
                <a:latin typeface="Calibri" pitchFamily="34" charset="0"/>
                <a:ea typeface="Calibri" pitchFamily="34" charset="-122"/>
                <a:cs typeface="Calibri" pitchFamily="34" charset="-120"/>
              </a:rPr>
              <a:t>Confirm the record in Cosmos DB</a:t>
            </a:r>
            <a:endParaRPr lang="en-US" sz="1900" dirty="0"/>
          </a:p>
        </p:txBody>
      </p:sp>
      <p:sp>
        <p:nvSpPr>
          <p:cNvPr id="23" name="Text 21"/>
          <p:cNvSpPr txBox="1"/>
          <p:nvPr/>
        </p:nvSpPr>
        <p:spPr>
          <a:xfrm>
            <a:off x="7360920" y="4343400"/>
            <a:ext cx="4023360" cy="731520"/>
          </a:xfrm>
          <a:prstGeom prst="rect">
            <a:avLst/>
          </a:prstGeom>
          <a:noFill/>
          <a:ln/>
        </p:spPr>
        <p:txBody>
          <a:bodyPr wrap="square" lIns="0" tIns="0" rIns="0" bIns="0" rtlCol="0" anchor="t"/>
          <a:lstStyle/>
          <a:p>
            <a:pPr indent="0" marL="0">
              <a:buNone/>
            </a:pPr>
            <a:r>
              <a:rPr lang="en-US" sz="1500" dirty="0">
                <a:solidFill>
                  <a:srgbClr val="3A4656"/>
                </a:solidFill>
                <a:latin typeface="Calibri" pitchFamily="34" charset="0"/>
                <a:ea typeface="Calibri" pitchFamily="34" charset="-122"/>
                <a:cs typeface="Calibri" pitchFamily="34" charset="-120"/>
              </a:rPr>
              <a:t>Classification and metadata land against the outlet record.</a:t>
            </a:r>
            <a:endParaRPr lang="en-US" sz="1500" dirty="0"/>
          </a:p>
        </p:txBody>
      </p:sp>
      <p:sp>
        <p:nvSpPr>
          <p:cNvPr id="24" name="Shape 22"/>
          <p:cNvSpPr/>
          <p:nvPr/>
        </p:nvSpPr>
        <p:spPr>
          <a:xfrm>
            <a:off x="548640" y="5715000"/>
            <a:ext cx="11064240" cy="731520"/>
          </a:xfrm>
          <a:prstGeom prst="roundRect">
            <a:avLst>
              <a:gd name="adj" fmla="val 15000"/>
            </a:avLst>
          </a:prstGeom>
          <a:solidFill>
            <a:srgbClr val="0F1720"/>
          </a:solidFill>
          <a:ln w="12700">
            <a:solidFill>
              <a:srgbClr val="0F1720"/>
            </a:solidFill>
            <a:prstDash val="solid"/>
          </a:ln>
        </p:spPr>
      </p:sp>
      <p:sp>
        <p:nvSpPr>
          <p:cNvPr id="25" name="Shape 23"/>
          <p:cNvSpPr/>
          <p:nvPr/>
        </p:nvSpPr>
        <p:spPr>
          <a:xfrm>
            <a:off x="713232" y="5815584"/>
            <a:ext cx="530352" cy="530352"/>
          </a:xfrm>
          <a:prstGeom prst="ellipse">
            <a:avLst/>
          </a:prstGeom>
          <a:solidFill>
            <a:srgbClr val="2BB3A3"/>
          </a:solidFill>
          <a:ln w="12700">
            <a:solidFill>
              <a:srgbClr val="2BB3A3"/>
            </a:solidFill>
            <a:prstDash val="solid"/>
          </a:ln>
        </p:spPr>
      </p:sp>
      <p:pic>
        <p:nvPicPr>
          <p:cNvPr id="26" name="Image 0" descr="/home/claude/azure/media/w/s10_26.png">    </p:cNvPr>
          <p:cNvPicPr>
            <a:picLocks noChangeAspect="1"/>
          </p:cNvPicPr>
          <p:nvPr/>
        </p:nvPicPr>
        <p:blipFill>
          <a:blip r:embed="rId1"/>
          <a:stretch>
            <a:fillRect/>
          </a:stretch>
        </p:blipFill>
        <p:spPr>
          <a:xfrm>
            <a:off x="845820" y="5948172"/>
            <a:ext cx="265176" cy="265176"/>
          </a:xfrm>
          <a:prstGeom prst="rect">
            <a:avLst/>
          </a:prstGeom>
        </p:spPr>
      </p:pic>
      <p:sp>
        <p:nvSpPr>
          <p:cNvPr id="27" name="Text 24"/>
          <p:cNvSpPr txBox="1"/>
          <p:nvPr/>
        </p:nvSpPr>
        <p:spPr>
          <a:xfrm>
            <a:off x="1417320" y="5715000"/>
            <a:ext cx="10058400" cy="731520"/>
          </a:xfrm>
          <a:prstGeom prst="rect">
            <a:avLst/>
          </a:prstGeom>
          <a:noFill/>
          <a:ln/>
        </p:spPr>
        <p:txBody>
          <a:bodyPr wrap="square" lIns="0" tIns="0" rIns="0" bIns="0" rtlCol="0" anchor="ctr"/>
          <a:lstStyle/>
          <a:p>
            <a:pPr indent="0" marL="0">
              <a:buNone/>
            </a:pPr>
            <a:r>
              <a:rPr lang="en-US" sz="1700" b="1" dirty="0">
                <a:solidFill>
                  <a:srgbClr val="F2A541"/>
                </a:solidFill>
                <a:latin typeface="Calibri" pitchFamily="34" charset="0"/>
                <a:ea typeface="Calibri" pitchFamily="34" charset="-122"/>
                <a:cs typeface="Calibri" pitchFamily="34" charset="-120"/>
              </a:rPr>
              <a:t>Code: </a:t>
            </a:r>
            <a:pPr indent="0" marL="0">
              <a:buNone/>
            </a:pPr>
            <a:r>
              <a:rPr lang="en-US" sz="17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https://github.com/adilakshmivadavalli/drop_trigger_classify.git</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92608"/>
          </a:xfrm>
          <a:prstGeom prst="rect">
            <a:avLst/>
          </a:prstGeom>
          <a:noFill/>
          <a:ln/>
        </p:spPr>
        <p:txBody>
          <a:bodyPr wrap="square" lIns="0" tIns="0" rIns="0" bIns="0" rtlCol="0" anchor="ctr"/>
          <a:lstStyle/>
          <a:p>
            <a:pPr indent="0" marL="0">
              <a:buNone/>
            </a:pPr>
            <a:r>
              <a:rPr lang="en-US" sz="1300" b="1" spc="300" kern="0" dirty="0">
                <a:solidFill>
                  <a:srgbClr val="F2A541"/>
                </a:solidFill>
                <a:latin typeface="Calibri" pitchFamily="34" charset="0"/>
                <a:ea typeface="Calibri" pitchFamily="34" charset="-122"/>
                <a:cs typeface="Calibri" pitchFamily="34" charset="-120"/>
              </a:rPr>
              <a:t>03 · LIVE DEMO</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D2733"/>
                </a:solidFill>
                <a:latin typeface="Cambria" pitchFamily="34" charset="0"/>
                <a:ea typeface="Cambria" pitchFamily="34" charset="-122"/>
                <a:cs typeface="Cambria" pitchFamily="34" charset="-120"/>
              </a:rPr>
              <a:t>Recorded Walkthrough</a:t>
            </a:r>
            <a:endParaRPr lang="en-US" sz="3200" dirty="0"/>
          </a:p>
        </p:txBody>
      </p:sp>
      <p:sp>
        <p:nvSpPr>
          <p:cNvPr id="4" name="Shape 2"/>
          <p:cNvSpPr/>
          <p:nvPr/>
        </p:nvSpPr>
        <p:spPr>
          <a:xfrm>
            <a:off x="956920" y="1444752"/>
            <a:ext cx="10277856" cy="4865073"/>
          </a:xfrm>
          <a:prstGeom prst="roundRect">
            <a:avLst>
              <a:gd name="adj" fmla="val 2255"/>
            </a:avLst>
          </a:prstGeom>
          <a:solidFill>
            <a:srgbClr val="0F1720"/>
          </a:solidFill>
          <a:ln w="12700">
            <a:solidFill>
              <a:srgbClr val="0F1720"/>
            </a:solidFill>
            <a:prstDash val="solid"/>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066648" y="1554480"/>
            <a:ext cx="10058400" cy="4645617"/>
          </a:xfrm>
          <a:prstGeom prst="rect">
            <a:avLst/>
          </a:prstGeom>
        </p:spPr>
      </p:pic>
      <p:sp>
        <p:nvSpPr>
          <p:cNvPr id="6" name="Text 3"/>
          <p:cNvSpPr txBox="1"/>
          <p:nvPr/>
        </p:nvSpPr>
        <p:spPr>
          <a:xfrm>
            <a:off x="548640" y="6428697"/>
            <a:ext cx="11064240" cy="411480"/>
          </a:xfrm>
          <a:prstGeom prst="rect">
            <a:avLst/>
          </a:prstGeom>
          <a:noFill/>
          <a:ln/>
        </p:spPr>
        <p:txBody>
          <a:bodyPr wrap="square" lIns="0" tIns="0" rIns="0" bIns="0" rtlCol="0" anchor="ctr"/>
          <a:lstStyle/>
          <a:p>
            <a:pPr algn="ctr" indent="0" marL="0">
              <a:buNone/>
            </a:pPr>
            <a:r>
              <a:rPr lang="en-US" sz="1600" i="1" dirty="0">
                <a:solidFill>
                  <a:srgbClr val="3A4656"/>
                </a:solidFill>
                <a:latin typeface="Calibri" pitchFamily="34" charset="0"/>
                <a:ea typeface="Calibri" pitchFamily="34" charset="-122"/>
                <a:cs typeface="Calibri" pitchFamily="34" charset="-120"/>
              </a:rPr>
              <a:t>An outlet photo goes in, a Shop / Not-Shop verdict comes out — in under a second.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92608"/>
          </a:xfrm>
          <a:prstGeom prst="rect">
            <a:avLst/>
          </a:prstGeom>
          <a:noFill/>
          <a:ln/>
        </p:spPr>
        <p:txBody>
          <a:bodyPr wrap="square" lIns="0" tIns="0" rIns="0" bIns="0" rtlCol="0" anchor="ctr"/>
          <a:lstStyle/>
          <a:p>
            <a:pPr indent="0" marL="0">
              <a:buNone/>
            </a:pPr>
            <a:r>
              <a:rPr lang="en-US" sz="1300" b="1" spc="300" kern="0" dirty="0">
                <a:solidFill>
                  <a:srgbClr val="2BB3A3"/>
                </a:solidFill>
                <a:latin typeface="Calibri" pitchFamily="34" charset="0"/>
                <a:ea typeface="Calibri" pitchFamily="34" charset="-122"/>
                <a:cs typeface="Calibri" pitchFamily="34" charset="-120"/>
              </a:rPr>
              <a:t>04 · SCALING &amp; AGENTIC AI</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D2733"/>
                </a:solidFill>
                <a:latin typeface="Cambria" pitchFamily="34" charset="0"/>
                <a:ea typeface="Cambria" pitchFamily="34" charset="-122"/>
                <a:cs typeface="Cambria" pitchFamily="34" charset="-120"/>
              </a:rPr>
              <a:t>What Breaks When Volume Grows 10–100×</a:t>
            </a:r>
            <a:endParaRPr lang="en-US" sz="3200" dirty="0"/>
          </a:p>
        </p:txBody>
      </p:sp>
      <p:sp>
        <p:nvSpPr>
          <p:cNvPr id="4" name="Shape 2"/>
          <p:cNvSpPr/>
          <p:nvPr/>
        </p:nvSpPr>
        <p:spPr>
          <a:xfrm>
            <a:off x="548640" y="1691640"/>
            <a:ext cx="2606040" cy="3657600"/>
          </a:xfrm>
          <a:prstGeom prst="roundRect">
            <a:avLst>
              <a:gd name="adj" fmla="val 4211"/>
            </a:avLst>
          </a:prstGeom>
          <a:solidFill>
            <a:srgbClr val="FCEBEC"/>
          </a:solidFill>
          <a:ln w="12700">
            <a:solidFill>
              <a:srgbClr val="FCEBEC"/>
            </a:solidFill>
            <a:prstDash val="solid"/>
          </a:ln>
        </p:spPr>
      </p:sp>
      <p:sp>
        <p:nvSpPr>
          <p:cNvPr id="5" name="Shape 3"/>
          <p:cNvSpPr/>
          <p:nvPr/>
        </p:nvSpPr>
        <p:spPr>
          <a:xfrm>
            <a:off x="822960" y="1965960"/>
            <a:ext cx="731520" cy="731520"/>
          </a:xfrm>
          <a:prstGeom prst="ellipse">
            <a:avLst/>
          </a:prstGeom>
          <a:solidFill>
            <a:srgbClr val="E0565B"/>
          </a:solidFill>
          <a:ln w="12700">
            <a:solidFill>
              <a:srgbClr val="E0565B"/>
            </a:solidFill>
            <a:prstDash val="solid"/>
          </a:ln>
        </p:spPr>
      </p:sp>
      <p:pic>
        <p:nvPicPr>
          <p:cNvPr id="6" name="Image 0" descr="/home/claude/azure/media/w/s12_6.png">    </p:cNvPr>
          <p:cNvPicPr>
            <a:picLocks noChangeAspect="1"/>
          </p:cNvPicPr>
          <p:nvPr/>
        </p:nvPicPr>
        <p:blipFill>
          <a:blip r:embed="rId1"/>
          <a:stretch>
            <a:fillRect/>
          </a:stretch>
        </p:blipFill>
        <p:spPr>
          <a:xfrm>
            <a:off x="1005840" y="2148840"/>
            <a:ext cx="365760" cy="365760"/>
          </a:xfrm>
          <a:prstGeom prst="rect">
            <a:avLst/>
          </a:prstGeom>
        </p:spPr>
      </p:pic>
      <p:sp>
        <p:nvSpPr>
          <p:cNvPr id="7" name="Text 4"/>
          <p:cNvSpPr txBox="1"/>
          <p:nvPr/>
        </p:nvSpPr>
        <p:spPr>
          <a:xfrm>
            <a:off x="822960" y="2926080"/>
            <a:ext cx="2057400" cy="777240"/>
          </a:xfrm>
          <a:prstGeom prst="rect">
            <a:avLst/>
          </a:prstGeom>
          <a:noFill/>
          <a:ln/>
        </p:spPr>
        <p:txBody>
          <a:bodyPr wrap="square" lIns="0" tIns="0" rIns="0" bIns="0" rtlCol="0" anchor="t"/>
          <a:lstStyle/>
          <a:p>
            <a:pPr indent="0" marL="0">
              <a:buNone/>
            </a:pPr>
            <a:r>
              <a:rPr lang="en-US" sz="1800" b="1" dirty="0">
                <a:solidFill>
                  <a:srgbClr val="1D2733"/>
                </a:solidFill>
                <a:latin typeface="Calibri" pitchFamily="34" charset="0"/>
                <a:ea typeface="Calibri" pitchFamily="34" charset="-122"/>
                <a:cs typeface="Calibri" pitchFamily="34" charset="-120"/>
              </a:rPr>
              <a:t>Model Throughput Limits</a:t>
            </a:r>
            <a:endParaRPr lang="en-US" sz="1800" dirty="0"/>
          </a:p>
        </p:txBody>
      </p:sp>
      <p:sp>
        <p:nvSpPr>
          <p:cNvPr id="8" name="Text 5"/>
          <p:cNvSpPr txBox="1"/>
          <p:nvPr/>
        </p:nvSpPr>
        <p:spPr>
          <a:xfrm>
            <a:off x="822960" y="3794760"/>
            <a:ext cx="2057400" cy="1828800"/>
          </a:xfrm>
          <a:prstGeom prst="rect">
            <a:avLst/>
          </a:prstGeom>
          <a:noFill/>
          <a:ln/>
        </p:spPr>
        <p:txBody>
          <a:bodyPr wrap="square" lIns="0" tIns="0" rIns="0" bIns="0" rtlCol="0" anchor="t"/>
          <a:lstStyle/>
          <a:p>
            <a:pPr indent="0" marL="0">
              <a:buNone/>
            </a:pPr>
            <a:r>
              <a:rPr lang="en-US" sz="1500" dirty="0">
                <a:solidFill>
                  <a:srgbClr val="3A4656"/>
                </a:solidFill>
                <a:latin typeface="Calibri" pitchFamily="34" charset="0"/>
                <a:ea typeface="Calibri" pitchFamily="34" charset="-122"/>
                <a:cs typeface="Calibri" pitchFamily="34" charset="-120"/>
              </a:rPr>
              <a:t>Vision-model calls hit token and rate quotas under bursty load.</a:t>
            </a:r>
            <a:endParaRPr lang="en-US" sz="1500" dirty="0"/>
          </a:p>
        </p:txBody>
      </p:sp>
      <p:sp>
        <p:nvSpPr>
          <p:cNvPr id="9" name="Shape 6"/>
          <p:cNvSpPr/>
          <p:nvPr/>
        </p:nvSpPr>
        <p:spPr>
          <a:xfrm>
            <a:off x="3367735" y="1691640"/>
            <a:ext cx="2606040" cy="3657600"/>
          </a:xfrm>
          <a:prstGeom prst="roundRect">
            <a:avLst>
              <a:gd name="adj" fmla="val 4211"/>
            </a:avLst>
          </a:prstGeom>
          <a:solidFill>
            <a:srgbClr val="FCEBEC"/>
          </a:solidFill>
          <a:ln w="12700">
            <a:solidFill>
              <a:srgbClr val="FCEBEC"/>
            </a:solidFill>
            <a:prstDash val="solid"/>
          </a:ln>
        </p:spPr>
      </p:sp>
      <p:sp>
        <p:nvSpPr>
          <p:cNvPr id="10" name="Shape 7"/>
          <p:cNvSpPr/>
          <p:nvPr/>
        </p:nvSpPr>
        <p:spPr>
          <a:xfrm>
            <a:off x="3642055" y="1965960"/>
            <a:ext cx="731520" cy="731520"/>
          </a:xfrm>
          <a:prstGeom prst="ellipse">
            <a:avLst/>
          </a:prstGeom>
          <a:solidFill>
            <a:srgbClr val="E0565B"/>
          </a:solidFill>
          <a:ln w="12700">
            <a:solidFill>
              <a:srgbClr val="E0565B"/>
            </a:solidFill>
            <a:prstDash val="solid"/>
          </a:ln>
        </p:spPr>
      </p:sp>
      <p:pic>
        <p:nvPicPr>
          <p:cNvPr id="11" name="Image 1" descr="/home/claude/azure/media/w/s12_11.png">    </p:cNvPr>
          <p:cNvPicPr>
            <a:picLocks noChangeAspect="1"/>
          </p:cNvPicPr>
          <p:nvPr/>
        </p:nvPicPr>
        <p:blipFill>
          <a:blip r:embed="rId2"/>
          <a:stretch>
            <a:fillRect/>
          </a:stretch>
        </p:blipFill>
        <p:spPr>
          <a:xfrm>
            <a:off x="3824935" y="2148840"/>
            <a:ext cx="365760" cy="365760"/>
          </a:xfrm>
          <a:prstGeom prst="rect">
            <a:avLst/>
          </a:prstGeom>
        </p:spPr>
      </p:pic>
      <p:sp>
        <p:nvSpPr>
          <p:cNvPr id="12" name="Text 8"/>
          <p:cNvSpPr txBox="1"/>
          <p:nvPr/>
        </p:nvSpPr>
        <p:spPr>
          <a:xfrm>
            <a:off x="3642055" y="2926080"/>
            <a:ext cx="2057400" cy="777240"/>
          </a:xfrm>
          <a:prstGeom prst="rect">
            <a:avLst/>
          </a:prstGeom>
          <a:noFill/>
          <a:ln/>
        </p:spPr>
        <p:txBody>
          <a:bodyPr wrap="square" lIns="0" tIns="0" rIns="0" bIns="0" rtlCol="0" anchor="t"/>
          <a:lstStyle/>
          <a:p>
            <a:pPr indent="0" marL="0">
              <a:buNone/>
            </a:pPr>
            <a:r>
              <a:rPr lang="en-US" sz="1800" b="1" dirty="0">
                <a:solidFill>
                  <a:srgbClr val="1D2733"/>
                </a:solidFill>
                <a:latin typeface="Calibri" pitchFamily="34" charset="0"/>
                <a:ea typeface="Calibri" pitchFamily="34" charset="-122"/>
                <a:cs typeface="Calibri" pitchFamily="34" charset="-120"/>
              </a:rPr>
              <a:t>One Function, One Job</a:t>
            </a:r>
            <a:endParaRPr lang="en-US" sz="1800" dirty="0"/>
          </a:p>
        </p:txBody>
      </p:sp>
      <p:sp>
        <p:nvSpPr>
          <p:cNvPr id="13" name="Text 9"/>
          <p:cNvSpPr txBox="1"/>
          <p:nvPr/>
        </p:nvSpPr>
        <p:spPr>
          <a:xfrm>
            <a:off x="3642055" y="3794760"/>
            <a:ext cx="2057400" cy="1828800"/>
          </a:xfrm>
          <a:prstGeom prst="rect">
            <a:avLst/>
          </a:prstGeom>
          <a:noFill/>
          <a:ln/>
        </p:spPr>
        <p:txBody>
          <a:bodyPr wrap="square" lIns="0" tIns="0" rIns="0" bIns="0" rtlCol="0" anchor="t"/>
          <a:lstStyle/>
          <a:p>
            <a:pPr indent="0" marL="0">
              <a:buNone/>
            </a:pPr>
            <a:r>
              <a:rPr lang="en-US" sz="1500" dirty="0">
                <a:solidFill>
                  <a:srgbClr val="3A4656"/>
                </a:solidFill>
                <a:latin typeface="Calibri" pitchFamily="34" charset="0"/>
                <a:ea typeface="Calibri" pitchFamily="34" charset="-122"/>
                <a:cs typeface="Calibri" pitchFamily="34" charset="-120"/>
              </a:rPr>
              <a:t>A single classify-and-store function turns into a monolith as more checks are added.</a:t>
            </a:r>
            <a:endParaRPr lang="en-US" sz="1500" dirty="0"/>
          </a:p>
        </p:txBody>
      </p:sp>
      <p:sp>
        <p:nvSpPr>
          <p:cNvPr id="14" name="Shape 10"/>
          <p:cNvSpPr/>
          <p:nvPr/>
        </p:nvSpPr>
        <p:spPr>
          <a:xfrm>
            <a:off x="6186830" y="1691640"/>
            <a:ext cx="2606040" cy="3657600"/>
          </a:xfrm>
          <a:prstGeom prst="roundRect">
            <a:avLst>
              <a:gd name="adj" fmla="val 4211"/>
            </a:avLst>
          </a:prstGeom>
          <a:solidFill>
            <a:srgbClr val="FCEBEC"/>
          </a:solidFill>
          <a:ln w="12700">
            <a:solidFill>
              <a:srgbClr val="FCEBEC"/>
            </a:solidFill>
            <a:prstDash val="solid"/>
          </a:ln>
        </p:spPr>
      </p:sp>
      <p:sp>
        <p:nvSpPr>
          <p:cNvPr id="15" name="Shape 11"/>
          <p:cNvSpPr/>
          <p:nvPr/>
        </p:nvSpPr>
        <p:spPr>
          <a:xfrm>
            <a:off x="6461150" y="1965960"/>
            <a:ext cx="731520" cy="731520"/>
          </a:xfrm>
          <a:prstGeom prst="ellipse">
            <a:avLst/>
          </a:prstGeom>
          <a:solidFill>
            <a:srgbClr val="E0565B"/>
          </a:solidFill>
          <a:ln w="12700">
            <a:solidFill>
              <a:srgbClr val="E0565B"/>
            </a:solidFill>
            <a:prstDash val="solid"/>
          </a:ln>
        </p:spPr>
      </p:sp>
      <p:pic>
        <p:nvPicPr>
          <p:cNvPr id="16" name="Image 2" descr="/home/claude/azure/media/w/s12_16.png">    </p:cNvPr>
          <p:cNvPicPr>
            <a:picLocks noChangeAspect="1"/>
          </p:cNvPicPr>
          <p:nvPr/>
        </p:nvPicPr>
        <p:blipFill>
          <a:blip r:embed="rId3"/>
          <a:stretch>
            <a:fillRect/>
          </a:stretch>
        </p:blipFill>
        <p:spPr>
          <a:xfrm>
            <a:off x="6644030" y="2148840"/>
            <a:ext cx="365760" cy="365760"/>
          </a:xfrm>
          <a:prstGeom prst="rect">
            <a:avLst/>
          </a:prstGeom>
        </p:spPr>
      </p:pic>
      <p:sp>
        <p:nvSpPr>
          <p:cNvPr id="17" name="Text 12"/>
          <p:cNvSpPr txBox="1"/>
          <p:nvPr/>
        </p:nvSpPr>
        <p:spPr>
          <a:xfrm>
            <a:off x="6461150" y="2926080"/>
            <a:ext cx="2057400" cy="777240"/>
          </a:xfrm>
          <a:prstGeom prst="rect">
            <a:avLst/>
          </a:prstGeom>
          <a:noFill/>
          <a:ln/>
        </p:spPr>
        <p:txBody>
          <a:bodyPr wrap="square" lIns="0" tIns="0" rIns="0" bIns="0" rtlCol="0" anchor="t"/>
          <a:lstStyle/>
          <a:p>
            <a:pPr indent="0" marL="0">
              <a:buNone/>
            </a:pPr>
            <a:r>
              <a:rPr lang="en-US" sz="1800" b="1" dirty="0">
                <a:solidFill>
                  <a:srgbClr val="1D2733"/>
                </a:solidFill>
                <a:latin typeface="Calibri" pitchFamily="34" charset="0"/>
                <a:ea typeface="Calibri" pitchFamily="34" charset="-122"/>
                <a:cs typeface="Calibri" pitchFamily="34" charset="-120"/>
              </a:rPr>
              <a:t>No Path for Judgment Calls</a:t>
            </a:r>
            <a:endParaRPr lang="en-US" sz="1800" dirty="0"/>
          </a:p>
        </p:txBody>
      </p:sp>
      <p:sp>
        <p:nvSpPr>
          <p:cNvPr id="18" name="Text 13"/>
          <p:cNvSpPr txBox="1"/>
          <p:nvPr/>
        </p:nvSpPr>
        <p:spPr>
          <a:xfrm>
            <a:off x="6461150" y="3794760"/>
            <a:ext cx="2057400" cy="1828800"/>
          </a:xfrm>
          <a:prstGeom prst="rect">
            <a:avLst/>
          </a:prstGeom>
          <a:noFill/>
          <a:ln/>
        </p:spPr>
        <p:txBody>
          <a:bodyPr wrap="square" lIns="0" tIns="0" rIns="0" bIns="0" rtlCol="0" anchor="t"/>
          <a:lstStyle/>
          <a:p>
            <a:pPr indent="0" marL="0">
              <a:buNone/>
            </a:pPr>
            <a:r>
              <a:rPr lang="en-US" sz="1500" dirty="0">
                <a:solidFill>
                  <a:srgbClr val="3A4656"/>
                </a:solidFill>
                <a:latin typeface="Calibri" pitchFamily="34" charset="0"/>
                <a:ea typeface="Calibri" pitchFamily="34" charset="-122"/>
                <a:cs typeface="Calibri" pitchFamily="34" charset="-120"/>
              </a:rPr>
              <a:t>Low-confidence images still need a human, but there’s no structured hand-off.</a:t>
            </a:r>
            <a:endParaRPr lang="en-US" sz="1500" dirty="0"/>
          </a:p>
        </p:txBody>
      </p:sp>
      <p:sp>
        <p:nvSpPr>
          <p:cNvPr id="19" name="Shape 14"/>
          <p:cNvSpPr/>
          <p:nvPr/>
        </p:nvSpPr>
        <p:spPr>
          <a:xfrm>
            <a:off x="9005926" y="1691640"/>
            <a:ext cx="2606040" cy="3657600"/>
          </a:xfrm>
          <a:prstGeom prst="roundRect">
            <a:avLst>
              <a:gd name="adj" fmla="val 4211"/>
            </a:avLst>
          </a:prstGeom>
          <a:solidFill>
            <a:srgbClr val="FCEBEC"/>
          </a:solidFill>
          <a:ln w="12700">
            <a:solidFill>
              <a:srgbClr val="FCEBEC"/>
            </a:solidFill>
            <a:prstDash val="solid"/>
          </a:ln>
        </p:spPr>
      </p:sp>
      <p:sp>
        <p:nvSpPr>
          <p:cNvPr id="20" name="Shape 15"/>
          <p:cNvSpPr/>
          <p:nvPr/>
        </p:nvSpPr>
        <p:spPr>
          <a:xfrm>
            <a:off x="9280246" y="1965960"/>
            <a:ext cx="731520" cy="731520"/>
          </a:xfrm>
          <a:prstGeom prst="ellipse">
            <a:avLst/>
          </a:prstGeom>
          <a:solidFill>
            <a:srgbClr val="E0565B"/>
          </a:solidFill>
          <a:ln w="12700">
            <a:solidFill>
              <a:srgbClr val="E0565B"/>
            </a:solidFill>
            <a:prstDash val="solid"/>
          </a:ln>
        </p:spPr>
      </p:sp>
      <p:pic>
        <p:nvPicPr>
          <p:cNvPr id="21" name="Image 3" descr="/home/claude/azure/media/w/s12_21.png">    </p:cNvPr>
          <p:cNvPicPr>
            <a:picLocks noChangeAspect="1"/>
          </p:cNvPicPr>
          <p:nvPr/>
        </p:nvPicPr>
        <p:blipFill>
          <a:blip r:embed="rId4"/>
          <a:stretch>
            <a:fillRect/>
          </a:stretch>
        </p:blipFill>
        <p:spPr>
          <a:xfrm>
            <a:off x="9463126" y="2148840"/>
            <a:ext cx="365760" cy="365760"/>
          </a:xfrm>
          <a:prstGeom prst="rect">
            <a:avLst/>
          </a:prstGeom>
        </p:spPr>
      </p:pic>
      <p:sp>
        <p:nvSpPr>
          <p:cNvPr id="22" name="Text 16"/>
          <p:cNvSpPr txBox="1"/>
          <p:nvPr/>
        </p:nvSpPr>
        <p:spPr>
          <a:xfrm>
            <a:off x="9280246" y="2926080"/>
            <a:ext cx="2057400" cy="777240"/>
          </a:xfrm>
          <a:prstGeom prst="rect">
            <a:avLst/>
          </a:prstGeom>
          <a:noFill/>
          <a:ln/>
        </p:spPr>
        <p:txBody>
          <a:bodyPr wrap="square" lIns="0" tIns="0" rIns="0" bIns="0" rtlCol="0" anchor="t"/>
          <a:lstStyle/>
          <a:p>
            <a:pPr indent="0" marL="0">
              <a:buNone/>
            </a:pPr>
            <a:r>
              <a:rPr lang="en-US" sz="1800" b="1" dirty="0">
                <a:solidFill>
                  <a:srgbClr val="1D2733"/>
                </a:solidFill>
                <a:latin typeface="Calibri" pitchFamily="34" charset="0"/>
                <a:ea typeface="Calibri" pitchFamily="34" charset="-122"/>
                <a:cs typeface="Calibri" pitchFamily="34" charset="-120"/>
              </a:rPr>
              <a:t>Unpredictable Cost</a:t>
            </a:r>
            <a:endParaRPr lang="en-US" sz="1800" dirty="0"/>
          </a:p>
        </p:txBody>
      </p:sp>
      <p:sp>
        <p:nvSpPr>
          <p:cNvPr id="23" name="Text 17"/>
          <p:cNvSpPr txBox="1"/>
          <p:nvPr/>
        </p:nvSpPr>
        <p:spPr>
          <a:xfrm>
            <a:off x="9280246" y="3794760"/>
            <a:ext cx="2057400" cy="1828800"/>
          </a:xfrm>
          <a:prstGeom prst="rect">
            <a:avLst/>
          </a:prstGeom>
          <a:noFill/>
          <a:ln/>
        </p:spPr>
        <p:txBody>
          <a:bodyPr wrap="square" lIns="0" tIns="0" rIns="0" bIns="0" rtlCol="0" anchor="t"/>
          <a:lstStyle/>
          <a:p>
            <a:pPr indent="0" marL="0">
              <a:buNone/>
            </a:pPr>
            <a:r>
              <a:rPr lang="en-US" sz="1500" dirty="0">
                <a:solidFill>
                  <a:srgbClr val="3A4656"/>
                </a:solidFill>
                <a:latin typeface="Calibri" pitchFamily="34" charset="0"/>
                <a:ea typeface="Calibri" pitchFamily="34" charset="-122"/>
                <a:cs typeface="Calibri" pitchFamily="34" charset="-120"/>
              </a:rPr>
              <a:t>Flat database throughput and unbounded model calls make spend hard to forecast.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92608"/>
          </a:xfrm>
          <a:prstGeom prst="rect">
            <a:avLst/>
          </a:prstGeom>
          <a:noFill/>
          <a:ln/>
        </p:spPr>
        <p:txBody>
          <a:bodyPr wrap="square" lIns="0" tIns="0" rIns="0" bIns="0" rtlCol="0" anchor="ctr"/>
          <a:lstStyle/>
          <a:p>
            <a:pPr indent="0" marL="0">
              <a:buNone/>
            </a:pPr>
            <a:r>
              <a:rPr lang="en-US" sz="1300" b="1" spc="300" kern="0" dirty="0">
                <a:solidFill>
                  <a:srgbClr val="2BB3A3"/>
                </a:solidFill>
                <a:latin typeface="Calibri" pitchFamily="34" charset="0"/>
                <a:ea typeface="Calibri" pitchFamily="34" charset="-122"/>
                <a:cs typeface="Calibri" pitchFamily="34" charset="-120"/>
              </a:rPr>
              <a:t>04 · SCALING &amp; AGENTIC AI</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D2733"/>
                </a:solidFill>
                <a:latin typeface="Cambria" pitchFamily="34" charset="0"/>
                <a:ea typeface="Cambria" pitchFamily="34" charset="-122"/>
                <a:cs typeface="Cambria" pitchFamily="34" charset="-120"/>
              </a:rPr>
              <a:t>Decoupling and Orchestrating for Scale</a:t>
            </a:r>
            <a:endParaRPr lang="en-US" sz="3200" dirty="0"/>
          </a:p>
        </p:txBody>
      </p:sp>
      <p:sp>
        <p:nvSpPr>
          <p:cNvPr id="4" name="Shape 2"/>
          <p:cNvSpPr/>
          <p:nvPr/>
        </p:nvSpPr>
        <p:spPr>
          <a:xfrm>
            <a:off x="6099048" y="1600200"/>
            <a:ext cx="1417320" cy="502920"/>
          </a:xfrm>
          <a:prstGeom prst="roundRect">
            <a:avLst>
              <a:gd name="adj" fmla="val 49091"/>
            </a:avLst>
          </a:prstGeom>
          <a:solidFill>
            <a:srgbClr val="FDF1DE"/>
          </a:solidFill>
          <a:ln w="19050">
            <a:solidFill>
              <a:srgbClr val="F2A541"/>
            </a:solidFill>
            <a:prstDash val="solid"/>
          </a:ln>
        </p:spPr>
      </p:sp>
      <p:sp>
        <p:nvSpPr>
          <p:cNvPr id="5" name="Shape 3"/>
          <p:cNvSpPr/>
          <p:nvPr/>
        </p:nvSpPr>
        <p:spPr>
          <a:xfrm>
            <a:off x="6190488" y="1673352"/>
            <a:ext cx="356616" cy="356616"/>
          </a:xfrm>
          <a:prstGeom prst="ellipse">
            <a:avLst/>
          </a:prstGeom>
          <a:solidFill>
            <a:srgbClr val="F2A541"/>
          </a:solidFill>
          <a:ln w="12700">
            <a:solidFill>
              <a:srgbClr val="F2A541"/>
            </a:solidFill>
            <a:prstDash val="solid"/>
          </a:ln>
        </p:spPr>
      </p:sp>
      <p:pic>
        <p:nvPicPr>
          <p:cNvPr id="6" name="Image 0" descr="/home/claude/azure/media/w/s13_5.png">    </p:cNvPr>
          <p:cNvPicPr>
            <a:picLocks noChangeAspect="1"/>
          </p:cNvPicPr>
          <p:nvPr/>
        </p:nvPicPr>
        <p:blipFill>
          <a:blip r:embed="rId1"/>
          <a:stretch>
            <a:fillRect/>
          </a:stretch>
        </p:blipFill>
        <p:spPr>
          <a:xfrm>
            <a:off x="6254496" y="1737360"/>
            <a:ext cx="228600" cy="228600"/>
          </a:xfrm>
          <a:prstGeom prst="rect">
            <a:avLst/>
          </a:prstGeom>
        </p:spPr>
      </p:pic>
      <p:sp>
        <p:nvSpPr>
          <p:cNvPr id="7" name="Text 4"/>
          <p:cNvSpPr txBox="1"/>
          <p:nvPr/>
        </p:nvSpPr>
        <p:spPr>
          <a:xfrm>
            <a:off x="6574536" y="1600200"/>
            <a:ext cx="914400" cy="502920"/>
          </a:xfrm>
          <a:prstGeom prst="rect">
            <a:avLst/>
          </a:prstGeom>
          <a:noFill/>
          <a:ln/>
        </p:spPr>
        <p:txBody>
          <a:bodyPr wrap="square" lIns="0" tIns="0" rIns="0" bIns="0" rtlCol="0" anchor="ctr"/>
          <a:lstStyle/>
          <a:p>
            <a:pPr indent="0" marL="0">
              <a:buNone/>
            </a:pPr>
            <a:r>
              <a:rPr lang="en-US" sz="1300" b="1" dirty="0">
                <a:solidFill>
                  <a:srgbClr val="1D2733"/>
                </a:solidFill>
                <a:latin typeface="Calibri" pitchFamily="34" charset="0"/>
                <a:ea typeface="Calibri" pitchFamily="34" charset="-122"/>
                <a:cs typeface="Calibri" pitchFamily="34" charset="-120"/>
              </a:rPr>
              <a:t>Quality</a:t>
            </a:r>
            <a:endParaRPr lang="en-US" sz="1300" dirty="0"/>
          </a:p>
        </p:txBody>
      </p:sp>
      <p:sp>
        <p:nvSpPr>
          <p:cNvPr id="8" name="Shape 5"/>
          <p:cNvSpPr/>
          <p:nvPr/>
        </p:nvSpPr>
        <p:spPr>
          <a:xfrm>
            <a:off x="6807708" y="2103120"/>
            <a:ext cx="914" cy="685800"/>
          </a:xfrm>
          <a:prstGeom prst="line">
            <a:avLst/>
          </a:prstGeom>
          <a:noFill/>
          <a:ln w="19050">
            <a:solidFill>
              <a:srgbClr val="F2A541"/>
            </a:solidFill>
            <a:prstDash val="dash"/>
          </a:ln>
        </p:spPr>
      </p:sp>
      <p:sp>
        <p:nvSpPr>
          <p:cNvPr id="9" name="Shape 6"/>
          <p:cNvSpPr/>
          <p:nvPr/>
        </p:nvSpPr>
        <p:spPr>
          <a:xfrm>
            <a:off x="7653528" y="1600200"/>
            <a:ext cx="1417320" cy="502920"/>
          </a:xfrm>
          <a:prstGeom prst="roundRect">
            <a:avLst>
              <a:gd name="adj" fmla="val 49091"/>
            </a:avLst>
          </a:prstGeom>
          <a:solidFill>
            <a:srgbClr val="FDF1DE"/>
          </a:solidFill>
          <a:ln w="19050">
            <a:solidFill>
              <a:srgbClr val="F2A541"/>
            </a:solidFill>
            <a:prstDash val="solid"/>
          </a:ln>
        </p:spPr>
      </p:sp>
      <p:sp>
        <p:nvSpPr>
          <p:cNvPr id="10" name="Shape 7"/>
          <p:cNvSpPr/>
          <p:nvPr/>
        </p:nvSpPr>
        <p:spPr>
          <a:xfrm>
            <a:off x="7744968" y="1673352"/>
            <a:ext cx="356616" cy="356616"/>
          </a:xfrm>
          <a:prstGeom prst="ellipse">
            <a:avLst/>
          </a:prstGeom>
          <a:solidFill>
            <a:srgbClr val="F2A541"/>
          </a:solidFill>
          <a:ln w="12700">
            <a:solidFill>
              <a:srgbClr val="F2A541"/>
            </a:solidFill>
            <a:prstDash val="solid"/>
          </a:ln>
        </p:spPr>
      </p:sp>
      <p:pic>
        <p:nvPicPr>
          <p:cNvPr id="11" name="Image 1" descr="/home/claude/azure/media/w/s13_9.png">    </p:cNvPr>
          <p:cNvPicPr>
            <a:picLocks noChangeAspect="1"/>
          </p:cNvPicPr>
          <p:nvPr/>
        </p:nvPicPr>
        <p:blipFill>
          <a:blip r:embed="rId2"/>
          <a:stretch>
            <a:fillRect/>
          </a:stretch>
        </p:blipFill>
        <p:spPr>
          <a:xfrm>
            <a:off x="7808976" y="1737360"/>
            <a:ext cx="228600" cy="228600"/>
          </a:xfrm>
          <a:prstGeom prst="rect">
            <a:avLst/>
          </a:prstGeom>
        </p:spPr>
      </p:pic>
      <p:sp>
        <p:nvSpPr>
          <p:cNvPr id="12" name="Text 8"/>
          <p:cNvSpPr txBox="1"/>
          <p:nvPr/>
        </p:nvSpPr>
        <p:spPr>
          <a:xfrm>
            <a:off x="8129016" y="1600200"/>
            <a:ext cx="914400" cy="502920"/>
          </a:xfrm>
          <a:prstGeom prst="rect">
            <a:avLst/>
          </a:prstGeom>
          <a:noFill/>
          <a:ln/>
        </p:spPr>
        <p:txBody>
          <a:bodyPr wrap="square" lIns="0" tIns="0" rIns="0" bIns="0" rtlCol="0" anchor="ctr"/>
          <a:lstStyle/>
          <a:p>
            <a:pPr indent="0" marL="0">
              <a:buNone/>
            </a:pPr>
            <a:r>
              <a:rPr lang="en-US" sz="1300" b="1" dirty="0">
                <a:solidFill>
                  <a:srgbClr val="1D2733"/>
                </a:solidFill>
                <a:latin typeface="Calibri" pitchFamily="34" charset="0"/>
                <a:ea typeface="Calibri" pitchFamily="34" charset="-122"/>
                <a:cs typeface="Calibri" pitchFamily="34" charset="-120"/>
              </a:rPr>
              <a:t>Classify</a:t>
            </a:r>
            <a:endParaRPr lang="en-US" sz="1300" dirty="0"/>
          </a:p>
        </p:txBody>
      </p:sp>
      <p:sp>
        <p:nvSpPr>
          <p:cNvPr id="13" name="Shape 9"/>
          <p:cNvSpPr/>
          <p:nvPr/>
        </p:nvSpPr>
        <p:spPr>
          <a:xfrm>
            <a:off x="8362188" y="2103120"/>
            <a:ext cx="914" cy="685800"/>
          </a:xfrm>
          <a:prstGeom prst="line">
            <a:avLst/>
          </a:prstGeom>
          <a:noFill/>
          <a:ln w="19050">
            <a:solidFill>
              <a:srgbClr val="F2A541"/>
            </a:solidFill>
            <a:prstDash val="dash"/>
          </a:ln>
        </p:spPr>
      </p:sp>
      <p:sp>
        <p:nvSpPr>
          <p:cNvPr id="14" name="Shape 10"/>
          <p:cNvSpPr/>
          <p:nvPr/>
        </p:nvSpPr>
        <p:spPr>
          <a:xfrm>
            <a:off x="9208008" y="1600200"/>
            <a:ext cx="1417320" cy="502920"/>
          </a:xfrm>
          <a:prstGeom prst="roundRect">
            <a:avLst>
              <a:gd name="adj" fmla="val 49091"/>
            </a:avLst>
          </a:prstGeom>
          <a:solidFill>
            <a:srgbClr val="FDF1DE"/>
          </a:solidFill>
          <a:ln w="19050">
            <a:solidFill>
              <a:srgbClr val="F2A541"/>
            </a:solidFill>
            <a:prstDash val="solid"/>
          </a:ln>
        </p:spPr>
      </p:sp>
      <p:sp>
        <p:nvSpPr>
          <p:cNvPr id="15" name="Shape 11"/>
          <p:cNvSpPr/>
          <p:nvPr/>
        </p:nvSpPr>
        <p:spPr>
          <a:xfrm>
            <a:off x="9299448" y="1673352"/>
            <a:ext cx="356616" cy="356616"/>
          </a:xfrm>
          <a:prstGeom prst="ellipse">
            <a:avLst/>
          </a:prstGeom>
          <a:solidFill>
            <a:srgbClr val="F2A541"/>
          </a:solidFill>
          <a:ln w="12700">
            <a:solidFill>
              <a:srgbClr val="F2A541"/>
            </a:solidFill>
            <a:prstDash val="solid"/>
          </a:ln>
        </p:spPr>
      </p:sp>
      <p:pic>
        <p:nvPicPr>
          <p:cNvPr id="16" name="Image 2" descr="/home/claude/azure/media/w/s13_13.png">    </p:cNvPr>
          <p:cNvPicPr>
            <a:picLocks noChangeAspect="1"/>
          </p:cNvPicPr>
          <p:nvPr/>
        </p:nvPicPr>
        <p:blipFill>
          <a:blip r:embed="rId3"/>
          <a:stretch>
            <a:fillRect/>
          </a:stretch>
        </p:blipFill>
        <p:spPr>
          <a:xfrm>
            <a:off x="9363456" y="1737360"/>
            <a:ext cx="228600" cy="228600"/>
          </a:xfrm>
          <a:prstGeom prst="rect">
            <a:avLst/>
          </a:prstGeom>
        </p:spPr>
      </p:pic>
      <p:sp>
        <p:nvSpPr>
          <p:cNvPr id="17" name="Text 12"/>
          <p:cNvSpPr txBox="1"/>
          <p:nvPr/>
        </p:nvSpPr>
        <p:spPr>
          <a:xfrm>
            <a:off x="9683496" y="1600200"/>
            <a:ext cx="914400" cy="502920"/>
          </a:xfrm>
          <a:prstGeom prst="rect">
            <a:avLst/>
          </a:prstGeom>
          <a:noFill/>
          <a:ln/>
        </p:spPr>
        <p:txBody>
          <a:bodyPr wrap="square" lIns="0" tIns="0" rIns="0" bIns="0" rtlCol="0" anchor="ctr"/>
          <a:lstStyle/>
          <a:p>
            <a:pPr indent="0" marL="0">
              <a:buNone/>
            </a:pPr>
            <a:r>
              <a:rPr lang="en-US" sz="1300" b="1" dirty="0">
                <a:solidFill>
                  <a:srgbClr val="1D2733"/>
                </a:solidFill>
                <a:latin typeface="Calibri" pitchFamily="34" charset="0"/>
                <a:ea typeface="Calibri" pitchFamily="34" charset="-122"/>
                <a:cs typeface="Calibri" pitchFamily="34" charset="-120"/>
              </a:rPr>
              <a:t>Geo-Verify</a:t>
            </a:r>
            <a:endParaRPr lang="en-US" sz="1300" dirty="0"/>
          </a:p>
        </p:txBody>
      </p:sp>
      <p:sp>
        <p:nvSpPr>
          <p:cNvPr id="18" name="Shape 13"/>
          <p:cNvSpPr/>
          <p:nvPr/>
        </p:nvSpPr>
        <p:spPr>
          <a:xfrm>
            <a:off x="9916668" y="2103120"/>
            <a:ext cx="914" cy="685800"/>
          </a:xfrm>
          <a:prstGeom prst="line">
            <a:avLst/>
          </a:prstGeom>
          <a:noFill/>
          <a:ln w="19050">
            <a:solidFill>
              <a:srgbClr val="F2A541"/>
            </a:solidFill>
            <a:prstDash val="dash"/>
          </a:ln>
        </p:spPr>
      </p:sp>
      <p:sp>
        <p:nvSpPr>
          <p:cNvPr id="19" name="Shape 14"/>
          <p:cNvSpPr/>
          <p:nvPr/>
        </p:nvSpPr>
        <p:spPr>
          <a:xfrm>
            <a:off x="548640" y="2788920"/>
            <a:ext cx="1965960" cy="1600200"/>
          </a:xfrm>
          <a:prstGeom prst="roundRect">
            <a:avLst>
              <a:gd name="adj" fmla="val 6857"/>
            </a:avLst>
          </a:prstGeom>
          <a:solidFill>
            <a:srgbClr val="EEF2F6"/>
          </a:solidFill>
          <a:ln w="12700">
            <a:solidFill>
              <a:srgbClr val="EEF2F6"/>
            </a:solidFill>
            <a:prstDash val="solid"/>
          </a:ln>
        </p:spPr>
      </p:sp>
      <p:sp>
        <p:nvSpPr>
          <p:cNvPr id="20" name="Shape 15"/>
          <p:cNvSpPr/>
          <p:nvPr/>
        </p:nvSpPr>
        <p:spPr>
          <a:xfrm>
            <a:off x="1257300" y="2971800"/>
            <a:ext cx="548640" cy="548640"/>
          </a:xfrm>
          <a:prstGeom prst="ellipse">
            <a:avLst/>
          </a:prstGeom>
          <a:solidFill>
            <a:srgbClr val="2BB3A3"/>
          </a:solidFill>
          <a:ln w="12700">
            <a:solidFill>
              <a:srgbClr val="2BB3A3"/>
            </a:solidFill>
            <a:prstDash val="solid"/>
          </a:ln>
        </p:spPr>
      </p:sp>
      <p:pic>
        <p:nvPicPr>
          <p:cNvPr id="21" name="Image 3" descr="/home/claude/azure/media/w/s13_18.png">    </p:cNvPr>
          <p:cNvPicPr>
            <a:picLocks noChangeAspect="1"/>
          </p:cNvPicPr>
          <p:nvPr/>
        </p:nvPicPr>
        <p:blipFill>
          <a:blip r:embed="rId4"/>
          <a:stretch>
            <a:fillRect/>
          </a:stretch>
        </p:blipFill>
        <p:spPr>
          <a:xfrm>
            <a:off x="1394460" y="3108960"/>
            <a:ext cx="274320" cy="274320"/>
          </a:xfrm>
          <a:prstGeom prst="rect">
            <a:avLst/>
          </a:prstGeom>
        </p:spPr>
      </p:pic>
      <p:sp>
        <p:nvSpPr>
          <p:cNvPr id="22" name="Text 16"/>
          <p:cNvSpPr txBox="1"/>
          <p:nvPr/>
        </p:nvSpPr>
        <p:spPr>
          <a:xfrm>
            <a:off x="594360" y="3593592"/>
            <a:ext cx="1874520" cy="365760"/>
          </a:xfrm>
          <a:prstGeom prst="rect">
            <a:avLst/>
          </a:prstGeom>
          <a:noFill/>
          <a:ln/>
        </p:spPr>
        <p:txBody>
          <a:bodyPr wrap="square" lIns="0" tIns="0" rIns="0" bIns="0" rtlCol="0" anchor="ctr"/>
          <a:lstStyle/>
          <a:p>
            <a:pPr algn="ctr" indent="0" marL="0">
              <a:buNone/>
            </a:pPr>
            <a:r>
              <a:rPr lang="en-US" sz="1500" b="1" dirty="0">
                <a:solidFill>
                  <a:srgbClr val="1D2733"/>
                </a:solidFill>
                <a:latin typeface="Calibri" pitchFamily="34" charset="0"/>
                <a:ea typeface="Calibri" pitchFamily="34" charset="-122"/>
                <a:cs typeface="Calibri" pitchFamily="34" charset="-120"/>
              </a:rPr>
              <a:t>Blob Storage</a:t>
            </a:r>
            <a:endParaRPr lang="en-US" sz="1500" dirty="0"/>
          </a:p>
        </p:txBody>
      </p:sp>
      <p:sp>
        <p:nvSpPr>
          <p:cNvPr id="23" name="Text 17"/>
          <p:cNvSpPr txBox="1"/>
          <p:nvPr/>
        </p:nvSpPr>
        <p:spPr>
          <a:xfrm>
            <a:off x="594360" y="3959352"/>
            <a:ext cx="1874520" cy="320040"/>
          </a:xfrm>
          <a:prstGeom prst="rect">
            <a:avLst/>
          </a:prstGeom>
          <a:noFill/>
          <a:ln/>
        </p:spPr>
        <p:txBody>
          <a:bodyPr wrap="square" lIns="0" tIns="0" rIns="0" bIns="0" rtlCol="0" anchor="ctr"/>
          <a:lstStyle/>
          <a:p>
            <a:pPr algn="ctr" indent="0" marL="0">
              <a:buNone/>
            </a:pPr>
            <a:r>
              <a:rPr lang="en-US" sz="1200" i="1" dirty="0">
                <a:solidFill>
                  <a:srgbClr val="8B96A5"/>
                </a:solidFill>
                <a:latin typeface="Calibri" pitchFamily="34" charset="0"/>
                <a:ea typeface="Calibri" pitchFamily="34" charset="-122"/>
                <a:cs typeface="Calibri" pitchFamily="34" charset="-120"/>
              </a:rPr>
              <a:t>Ingest</a:t>
            </a:r>
            <a:endParaRPr lang="en-US" sz="1200" dirty="0"/>
          </a:p>
        </p:txBody>
      </p:sp>
      <p:sp>
        <p:nvSpPr>
          <p:cNvPr id="24" name="Shape 18"/>
          <p:cNvSpPr/>
          <p:nvPr/>
        </p:nvSpPr>
        <p:spPr>
          <a:xfrm>
            <a:off x="2542032" y="3589020"/>
            <a:ext cx="256032" cy="914"/>
          </a:xfrm>
          <a:prstGeom prst="line">
            <a:avLst/>
          </a:prstGeom>
          <a:noFill/>
          <a:ln w="25400">
            <a:solidFill>
              <a:srgbClr val="8B96A5"/>
            </a:solidFill>
            <a:prstDash val="solid"/>
            <a:tailEnd type="triangle"/>
          </a:ln>
        </p:spPr>
      </p:sp>
      <p:sp>
        <p:nvSpPr>
          <p:cNvPr id="25" name="Shape 19"/>
          <p:cNvSpPr/>
          <p:nvPr/>
        </p:nvSpPr>
        <p:spPr>
          <a:xfrm>
            <a:off x="2825496" y="2788920"/>
            <a:ext cx="1965960" cy="1600200"/>
          </a:xfrm>
          <a:prstGeom prst="roundRect">
            <a:avLst>
              <a:gd name="adj" fmla="val 6857"/>
            </a:avLst>
          </a:prstGeom>
          <a:solidFill>
            <a:srgbClr val="EEF2F6"/>
          </a:solidFill>
          <a:ln w="12700">
            <a:solidFill>
              <a:srgbClr val="EEF2F6"/>
            </a:solidFill>
            <a:prstDash val="solid"/>
          </a:ln>
        </p:spPr>
      </p:sp>
      <p:sp>
        <p:nvSpPr>
          <p:cNvPr id="26" name="Shape 20"/>
          <p:cNvSpPr/>
          <p:nvPr/>
        </p:nvSpPr>
        <p:spPr>
          <a:xfrm>
            <a:off x="3534156" y="2971800"/>
            <a:ext cx="548640" cy="548640"/>
          </a:xfrm>
          <a:prstGeom prst="ellipse">
            <a:avLst/>
          </a:prstGeom>
          <a:solidFill>
            <a:srgbClr val="2BB3A3"/>
          </a:solidFill>
          <a:ln w="12700">
            <a:solidFill>
              <a:srgbClr val="2BB3A3"/>
            </a:solidFill>
            <a:prstDash val="solid"/>
          </a:ln>
        </p:spPr>
      </p:sp>
      <p:pic>
        <p:nvPicPr>
          <p:cNvPr id="27" name="Image 4" descr="/home/claude/azure/media/w/s13_23.png">    </p:cNvPr>
          <p:cNvPicPr>
            <a:picLocks noChangeAspect="1"/>
          </p:cNvPicPr>
          <p:nvPr/>
        </p:nvPicPr>
        <p:blipFill>
          <a:blip r:embed="rId5"/>
          <a:stretch>
            <a:fillRect/>
          </a:stretch>
        </p:blipFill>
        <p:spPr>
          <a:xfrm>
            <a:off x="3671316" y="3108960"/>
            <a:ext cx="274320" cy="274320"/>
          </a:xfrm>
          <a:prstGeom prst="rect">
            <a:avLst/>
          </a:prstGeom>
        </p:spPr>
      </p:pic>
      <p:sp>
        <p:nvSpPr>
          <p:cNvPr id="28" name="Text 21"/>
          <p:cNvSpPr txBox="1"/>
          <p:nvPr/>
        </p:nvSpPr>
        <p:spPr>
          <a:xfrm>
            <a:off x="2871216" y="3593592"/>
            <a:ext cx="1874520" cy="365760"/>
          </a:xfrm>
          <a:prstGeom prst="rect">
            <a:avLst/>
          </a:prstGeom>
          <a:noFill/>
          <a:ln/>
        </p:spPr>
        <p:txBody>
          <a:bodyPr wrap="square" lIns="0" tIns="0" rIns="0" bIns="0" rtlCol="0" anchor="ctr"/>
          <a:lstStyle/>
          <a:p>
            <a:pPr algn="ctr" indent="0" marL="0">
              <a:buNone/>
            </a:pPr>
            <a:r>
              <a:rPr lang="en-US" sz="1500" b="1" dirty="0">
                <a:solidFill>
                  <a:srgbClr val="1D2733"/>
                </a:solidFill>
                <a:latin typeface="Calibri" pitchFamily="34" charset="0"/>
                <a:ea typeface="Calibri" pitchFamily="34" charset="-122"/>
                <a:cs typeface="Calibri" pitchFamily="34" charset="-120"/>
              </a:rPr>
              <a:t>Event Grid</a:t>
            </a:r>
            <a:endParaRPr lang="en-US" sz="1500" dirty="0"/>
          </a:p>
        </p:txBody>
      </p:sp>
      <p:sp>
        <p:nvSpPr>
          <p:cNvPr id="29" name="Text 22"/>
          <p:cNvSpPr txBox="1"/>
          <p:nvPr/>
        </p:nvSpPr>
        <p:spPr>
          <a:xfrm>
            <a:off x="2871216" y="3959352"/>
            <a:ext cx="1874520" cy="320040"/>
          </a:xfrm>
          <a:prstGeom prst="rect">
            <a:avLst/>
          </a:prstGeom>
          <a:noFill/>
          <a:ln/>
        </p:spPr>
        <p:txBody>
          <a:bodyPr wrap="square" lIns="0" tIns="0" rIns="0" bIns="0" rtlCol="0" anchor="ctr"/>
          <a:lstStyle/>
          <a:p>
            <a:pPr algn="ctr" indent="0" marL="0">
              <a:buNone/>
            </a:pPr>
            <a:r>
              <a:rPr lang="en-US" sz="1200" i="1" dirty="0">
                <a:solidFill>
                  <a:srgbClr val="8B96A5"/>
                </a:solidFill>
                <a:latin typeface="Calibri" pitchFamily="34" charset="0"/>
                <a:ea typeface="Calibri" pitchFamily="34" charset="-122"/>
                <a:cs typeface="Calibri" pitchFamily="34" charset="-120"/>
              </a:rPr>
              <a:t>Storage subscription</a:t>
            </a:r>
            <a:endParaRPr lang="en-US" sz="1200" dirty="0"/>
          </a:p>
        </p:txBody>
      </p:sp>
      <p:sp>
        <p:nvSpPr>
          <p:cNvPr id="30" name="Shape 23"/>
          <p:cNvSpPr/>
          <p:nvPr/>
        </p:nvSpPr>
        <p:spPr>
          <a:xfrm>
            <a:off x="4818888" y="3589020"/>
            <a:ext cx="256032" cy="914"/>
          </a:xfrm>
          <a:prstGeom prst="line">
            <a:avLst/>
          </a:prstGeom>
          <a:noFill/>
          <a:ln w="25400">
            <a:solidFill>
              <a:srgbClr val="8B96A5"/>
            </a:solidFill>
            <a:prstDash val="solid"/>
            <a:tailEnd type="triangle"/>
          </a:ln>
        </p:spPr>
      </p:sp>
      <p:sp>
        <p:nvSpPr>
          <p:cNvPr id="31" name="Shape 24"/>
          <p:cNvSpPr/>
          <p:nvPr/>
        </p:nvSpPr>
        <p:spPr>
          <a:xfrm>
            <a:off x="5102352" y="2788920"/>
            <a:ext cx="1965960" cy="1600200"/>
          </a:xfrm>
          <a:prstGeom prst="roundRect">
            <a:avLst>
              <a:gd name="adj" fmla="val 6857"/>
            </a:avLst>
          </a:prstGeom>
          <a:solidFill>
            <a:srgbClr val="EEF2F6"/>
          </a:solidFill>
          <a:ln w="12700">
            <a:solidFill>
              <a:srgbClr val="EEF2F6"/>
            </a:solidFill>
            <a:prstDash val="solid"/>
          </a:ln>
        </p:spPr>
      </p:sp>
      <p:sp>
        <p:nvSpPr>
          <p:cNvPr id="32" name="Shape 25"/>
          <p:cNvSpPr/>
          <p:nvPr/>
        </p:nvSpPr>
        <p:spPr>
          <a:xfrm>
            <a:off x="5811012" y="2971800"/>
            <a:ext cx="548640" cy="548640"/>
          </a:xfrm>
          <a:prstGeom prst="ellipse">
            <a:avLst/>
          </a:prstGeom>
          <a:solidFill>
            <a:srgbClr val="2BB3A3"/>
          </a:solidFill>
          <a:ln w="12700">
            <a:solidFill>
              <a:srgbClr val="2BB3A3"/>
            </a:solidFill>
            <a:prstDash val="solid"/>
          </a:ln>
        </p:spPr>
      </p:sp>
      <p:pic>
        <p:nvPicPr>
          <p:cNvPr id="33" name="Image 5" descr="/home/claude/azure/media/w/s13_28.png">    </p:cNvPr>
          <p:cNvPicPr>
            <a:picLocks noChangeAspect="1"/>
          </p:cNvPicPr>
          <p:nvPr/>
        </p:nvPicPr>
        <p:blipFill>
          <a:blip r:embed="rId6"/>
          <a:stretch>
            <a:fillRect/>
          </a:stretch>
        </p:blipFill>
        <p:spPr>
          <a:xfrm>
            <a:off x="5948172" y="3108960"/>
            <a:ext cx="274320" cy="274320"/>
          </a:xfrm>
          <a:prstGeom prst="rect">
            <a:avLst/>
          </a:prstGeom>
        </p:spPr>
      </p:pic>
      <p:sp>
        <p:nvSpPr>
          <p:cNvPr id="34" name="Text 26"/>
          <p:cNvSpPr txBox="1"/>
          <p:nvPr/>
        </p:nvSpPr>
        <p:spPr>
          <a:xfrm>
            <a:off x="5148072" y="3593592"/>
            <a:ext cx="1874520" cy="365760"/>
          </a:xfrm>
          <a:prstGeom prst="rect">
            <a:avLst/>
          </a:prstGeom>
          <a:noFill/>
          <a:ln/>
        </p:spPr>
        <p:txBody>
          <a:bodyPr wrap="square" lIns="0" tIns="0" rIns="0" bIns="0" rtlCol="0" anchor="ctr"/>
          <a:lstStyle/>
          <a:p>
            <a:pPr algn="ctr" indent="0" marL="0">
              <a:buNone/>
            </a:pPr>
            <a:r>
              <a:rPr lang="en-US" sz="1500" b="1" dirty="0">
                <a:solidFill>
                  <a:srgbClr val="1D2733"/>
                </a:solidFill>
                <a:latin typeface="Calibri" pitchFamily="34" charset="0"/>
                <a:ea typeface="Calibri" pitchFamily="34" charset="-122"/>
                <a:cs typeface="Calibri" pitchFamily="34" charset="-120"/>
              </a:rPr>
              <a:t>Queue</a:t>
            </a:r>
            <a:endParaRPr lang="en-US" sz="1500" dirty="0"/>
          </a:p>
        </p:txBody>
      </p:sp>
      <p:sp>
        <p:nvSpPr>
          <p:cNvPr id="35" name="Text 27"/>
          <p:cNvSpPr txBox="1"/>
          <p:nvPr/>
        </p:nvSpPr>
        <p:spPr>
          <a:xfrm>
            <a:off x="5148072" y="3959352"/>
            <a:ext cx="1874520" cy="320040"/>
          </a:xfrm>
          <a:prstGeom prst="rect">
            <a:avLst/>
          </a:prstGeom>
          <a:noFill/>
          <a:ln/>
        </p:spPr>
        <p:txBody>
          <a:bodyPr wrap="square" lIns="0" tIns="0" rIns="0" bIns="0" rtlCol="0" anchor="ctr"/>
          <a:lstStyle/>
          <a:p>
            <a:pPr algn="ctr" indent="0" marL="0">
              <a:buNone/>
            </a:pPr>
            <a:r>
              <a:rPr lang="en-US" sz="1200" i="1" dirty="0">
                <a:solidFill>
                  <a:srgbClr val="8B96A5"/>
                </a:solidFill>
                <a:latin typeface="Calibri" pitchFamily="34" charset="0"/>
                <a:ea typeface="Calibri" pitchFamily="34" charset="-122"/>
                <a:cs typeface="Calibri" pitchFamily="34" charset="-120"/>
              </a:rPr>
              <a:t>Service Bus</a:t>
            </a:r>
            <a:endParaRPr lang="en-US" sz="1200" dirty="0"/>
          </a:p>
        </p:txBody>
      </p:sp>
      <p:sp>
        <p:nvSpPr>
          <p:cNvPr id="36" name="Shape 28"/>
          <p:cNvSpPr/>
          <p:nvPr/>
        </p:nvSpPr>
        <p:spPr>
          <a:xfrm>
            <a:off x="7095744" y="3589020"/>
            <a:ext cx="256032" cy="914"/>
          </a:xfrm>
          <a:prstGeom prst="line">
            <a:avLst/>
          </a:prstGeom>
          <a:noFill/>
          <a:ln w="25400">
            <a:solidFill>
              <a:srgbClr val="8B96A5"/>
            </a:solidFill>
            <a:prstDash val="solid"/>
            <a:tailEnd type="triangle"/>
          </a:ln>
        </p:spPr>
      </p:sp>
      <p:sp>
        <p:nvSpPr>
          <p:cNvPr id="37" name="Shape 29"/>
          <p:cNvSpPr/>
          <p:nvPr/>
        </p:nvSpPr>
        <p:spPr>
          <a:xfrm>
            <a:off x="7379208" y="2788920"/>
            <a:ext cx="1965960" cy="1600200"/>
          </a:xfrm>
          <a:prstGeom prst="roundRect">
            <a:avLst>
              <a:gd name="adj" fmla="val 6857"/>
            </a:avLst>
          </a:prstGeom>
          <a:solidFill>
            <a:srgbClr val="0F1720"/>
          </a:solidFill>
          <a:ln w="12700">
            <a:solidFill>
              <a:srgbClr val="0F1720"/>
            </a:solidFill>
            <a:prstDash val="solid"/>
          </a:ln>
        </p:spPr>
      </p:sp>
      <p:sp>
        <p:nvSpPr>
          <p:cNvPr id="38" name="Shape 30"/>
          <p:cNvSpPr/>
          <p:nvPr/>
        </p:nvSpPr>
        <p:spPr>
          <a:xfrm>
            <a:off x="8087868" y="2971800"/>
            <a:ext cx="548640" cy="548640"/>
          </a:xfrm>
          <a:prstGeom prst="ellipse">
            <a:avLst/>
          </a:prstGeom>
          <a:solidFill>
            <a:srgbClr val="F2A541"/>
          </a:solidFill>
          <a:ln w="12700">
            <a:solidFill>
              <a:srgbClr val="F2A541"/>
            </a:solidFill>
            <a:prstDash val="solid"/>
          </a:ln>
        </p:spPr>
      </p:sp>
      <p:pic>
        <p:nvPicPr>
          <p:cNvPr id="39" name="Image 6" descr="/home/claude/azure/media/w/s13_33.png">    </p:cNvPr>
          <p:cNvPicPr>
            <a:picLocks noChangeAspect="1"/>
          </p:cNvPicPr>
          <p:nvPr/>
        </p:nvPicPr>
        <p:blipFill>
          <a:blip r:embed="rId7"/>
          <a:stretch>
            <a:fillRect/>
          </a:stretch>
        </p:blipFill>
        <p:spPr>
          <a:xfrm>
            <a:off x="8225028" y="3108960"/>
            <a:ext cx="274320" cy="274320"/>
          </a:xfrm>
          <a:prstGeom prst="rect">
            <a:avLst/>
          </a:prstGeom>
        </p:spPr>
      </p:pic>
      <p:sp>
        <p:nvSpPr>
          <p:cNvPr id="40" name="Text 31"/>
          <p:cNvSpPr txBox="1"/>
          <p:nvPr/>
        </p:nvSpPr>
        <p:spPr>
          <a:xfrm>
            <a:off x="7424928" y="3593592"/>
            <a:ext cx="18745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Orchestrator Agent</a:t>
            </a:r>
            <a:endParaRPr lang="en-US" sz="1500" dirty="0"/>
          </a:p>
        </p:txBody>
      </p:sp>
      <p:sp>
        <p:nvSpPr>
          <p:cNvPr id="41" name="Text 32"/>
          <p:cNvSpPr txBox="1"/>
          <p:nvPr/>
        </p:nvSpPr>
        <p:spPr>
          <a:xfrm>
            <a:off x="7424928" y="3959352"/>
            <a:ext cx="1874520" cy="320040"/>
          </a:xfrm>
          <a:prstGeom prst="rect">
            <a:avLst/>
          </a:prstGeom>
          <a:noFill/>
          <a:ln/>
        </p:spPr>
        <p:txBody>
          <a:bodyPr wrap="square" lIns="0" tIns="0" rIns="0" bIns="0" rtlCol="0" anchor="ctr"/>
          <a:lstStyle/>
          <a:p>
            <a:pPr algn="ctr" indent="0" marL="0">
              <a:buNone/>
            </a:pPr>
            <a:r>
              <a:rPr lang="en-US" sz="1200" i="1" dirty="0">
                <a:solidFill>
                  <a:srgbClr val="B8C2CF"/>
                </a:solidFill>
                <a:latin typeface="Calibri" pitchFamily="34" charset="0"/>
                <a:ea typeface="Calibri" pitchFamily="34" charset="-122"/>
                <a:cs typeface="Calibri" pitchFamily="34" charset="-120"/>
              </a:rPr>
              <a:t>Microsoft Agent Framework</a:t>
            </a:r>
            <a:endParaRPr lang="en-US" sz="1200" dirty="0"/>
          </a:p>
        </p:txBody>
      </p:sp>
      <p:sp>
        <p:nvSpPr>
          <p:cNvPr id="42" name="Shape 33"/>
          <p:cNvSpPr/>
          <p:nvPr/>
        </p:nvSpPr>
        <p:spPr>
          <a:xfrm>
            <a:off x="9372600" y="3589020"/>
            <a:ext cx="256032" cy="914"/>
          </a:xfrm>
          <a:prstGeom prst="line">
            <a:avLst/>
          </a:prstGeom>
          <a:noFill/>
          <a:ln w="25400">
            <a:solidFill>
              <a:srgbClr val="8B96A5"/>
            </a:solidFill>
            <a:prstDash val="solid"/>
            <a:tailEnd type="triangle"/>
          </a:ln>
        </p:spPr>
      </p:sp>
      <p:sp>
        <p:nvSpPr>
          <p:cNvPr id="43" name="Shape 34"/>
          <p:cNvSpPr/>
          <p:nvPr/>
        </p:nvSpPr>
        <p:spPr>
          <a:xfrm>
            <a:off x="9656064" y="2788920"/>
            <a:ext cx="1965960" cy="1600200"/>
          </a:xfrm>
          <a:prstGeom prst="roundRect">
            <a:avLst>
              <a:gd name="adj" fmla="val 6857"/>
            </a:avLst>
          </a:prstGeom>
          <a:solidFill>
            <a:srgbClr val="EEF2F6"/>
          </a:solidFill>
          <a:ln w="12700">
            <a:solidFill>
              <a:srgbClr val="EEF2F6"/>
            </a:solidFill>
            <a:prstDash val="solid"/>
          </a:ln>
        </p:spPr>
      </p:sp>
      <p:sp>
        <p:nvSpPr>
          <p:cNvPr id="44" name="Shape 35"/>
          <p:cNvSpPr/>
          <p:nvPr/>
        </p:nvSpPr>
        <p:spPr>
          <a:xfrm>
            <a:off x="10364724" y="2971800"/>
            <a:ext cx="548640" cy="548640"/>
          </a:xfrm>
          <a:prstGeom prst="ellipse">
            <a:avLst/>
          </a:prstGeom>
          <a:solidFill>
            <a:srgbClr val="2BB3A3"/>
          </a:solidFill>
          <a:ln w="12700">
            <a:solidFill>
              <a:srgbClr val="2BB3A3"/>
            </a:solidFill>
            <a:prstDash val="solid"/>
          </a:ln>
        </p:spPr>
      </p:sp>
      <p:pic>
        <p:nvPicPr>
          <p:cNvPr id="45" name="Image 7" descr="/home/claude/azure/media/w/s13_38.png">    </p:cNvPr>
          <p:cNvPicPr>
            <a:picLocks noChangeAspect="1"/>
          </p:cNvPicPr>
          <p:nvPr/>
        </p:nvPicPr>
        <p:blipFill>
          <a:blip r:embed="rId8"/>
          <a:stretch>
            <a:fillRect/>
          </a:stretch>
        </p:blipFill>
        <p:spPr>
          <a:xfrm>
            <a:off x="10501884" y="3108960"/>
            <a:ext cx="274320" cy="274320"/>
          </a:xfrm>
          <a:prstGeom prst="rect">
            <a:avLst/>
          </a:prstGeom>
        </p:spPr>
      </p:pic>
      <p:sp>
        <p:nvSpPr>
          <p:cNvPr id="46" name="Text 36"/>
          <p:cNvSpPr txBox="1"/>
          <p:nvPr/>
        </p:nvSpPr>
        <p:spPr>
          <a:xfrm>
            <a:off x="9701784" y="3593592"/>
            <a:ext cx="1874520" cy="365760"/>
          </a:xfrm>
          <a:prstGeom prst="rect">
            <a:avLst/>
          </a:prstGeom>
          <a:noFill/>
          <a:ln/>
        </p:spPr>
        <p:txBody>
          <a:bodyPr wrap="square" lIns="0" tIns="0" rIns="0" bIns="0" rtlCol="0" anchor="ctr"/>
          <a:lstStyle/>
          <a:p>
            <a:pPr algn="ctr" indent="0" marL="0">
              <a:buNone/>
            </a:pPr>
            <a:r>
              <a:rPr lang="en-US" sz="1500" b="1" dirty="0">
                <a:solidFill>
                  <a:srgbClr val="1D2733"/>
                </a:solidFill>
                <a:latin typeface="Calibri" pitchFamily="34" charset="0"/>
                <a:ea typeface="Calibri" pitchFamily="34" charset="-122"/>
                <a:cs typeface="Calibri" pitchFamily="34" charset="-120"/>
              </a:rPr>
              <a:t>Cosmos DB</a:t>
            </a:r>
            <a:endParaRPr lang="en-US" sz="1500" dirty="0"/>
          </a:p>
        </p:txBody>
      </p:sp>
      <p:sp>
        <p:nvSpPr>
          <p:cNvPr id="47" name="Text 37"/>
          <p:cNvSpPr txBox="1"/>
          <p:nvPr/>
        </p:nvSpPr>
        <p:spPr>
          <a:xfrm>
            <a:off x="9701784" y="3959352"/>
            <a:ext cx="1874520" cy="320040"/>
          </a:xfrm>
          <a:prstGeom prst="rect">
            <a:avLst/>
          </a:prstGeom>
          <a:noFill/>
          <a:ln/>
        </p:spPr>
        <p:txBody>
          <a:bodyPr wrap="square" lIns="0" tIns="0" rIns="0" bIns="0" rtlCol="0" anchor="ctr"/>
          <a:lstStyle/>
          <a:p>
            <a:pPr algn="ctr" indent="0" marL="0">
              <a:buNone/>
            </a:pPr>
            <a:r>
              <a:rPr lang="en-US" sz="1200" i="1" dirty="0">
                <a:solidFill>
                  <a:srgbClr val="8B96A5"/>
                </a:solidFill>
                <a:latin typeface="Calibri" pitchFamily="34" charset="0"/>
                <a:ea typeface="Calibri" pitchFamily="34" charset="-122"/>
                <a:cs typeface="Calibri" pitchFamily="34" charset="-120"/>
              </a:rPr>
              <a:t>+ change feed</a:t>
            </a:r>
            <a:endParaRPr lang="en-US" sz="1200" dirty="0"/>
          </a:p>
        </p:txBody>
      </p:sp>
      <p:sp>
        <p:nvSpPr>
          <p:cNvPr id="48" name="Shape 38"/>
          <p:cNvSpPr/>
          <p:nvPr/>
        </p:nvSpPr>
        <p:spPr>
          <a:xfrm>
            <a:off x="8362188" y="4389120"/>
            <a:ext cx="914" cy="685800"/>
          </a:xfrm>
          <a:prstGeom prst="line">
            <a:avLst/>
          </a:prstGeom>
          <a:noFill/>
          <a:ln w="25400">
            <a:solidFill>
              <a:srgbClr val="E0565B"/>
            </a:solidFill>
            <a:prstDash val="dash"/>
            <a:tailEnd type="triangle"/>
          </a:ln>
        </p:spPr>
      </p:sp>
      <p:sp>
        <p:nvSpPr>
          <p:cNvPr id="49" name="Text 39"/>
          <p:cNvSpPr txBox="1"/>
          <p:nvPr/>
        </p:nvSpPr>
        <p:spPr>
          <a:xfrm>
            <a:off x="8453628" y="4498848"/>
            <a:ext cx="2011680" cy="274320"/>
          </a:xfrm>
          <a:prstGeom prst="rect">
            <a:avLst/>
          </a:prstGeom>
          <a:noFill/>
          <a:ln/>
        </p:spPr>
        <p:txBody>
          <a:bodyPr wrap="square" lIns="0" tIns="0" rIns="0" bIns="0" rtlCol="0" anchor="ctr"/>
          <a:lstStyle/>
          <a:p>
            <a:pPr indent="0" marL="0">
              <a:buNone/>
            </a:pPr>
            <a:r>
              <a:rPr lang="en-US" sz="1200" i="1" dirty="0">
                <a:solidFill>
                  <a:srgbClr val="E0565B"/>
                </a:solidFill>
                <a:latin typeface="Calibri" pitchFamily="34" charset="0"/>
                <a:ea typeface="Calibri" pitchFamily="34" charset="-122"/>
                <a:cs typeface="Calibri" pitchFamily="34" charset="-120"/>
              </a:rPr>
              <a:t>if confidence is low</a:t>
            </a:r>
            <a:endParaRPr lang="en-US" sz="1200" dirty="0"/>
          </a:p>
        </p:txBody>
      </p:sp>
      <p:sp>
        <p:nvSpPr>
          <p:cNvPr id="50" name="Shape 40"/>
          <p:cNvSpPr/>
          <p:nvPr/>
        </p:nvSpPr>
        <p:spPr>
          <a:xfrm>
            <a:off x="7173468" y="5074920"/>
            <a:ext cx="2377440" cy="868680"/>
          </a:xfrm>
          <a:prstGeom prst="roundRect">
            <a:avLst>
              <a:gd name="adj" fmla="val 12632"/>
            </a:avLst>
          </a:prstGeom>
          <a:solidFill>
            <a:srgbClr val="FCEBEC"/>
          </a:solidFill>
          <a:ln w="12700">
            <a:solidFill>
              <a:srgbClr val="FCEBEC"/>
            </a:solidFill>
            <a:prstDash val="solid"/>
          </a:ln>
        </p:spPr>
      </p:sp>
      <p:sp>
        <p:nvSpPr>
          <p:cNvPr id="51" name="Shape 41"/>
          <p:cNvSpPr/>
          <p:nvPr/>
        </p:nvSpPr>
        <p:spPr>
          <a:xfrm>
            <a:off x="7338060" y="5257800"/>
            <a:ext cx="502920" cy="502920"/>
          </a:xfrm>
          <a:prstGeom prst="ellipse">
            <a:avLst/>
          </a:prstGeom>
          <a:solidFill>
            <a:srgbClr val="E0565B"/>
          </a:solidFill>
          <a:ln w="12700">
            <a:solidFill>
              <a:srgbClr val="E0565B"/>
            </a:solidFill>
            <a:prstDash val="solid"/>
          </a:ln>
        </p:spPr>
      </p:sp>
      <p:pic>
        <p:nvPicPr>
          <p:cNvPr id="52" name="Image 8" descr="/home/claude/azure/media/w/s13_47.png">    </p:cNvPr>
          <p:cNvPicPr>
            <a:picLocks noChangeAspect="1"/>
          </p:cNvPicPr>
          <p:nvPr/>
        </p:nvPicPr>
        <p:blipFill>
          <a:blip r:embed="rId9"/>
          <a:stretch>
            <a:fillRect/>
          </a:stretch>
        </p:blipFill>
        <p:spPr>
          <a:xfrm>
            <a:off x="7463790" y="5383530"/>
            <a:ext cx="251460" cy="251460"/>
          </a:xfrm>
          <a:prstGeom prst="rect">
            <a:avLst/>
          </a:prstGeom>
        </p:spPr>
      </p:pic>
      <p:sp>
        <p:nvSpPr>
          <p:cNvPr id="53" name="Text 42"/>
          <p:cNvSpPr txBox="1"/>
          <p:nvPr/>
        </p:nvSpPr>
        <p:spPr>
          <a:xfrm>
            <a:off x="7950708" y="5074920"/>
            <a:ext cx="1554480" cy="868680"/>
          </a:xfrm>
          <a:prstGeom prst="rect">
            <a:avLst/>
          </a:prstGeom>
          <a:noFill/>
          <a:ln/>
        </p:spPr>
        <p:txBody>
          <a:bodyPr wrap="square" lIns="0" tIns="0" rIns="0" bIns="0" rtlCol="0" anchor="ctr"/>
          <a:lstStyle/>
          <a:p>
            <a:pPr indent="0" marL="0">
              <a:buNone/>
            </a:pPr>
            <a:r>
              <a:rPr lang="en-US" sz="1500" b="1" dirty="0">
                <a:solidFill>
                  <a:srgbClr val="1D2733"/>
                </a:solidFill>
                <a:latin typeface="Calibri" pitchFamily="34" charset="0"/>
                <a:ea typeface="Calibri" pitchFamily="34" charset="-122"/>
                <a:cs typeface="Calibri" pitchFamily="34" charset="-120"/>
              </a:rPr>
              <a:t>Human Review</a:t>
            </a:r>
            <a:endParaRPr lang="en-US" sz="1500" dirty="0"/>
          </a:p>
          <a:p>
            <a:pPr indent="0" marL="0">
              <a:buNone/>
            </a:pPr>
            <a:r>
              <a:rPr lang="en-US" sz="1200" i="1" dirty="0">
                <a:solidFill>
                  <a:srgbClr val="8B96A5"/>
                </a:solidFill>
                <a:latin typeface="Calibri" pitchFamily="34" charset="0"/>
                <a:ea typeface="Calibri" pitchFamily="34" charset="-122"/>
                <a:cs typeface="Calibri" pitchFamily="34" charset="-120"/>
              </a:rPr>
              <a:t>exception queue</a:t>
            </a:r>
            <a:endParaRPr lang="en-US" sz="1500" dirty="0"/>
          </a:p>
        </p:txBody>
      </p:sp>
      <p:sp>
        <p:nvSpPr>
          <p:cNvPr id="54" name="Text 43"/>
          <p:cNvSpPr txBox="1"/>
          <p:nvPr/>
        </p:nvSpPr>
        <p:spPr>
          <a:xfrm>
            <a:off x="548640" y="6172200"/>
            <a:ext cx="11064240" cy="411480"/>
          </a:xfrm>
          <a:prstGeom prst="rect">
            <a:avLst/>
          </a:prstGeom>
          <a:noFill/>
          <a:ln/>
        </p:spPr>
        <p:txBody>
          <a:bodyPr wrap="square" lIns="0" tIns="0" rIns="0" bIns="0" rtlCol="0" anchor="ctr"/>
          <a:lstStyle/>
          <a:p>
            <a:pPr algn="ctr" indent="0" marL="0">
              <a:buNone/>
            </a:pPr>
            <a:r>
              <a:rPr lang="en-US" sz="1450" i="1" dirty="0">
                <a:solidFill>
                  <a:srgbClr val="3A4656"/>
                </a:solidFill>
                <a:latin typeface="Calibri" pitchFamily="34" charset="0"/>
                <a:ea typeface="Calibri" pitchFamily="34" charset="-122"/>
                <a:cs typeface="Calibri" pitchFamily="34" charset="-120"/>
              </a:rPr>
              <a:t>Resolved cases return to the same Cosmos DB store as everything else — nothing forks permanently out of the pipeline.</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92608"/>
          </a:xfrm>
          <a:prstGeom prst="rect">
            <a:avLst/>
          </a:prstGeom>
          <a:noFill/>
          <a:ln/>
        </p:spPr>
        <p:txBody>
          <a:bodyPr wrap="square" lIns="0" tIns="0" rIns="0" bIns="0" rtlCol="0" anchor="ctr"/>
          <a:lstStyle/>
          <a:p>
            <a:pPr indent="0" marL="0">
              <a:buNone/>
            </a:pPr>
            <a:r>
              <a:rPr lang="en-US" sz="1300" b="1" spc="300" kern="0" dirty="0">
                <a:solidFill>
                  <a:srgbClr val="2BB3A3"/>
                </a:solidFill>
                <a:latin typeface="Calibri" pitchFamily="34" charset="0"/>
                <a:ea typeface="Calibri" pitchFamily="34" charset="-122"/>
                <a:cs typeface="Calibri" pitchFamily="34" charset="-120"/>
              </a:rPr>
              <a:t>04 · SCALING &amp; AGENTIC AI</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D2733"/>
                </a:solidFill>
                <a:latin typeface="Cambria" pitchFamily="34" charset="0"/>
                <a:ea typeface="Cambria" pitchFamily="34" charset="-122"/>
                <a:cs typeface="Cambria" pitchFamily="34" charset="-120"/>
              </a:rPr>
              <a:t>From a Single Model Call to an Orchestrated Agent</a:t>
            </a:r>
            <a:endParaRPr lang="en-US" sz="3200" dirty="0"/>
          </a:p>
        </p:txBody>
      </p:sp>
      <p:sp>
        <p:nvSpPr>
          <p:cNvPr id="4" name="Shape 2"/>
          <p:cNvSpPr/>
          <p:nvPr/>
        </p:nvSpPr>
        <p:spPr>
          <a:xfrm>
            <a:off x="548640" y="1600200"/>
            <a:ext cx="5394960" cy="4023360"/>
          </a:xfrm>
          <a:prstGeom prst="roundRect">
            <a:avLst>
              <a:gd name="adj" fmla="val 2727"/>
            </a:avLst>
          </a:prstGeom>
          <a:solidFill>
            <a:srgbClr val="EEF2F6"/>
          </a:solidFill>
          <a:ln w="12700">
            <a:solidFill>
              <a:srgbClr val="EEF2F6"/>
            </a:solidFill>
            <a:prstDash val="solid"/>
          </a:ln>
        </p:spPr>
      </p:sp>
      <p:sp>
        <p:nvSpPr>
          <p:cNvPr id="5" name="Shape 3"/>
          <p:cNvSpPr/>
          <p:nvPr/>
        </p:nvSpPr>
        <p:spPr>
          <a:xfrm>
            <a:off x="868680" y="1874520"/>
            <a:ext cx="685800" cy="685800"/>
          </a:xfrm>
          <a:prstGeom prst="ellipse">
            <a:avLst/>
          </a:prstGeom>
          <a:solidFill>
            <a:srgbClr val="0F1720"/>
          </a:solidFill>
          <a:ln w="12700">
            <a:solidFill>
              <a:srgbClr val="0F1720"/>
            </a:solidFill>
            <a:prstDash val="solid"/>
          </a:ln>
        </p:spPr>
      </p:sp>
      <p:pic>
        <p:nvPicPr>
          <p:cNvPr id="6" name="Image 0" descr="/home/claude/azure/media/w/s14_6.png">    </p:cNvPr>
          <p:cNvPicPr>
            <a:picLocks noChangeAspect="1"/>
          </p:cNvPicPr>
          <p:nvPr/>
        </p:nvPicPr>
        <p:blipFill>
          <a:blip r:embed="rId1"/>
          <a:stretch>
            <a:fillRect/>
          </a:stretch>
        </p:blipFill>
        <p:spPr>
          <a:xfrm>
            <a:off x="1040130" y="2045970"/>
            <a:ext cx="342900" cy="342900"/>
          </a:xfrm>
          <a:prstGeom prst="rect">
            <a:avLst/>
          </a:prstGeom>
        </p:spPr>
      </p:pic>
      <p:sp>
        <p:nvSpPr>
          <p:cNvPr id="7" name="Text 4"/>
          <p:cNvSpPr txBox="1"/>
          <p:nvPr/>
        </p:nvSpPr>
        <p:spPr>
          <a:xfrm>
            <a:off x="1737360" y="1874520"/>
            <a:ext cx="4023360" cy="685800"/>
          </a:xfrm>
          <a:prstGeom prst="rect">
            <a:avLst/>
          </a:prstGeom>
          <a:noFill/>
          <a:ln/>
        </p:spPr>
        <p:txBody>
          <a:bodyPr wrap="square" lIns="0" tIns="0" rIns="0" bIns="0" rtlCol="0" anchor="ctr"/>
          <a:lstStyle/>
          <a:p>
            <a:pPr indent="0" marL="0">
              <a:buNone/>
            </a:pPr>
            <a:r>
              <a:rPr lang="en-US" sz="2200" b="1" dirty="0">
                <a:solidFill>
                  <a:srgbClr val="1D2733"/>
                </a:solidFill>
                <a:latin typeface="Calibri" pitchFamily="34" charset="0"/>
                <a:ea typeface="Calibri" pitchFamily="34" charset="-122"/>
                <a:cs typeface="Calibri" pitchFamily="34" charset="-120"/>
              </a:rPr>
              <a:t>Today</a:t>
            </a:r>
            <a:endParaRPr lang="en-US" sz="2200" dirty="0"/>
          </a:p>
        </p:txBody>
      </p:sp>
      <p:sp>
        <p:nvSpPr>
          <p:cNvPr id="8" name="Text 5"/>
          <p:cNvSpPr txBox="1"/>
          <p:nvPr/>
        </p:nvSpPr>
        <p:spPr>
          <a:xfrm>
            <a:off x="914400" y="2880360"/>
            <a:ext cx="4709160" cy="32918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One function, one model call, one verdict</a:t>
            </a:r>
            <a:endParaRPr lang="en-US" sz="1700" dirty="0"/>
          </a:p>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No memory carried across steps</a:t>
            </a:r>
            <a:endParaRPr lang="en-US" sz="1700" dirty="0"/>
          </a:p>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No structured escalation when confidence is low</a:t>
            </a:r>
            <a:endParaRPr lang="en-US" sz="1700" dirty="0"/>
          </a:p>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A new check means rewriting the function</a:t>
            </a:r>
            <a:endParaRPr lang="en-US" sz="1700" dirty="0"/>
          </a:p>
        </p:txBody>
      </p:sp>
      <p:sp>
        <p:nvSpPr>
          <p:cNvPr id="9" name="Shape 6"/>
          <p:cNvSpPr/>
          <p:nvPr/>
        </p:nvSpPr>
        <p:spPr>
          <a:xfrm>
            <a:off x="6217920" y="1600200"/>
            <a:ext cx="5394960" cy="4023360"/>
          </a:xfrm>
          <a:prstGeom prst="roundRect">
            <a:avLst>
              <a:gd name="adj" fmla="val 2727"/>
            </a:avLst>
          </a:prstGeom>
          <a:solidFill>
            <a:srgbClr val="E3F4F2"/>
          </a:solidFill>
          <a:ln w="12700">
            <a:solidFill>
              <a:srgbClr val="E3F4F2"/>
            </a:solidFill>
            <a:prstDash val="solid"/>
          </a:ln>
        </p:spPr>
      </p:sp>
      <p:sp>
        <p:nvSpPr>
          <p:cNvPr id="10" name="Shape 7"/>
          <p:cNvSpPr/>
          <p:nvPr/>
        </p:nvSpPr>
        <p:spPr>
          <a:xfrm>
            <a:off x="6537960" y="1874520"/>
            <a:ext cx="685800" cy="685800"/>
          </a:xfrm>
          <a:prstGeom prst="ellipse">
            <a:avLst/>
          </a:prstGeom>
          <a:solidFill>
            <a:srgbClr val="2BB3A3"/>
          </a:solidFill>
          <a:ln w="12700">
            <a:solidFill>
              <a:srgbClr val="2BB3A3"/>
            </a:solidFill>
            <a:prstDash val="solid"/>
          </a:ln>
        </p:spPr>
      </p:sp>
      <p:pic>
        <p:nvPicPr>
          <p:cNvPr id="11" name="Image 1" descr="/home/claude/azure/media/w/s14_11.png">    </p:cNvPr>
          <p:cNvPicPr>
            <a:picLocks noChangeAspect="1"/>
          </p:cNvPicPr>
          <p:nvPr/>
        </p:nvPicPr>
        <p:blipFill>
          <a:blip r:embed="rId2"/>
          <a:stretch>
            <a:fillRect/>
          </a:stretch>
        </p:blipFill>
        <p:spPr>
          <a:xfrm>
            <a:off x="6709410" y="2045970"/>
            <a:ext cx="342900" cy="342900"/>
          </a:xfrm>
          <a:prstGeom prst="rect">
            <a:avLst/>
          </a:prstGeom>
        </p:spPr>
      </p:pic>
      <p:sp>
        <p:nvSpPr>
          <p:cNvPr id="12" name="Text 8"/>
          <p:cNvSpPr txBox="1"/>
          <p:nvPr/>
        </p:nvSpPr>
        <p:spPr>
          <a:xfrm>
            <a:off x="7406640" y="1874520"/>
            <a:ext cx="4023360" cy="685800"/>
          </a:xfrm>
          <a:prstGeom prst="rect">
            <a:avLst/>
          </a:prstGeom>
          <a:noFill/>
          <a:ln/>
        </p:spPr>
        <p:txBody>
          <a:bodyPr wrap="square" lIns="0" tIns="0" rIns="0" bIns="0" rtlCol="0" anchor="ctr"/>
          <a:lstStyle/>
          <a:p>
            <a:pPr indent="0" marL="0">
              <a:buNone/>
            </a:pPr>
            <a:r>
              <a:rPr lang="en-US" sz="2200" b="1" dirty="0">
                <a:solidFill>
                  <a:srgbClr val="1D2733"/>
                </a:solidFill>
                <a:latin typeface="Calibri" pitchFamily="34" charset="0"/>
                <a:ea typeface="Calibri" pitchFamily="34" charset="-122"/>
                <a:cs typeface="Calibri" pitchFamily="34" charset="-120"/>
              </a:rPr>
              <a:t>With an Orchestrated Agent</a:t>
            </a:r>
            <a:endParaRPr lang="en-US" sz="2200" dirty="0"/>
          </a:p>
        </p:txBody>
      </p:sp>
      <p:sp>
        <p:nvSpPr>
          <p:cNvPr id="13" name="Text 9"/>
          <p:cNvSpPr txBox="1"/>
          <p:nvPr/>
        </p:nvSpPr>
        <p:spPr>
          <a:xfrm>
            <a:off x="6583680" y="2880360"/>
            <a:ext cx="4709160" cy="32918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An orchestrator reasons across multiple tools — quality, vision, geo</a:t>
            </a:r>
            <a:endParaRPr lang="en-US" sz="1700" dirty="0"/>
          </a:p>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State persists across steps: checkpoints, retries, resumes</a:t>
            </a:r>
            <a:endParaRPr lang="en-US" sz="1700" dirty="0"/>
          </a:p>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Low-confidence cases pause for a human, then resume automatically</a:t>
            </a:r>
            <a:endParaRPr lang="en-US" sz="1700" dirty="0"/>
          </a:p>
          <a:p>
            <a:pPr marL="342900" indent="-342900">
              <a:spcAft>
                <a:spcPts val="800"/>
              </a:spcAft>
              <a:buSzPct val="100000"/>
              <a:buChar char="•"/>
            </a:pPr>
            <a:r>
              <a:rPr lang="en-US" sz="1700" dirty="0">
                <a:solidFill>
                  <a:srgbClr val="3A4656"/>
                </a:solidFill>
                <a:latin typeface="Calibri" pitchFamily="34" charset="0"/>
                <a:ea typeface="Calibri" pitchFamily="34" charset="-122"/>
                <a:cs typeface="Calibri" pitchFamily="34" charset="-120"/>
              </a:rPr>
              <a:t>A new check is added as a tool, not a rewrite</a:t>
            </a:r>
            <a:endParaRPr lang="en-US" sz="1700" dirty="0"/>
          </a:p>
        </p:txBody>
      </p:sp>
      <p:sp>
        <p:nvSpPr>
          <p:cNvPr id="14" name="Shape 10"/>
          <p:cNvSpPr/>
          <p:nvPr/>
        </p:nvSpPr>
        <p:spPr>
          <a:xfrm>
            <a:off x="5788152" y="3319272"/>
            <a:ext cx="585216" cy="585216"/>
          </a:xfrm>
          <a:prstGeom prst="ellipse">
            <a:avLst/>
          </a:prstGeom>
          <a:solidFill>
            <a:srgbClr val="F2A541"/>
          </a:solidFill>
          <a:ln w="38100">
            <a:solidFill>
              <a:srgbClr val="FFFFFF"/>
            </a:solidFill>
            <a:prstDash val="solid"/>
          </a:ln>
        </p:spPr>
      </p:sp>
      <p:sp>
        <p:nvSpPr>
          <p:cNvPr id="15" name="Text 11"/>
          <p:cNvSpPr txBox="1"/>
          <p:nvPr/>
        </p:nvSpPr>
        <p:spPr>
          <a:xfrm>
            <a:off x="5788152" y="3319272"/>
            <a:ext cx="585216" cy="585216"/>
          </a:xfrm>
          <a:prstGeom prst="rect">
            <a:avLst/>
          </a:prstGeom>
          <a:noFill/>
          <a:ln/>
        </p:spPr>
        <p:txBody>
          <a:bodyPr wrap="square" lIns="0" tIns="0" rIns="0" bIns="0" rtlCol="0" anchor="ctr"/>
          <a:lstStyle/>
          <a:p>
            <a:pPr algn="ctr" indent="0" marL="0">
              <a:buNone/>
            </a:pPr>
            <a:r>
              <a:rPr lang="en-US" sz="2200" b="1" dirty="0">
                <a:solidFill>
                  <a:srgbClr val="0F1720"/>
                </a:solidFill>
                <a:latin typeface="Calibri" pitchFamily="34" charset="0"/>
                <a:ea typeface="Calibri" pitchFamily="34" charset="-122"/>
                <a:cs typeface="Calibri" pitchFamily="34" charset="-120"/>
              </a:rPr>
              <a:t>→</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92608"/>
          </a:xfrm>
          <a:prstGeom prst="rect">
            <a:avLst/>
          </a:prstGeom>
          <a:noFill/>
          <a:ln/>
        </p:spPr>
        <p:txBody>
          <a:bodyPr wrap="square" lIns="0" tIns="0" rIns="0" bIns="0" rtlCol="0" anchor="ctr"/>
          <a:lstStyle/>
          <a:p>
            <a:pPr indent="0" marL="0">
              <a:buNone/>
            </a:pPr>
            <a:r>
              <a:rPr lang="en-US" sz="1300" b="1" spc="300" kern="0" dirty="0">
                <a:solidFill>
                  <a:srgbClr val="2BB3A3"/>
                </a:solidFill>
                <a:latin typeface="Calibri" pitchFamily="34" charset="0"/>
                <a:ea typeface="Calibri" pitchFamily="34" charset="-122"/>
                <a:cs typeface="Calibri" pitchFamily="34" charset="-120"/>
              </a:rPr>
              <a:t>04 · SCALING &amp; AGENTIC AI</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D2733"/>
                </a:solidFill>
                <a:latin typeface="Cambria" pitchFamily="34" charset="0"/>
                <a:ea typeface="Cambria" pitchFamily="34" charset="-122"/>
                <a:cs typeface="Cambria" pitchFamily="34" charset="-120"/>
              </a:rPr>
              <a:t>What to Plan for With Microsoft’s Agent Framework</a:t>
            </a:r>
            <a:endParaRPr lang="en-US" sz="3200" dirty="0"/>
          </a:p>
        </p:txBody>
      </p:sp>
      <p:sp>
        <p:nvSpPr>
          <p:cNvPr id="4" name="Text 2"/>
          <p:cNvSpPr txBox="1"/>
          <p:nvPr/>
        </p:nvSpPr>
        <p:spPr>
          <a:xfrm>
            <a:off x="548640" y="1325880"/>
            <a:ext cx="11064240" cy="502920"/>
          </a:xfrm>
          <a:prstGeom prst="rect">
            <a:avLst/>
          </a:prstGeom>
          <a:noFill/>
          <a:ln/>
        </p:spPr>
        <p:txBody>
          <a:bodyPr wrap="square" lIns="0" tIns="0" rIns="0" bIns="0" rtlCol="0" anchor="ctr"/>
          <a:lstStyle/>
          <a:p>
            <a:pPr indent="0" marL="0">
              <a:buNone/>
            </a:pPr>
            <a:r>
              <a:rPr lang="en-US" sz="1400" i="1" dirty="0">
                <a:solidFill>
                  <a:srgbClr val="8B96A5"/>
                </a:solidFill>
                <a:latin typeface="Calibri" pitchFamily="34" charset="0"/>
                <a:ea typeface="Calibri" pitchFamily="34" charset="-122"/>
                <a:cs typeface="Calibri" pitchFamily="34" charset="-120"/>
              </a:rPr>
              <a:t>Microsoft Agent Framework reached general availability in April 2026 as the successor to Semantic Kernel and AutoGen; agents can be hosted on Microsoft Foundry Agent Service.</a:t>
            </a:r>
            <a:endParaRPr lang="en-US" sz="1400" dirty="0"/>
          </a:p>
        </p:txBody>
      </p:sp>
      <p:sp>
        <p:nvSpPr>
          <p:cNvPr id="5" name="Shape 3"/>
          <p:cNvSpPr/>
          <p:nvPr/>
        </p:nvSpPr>
        <p:spPr>
          <a:xfrm>
            <a:off x="548640" y="1965960"/>
            <a:ext cx="3474720" cy="2148840"/>
          </a:xfrm>
          <a:prstGeom prst="roundRect">
            <a:avLst>
              <a:gd name="adj" fmla="val 5106"/>
            </a:avLst>
          </a:prstGeom>
          <a:solidFill>
            <a:srgbClr val="EEF2F6"/>
          </a:solidFill>
          <a:ln w="12700">
            <a:solidFill>
              <a:srgbClr val="EEF2F6"/>
            </a:solidFill>
            <a:prstDash val="solid"/>
          </a:ln>
        </p:spPr>
      </p:sp>
      <p:sp>
        <p:nvSpPr>
          <p:cNvPr id="6" name="Shape 4"/>
          <p:cNvSpPr/>
          <p:nvPr/>
        </p:nvSpPr>
        <p:spPr>
          <a:xfrm>
            <a:off x="822960" y="2240280"/>
            <a:ext cx="594360" cy="594360"/>
          </a:xfrm>
          <a:prstGeom prst="ellipse">
            <a:avLst/>
          </a:prstGeom>
          <a:solidFill>
            <a:srgbClr val="F2A541"/>
          </a:solidFill>
          <a:ln w="12700">
            <a:solidFill>
              <a:srgbClr val="F2A541"/>
            </a:solidFill>
            <a:prstDash val="solid"/>
          </a:ln>
        </p:spPr>
      </p:sp>
      <p:pic>
        <p:nvPicPr>
          <p:cNvPr id="7" name="Image 0" descr="/home/claude/azure/media/w/s15_7.png">    </p:cNvPr>
          <p:cNvPicPr>
            <a:picLocks noChangeAspect="1"/>
          </p:cNvPicPr>
          <p:nvPr/>
        </p:nvPicPr>
        <p:blipFill>
          <a:blip r:embed="rId1"/>
          <a:stretch>
            <a:fillRect/>
          </a:stretch>
        </p:blipFill>
        <p:spPr>
          <a:xfrm>
            <a:off x="971550" y="2388870"/>
            <a:ext cx="297180" cy="297180"/>
          </a:xfrm>
          <a:prstGeom prst="rect">
            <a:avLst/>
          </a:prstGeom>
        </p:spPr>
      </p:pic>
      <p:sp>
        <p:nvSpPr>
          <p:cNvPr id="8" name="Text 5"/>
          <p:cNvSpPr txBox="1"/>
          <p:nvPr/>
        </p:nvSpPr>
        <p:spPr>
          <a:xfrm>
            <a:off x="1554480" y="2240280"/>
            <a:ext cx="2286000" cy="594360"/>
          </a:xfrm>
          <a:prstGeom prst="rect">
            <a:avLst/>
          </a:prstGeom>
          <a:noFill/>
          <a:ln/>
        </p:spPr>
        <p:txBody>
          <a:bodyPr wrap="square" lIns="0" tIns="0" rIns="0" bIns="0" rtlCol="0" anchor="ctr"/>
          <a:lstStyle/>
          <a:p>
            <a:pPr indent="0" marL="0">
              <a:buNone/>
            </a:pPr>
            <a:r>
              <a:rPr lang="en-US" sz="1700" b="1" dirty="0">
                <a:solidFill>
                  <a:srgbClr val="1D2733"/>
                </a:solidFill>
                <a:latin typeface="Calibri" pitchFamily="34" charset="0"/>
                <a:ea typeface="Calibri" pitchFamily="34" charset="-122"/>
                <a:cs typeface="Calibri" pitchFamily="34" charset="-120"/>
              </a:rPr>
              <a:t>Orchestration Model</a:t>
            </a:r>
            <a:endParaRPr lang="en-US" sz="1700" dirty="0"/>
          </a:p>
        </p:txBody>
      </p:sp>
      <p:sp>
        <p:nvSpPr>
          <p:cNvPr id="9" name="Text 6"/>
          <p:cNvSpPr txBox="1"/>
          <p:nvPr/>
        </p:nvSpPr>
        <p:spPr>
          <a:xfrm>
            <a:off x="822960" y="2971800"/>
            <a:ext cx="2926080" cy="1051560"/>
          </a:xfrm>
          <a:prstGeom prst="rect">
            <a:avLst/>
          </a:prstGeom>
          <a:noFill/>
          <a:ln/>
        </p:spPr>
        <p:txBody>
          <a:bodyPr wrap="square" lIns="0" tIns="0" rIns="0" bIns="0" rtlCol="0" anchor="t"/>
          <a:lstStyle/>
          <a:p>
            <a:pPr indent="0" marL="0">
              <a:buNone/>
            </a:pPr>
            <a:r>
              <a:rPr lang="en-US" sz="1400" dirty="0">
                <a:solidFill>
                  <a:srgbClr val="3A4656"/>
                </a:solidFill>
                <a:latin typeface="Calibri" pitchFamily="34" charset="0"/>
                <a:ea typeface="Calibri" pitchFamily="34" charset="-122"/>
                <a:cs typeface="Calibri" pitchFamily="34" charset="-120"/>
              </a:rPr>
              <a:t>Graph-based workflows give sequential, concurrent, and hand-off patterns across your tools.</a:t>
            </a:r>
            <a:endParaRPr lang="en-US" sz="1400" dirty="0"/>
          </a:p>
        </p:txBody>
      </p:sp>
      <p:sp>
        <p:nvSpPr>
          <p:cNvPr id="10" name="Shape 7"/>
          <p:cNvSpPr/>
          <p:nvPr/>
        </p:nvSpPr>
        <p:spPr>
          <a:xfrm>
            <a:off x="4343400" y="1965960"/>
            <a:ext cx="3474720" cy="2148840"/>
          </a:xfrm>
          <a:prstGeom prst="roundRect">
            <a:avLst>
              <a:gd name="adj" fmla="val 5106"/>
            </a:avLst>
          </a:prstGeom>
          <a:solidFill>
            <a:srgbClr val="E3F4F2"/>
          </a:solidFill>
          <a:ln w="12700">
            <a:solidFill>
              <a:srgbClr val="E3F4F2"/>
            </a:solidFill>
            <a:prstDash val="solid"/>
          </a:ln>
        </p:spPr>
      </p:sp>
      <p:sp>
        <p:nvSpPr>
          <p:cNvPr id="11" name="Shape 8"/>
          <p:cNvSpPr/>
          <p:nvPr/>
        </p:nvSpPr>
        <p:spPr>
          <a:xfrm>
            <a:off x="4617720" y="2240280"/>
            <a:ext cx="594360" cy="594360"/>
          </a:xfrm>
          <a:prstGeom prst="ellipse">
            <a:avLst/>
          </a:prstGeom>
          <a:solidFill>
            <a:srgbClr val="2BB3A3"/>
          </a:solidFill>
          <a:ln w="12700">
            <a:solidFill>
              <a:srgbClr val="2BB3A3"/>
            </a:solidFill>
            <a:prstDash val="solid"/>
          </a:ln>
        </p:spPr>
      </p:sp>
      <p:pic>
        <p:nvPicPr>
          <p:cNvPr id="12" name="Image 1" descr="/home/claude/azure/media/w/s15_12.png">    </p:cNvPr>
          <p:cNvPicPr>
            <a:picLocks noChangeAspect="1"/>
          </p:cNvPicPr>
          <p:nvPr/>
        </p:nvPicPr>
        <p:blipFill>
          <a:blip r:embed="rId2"/>
          <a:stretch>
            <a:fillRect/>
          </a:stretch>
        </p:blipFill>
        <p:spPr>
          <a:xfrm>
            <a:off x="4766310" y="2388870"/>
            <a:ext cx="297180" cy="297180"/>
          </a:xfrm>
          <a:prstGeom prst="rect">
            <a:avLst/>
          </a:prstGeom>
        </p:spPr>
      </p:pic>
      <p:sp>
        <p:nvSpPr>
          <p:cNvPr id="13" name="Text 9"/>
          <p:cNvSpPr txBox="1"/>
          <p:nvPr/>
        </p:nvSpPr>
        <p:spPr>
          <a:xfrm>
            <a:off x="5349240" y="2240280"/>
            <a:ext cx="2286000" cy="594360"/>
          </a:xfrm>
          <a:prstGeom prst="rect">
            <a:avLst/>
          </a:prstGeom>
          <a:noFill/>
          <a:ln/>
        </p:spPr>
        <p:txBody>
          <a:bodyPr wrap="square" lIns="0" tIns="0" rIns="0" bIns="0" rtlCol="0" anchor="ctr"/>
          <a:lstStyle/>
          <a:p>
            <a:pPr indent="0" marL="0">
              <a:buNone/>
            </a:pPr>
            <a:r>
              <a:rPr lang="en-US" sz="1700" b="1" dirty="0">
                <a:solidFill>
                  <a:srgbClr val="1D2733"/>
                </a:solidFill>
                <a:latin typeface="Calibri" pitchFamily="34" charset="0"/>
                <a:ea typeface="Calibri" pitchFamily="34" charset="-122"/>
                <a:cs typeface="Calibri" pitchFamily="34" charset="-120"/>
              </a:rPr>
              <a:t>Hosting &amp; Runtime</a:t>
            </a:r>
            <a:endParaRPr lang="en-US" sz="1700" dirty="0"/>
          </a:p>
        </p:txBody>
      </p:sp>
      <p:sp>
        <p:nvSpPr>
          <p:cNvPr id="14" name="Text 10"/>
          <p:cNvSpPr txBox="1"/>
          <p:nvPr/>
        </p:nvSpPr>
        <p:spPr>
          <a:xfrm>
            <a:off x="4617720" y="2971800"/>
            <a:ext cx="2926080" cy="1051560"/>
          </a:xfrm>
          <a:prstGeom prst="rect">
            <a:avLst/>
          </a:prstGeom>
          <a:noFill/>
          <a:ln/>
        </p:spPr>
        <p:txBody>
          <a:bodyPr wrap="square" lIns="0" tIns="0" rIns="0" bIns="0" rtlCol="0" anchor="t"/>
          <a:lstStyle/>
          <a:p>
            <a:pPr indent="0" marL="0">
              <a:buNone/>
            </a:pPr>
            <a:r>
              <a:rPr lang="en-US" sz="1400" dirty="0">
                <a:solidFill>
                  <a:srgbClr val="3A4656"/>
                </a:solidFill>
                <a:latin typeface="Calibri" pitchFamily="34" charset="0"/>
                <a:ea typeface="Calibri" pitchFamily="34" charset="-122"/>
                <a:cs typeface="Calibri" pitchFamily="34" charset="-120"/>
              </a:rPr>
              <a:t>Microsoft Foundry Agent Service runs agents in a managed, sandboxed environment.</a:t>
            </a:r>
            <a:endParaRPr lang="en-US" sz="1400" dirty="0"/>
          </a:p>
        </p:txBody>
      </p:sp>
      <p:sp>
        <p:nvSpPr>
          <p:cNvPr id="15" name="Shape 11"/>
          <p:cNvSpPr/>
          <p:nvPr/>
        </p:nvSpPr>
        <p:spPr>
          <a:xfrm>
            <a:off x="8138160" y="1965960"/>
            <a:ext cx="3474720" cy="2148840"/>
          </a:xfrm>
          <a:prstGeom prst="roundRect">
            <a:avLst>
              <a:gd name="adj" fmla="val 5106"/>
            </a:avLst>
          </a:prstGeom>
          <a:solidFill>
            <a:srgbClr val="EEF2F6"/>
          </a:solidFill>
          <a:ln w="12700">
            <a:solidFill>
              <a:srgbClr val="EEF2F6"/>
            </a:solidFill>
            <a:prstDash val="solid"/>
          </a:ln>
        </p:spPr>
      </p:sp>
      <p:sp>
        <p:nvSpPr>
          <p:cNvPr id="16" name="Shape 12"/>
          <p:cNvSpPr/>
          <p:nvPr/>
        </p:nvSpPr>
        <p:spPr>
          <a:xfrm>
            <a:off x="8412480" y="2240280"/>
            <a:ext cx="594360" cy="594360"/>
          </a:xfrm>
          <a:prstGeom prst="ellipse">
            <a:avLst/>
          </a:prstGeom>
          <a:solidFill>
            <a:srgbClr val="F2A541"/>
          </a:solidFill>
          <a:ln w="12700">
            <a:solidFill>
              <a:srgbClr val="F2A541"/>
            </a:solidFill>
            <a:prstDash val="solid"/>
          </a:ln>
        </p:spPr>
      </p:sp>
      <p:pic>
        <p:nvPicPr>
          <p:cNvPr id="17" name="Image 2" descr="/home/claude/azure/media/w/s15_17.png">    </p:cNvPr>
          <p:cNvPicPr>
            <a:picLocks noChangeAspect="1"/>
          </p:cNvPicPr>
          <p:nvPr/>
        </p:nvPicPr>
        <p:blipFill>
          <a:blip r:embed="rId3"/>
          <a:stretch>
            <a:fillRect/>
          </a:stretch>
        </p:blipFill>
        <p:spPr>
          <a:xfrm>
            <a:off x="8561070" y="2388870"/>
            <a:ext cx="297180" cy="297180"/>
          </a:xfrm>
          <a:prstGeom prst="rect">
            <a:avLst/>
          </a:prstGeom>
        </p:spPr>
      </p:pic>
      <p:sp>
        <p:nvSpPr>
          <p:cNvPr id="18" name="Text 13"/>
          <p:cNvSpPr txBox="1"/>
          <p:nvPr/>
        </p:nvSpPr>
        <p:spPr>
          <a:xfrm>
            <a:off x="9144000" y="2240280"/>
            <a:ext cx="2286000" cy="594360"/>
          </a:xfrm>
          <a:prstGeom prst="rect">
            <a:avLst/>
          </a:prstGeom>
          <a:noFill/>
          <a:ln/>
        </p:spPr>
        <p:txBody>
          <a:bodyPr wrap="square" lIns="0" tIns="0" rIns="0" bIns="0" rtlCol="0" anchor="ctr"/>
          <a:lstStyle/>
          <a:p>
            <a:pPr indent="0" marL="0">
              <a:buNone/>
            </a:pPr>
            <a:r>
              <a:rPr lang="en-US" sz="1700" b="1" dirty="0">
                <a:solidFill>
                  <a:srgbClr val="1D2733"/>
                </a:solidFill>
                <a:latin typeface="Calibri" pitchFamily="34" charset="0"/>
                <a:ea typeface="Calibri" pitchFamily="34" charset="-122"/>
                <a:cs typeface="Calibri" pitchFamily="34" charset="-120"/>
              </a:rPr>
              <a:t>Human-in-the-Loop</a:t>
            </a:r>
            <a:endParaRPr lang="en-US" sz="1700" dirty="0"/>
          </a:p>
        </p:txBody>
      </p:sp>
      <p:sp>
        <p:nvSpPr>
          <p:cNvPr id="19" name="Text 14"/>
          <p:cNvSpPr txBox="1"/>
          <p:nvPr/>
        </p:nvSpPr>
        <p:spPr>
          <a:xfrm>
            <a:off x="8412480" y="2971800"/>
            <a:ext cx="2926080" cy="1051560"/>
          </a:xfrm>
          <a:prstGeom prst="rect">
            <a:avLst/>
          </a:prstGeom>
          <a:noFill/>
          <a:ln/>
        </p:spPr>
        <p:txBody>
          <a:bodyPr wrap="square" lIns="0" tIns="0" rIns="0" bIns="0" rtlCol="0" anchor="t"/>
          <a:lstStyle/>
          <a:p>
            <a:pPr indent="0" marL="0">
              <a:buNone/>
            </a:pPr>
            <a:r>
              <a:rPr lang="en-US" sz="1400" dirty="0">
                <a:solidFill>
                  <a:srgbClr val="3A4656"/>
                </a:solidFill>
                <a:latin typeface="Calibri" pitchFamily="34" charset="0"/>
                <a:ea typeface="Calibri" pitchFamily="34" charset="-122"/>
                <a:cs typeface="Calibri" pitchFamily="34" charset="-120"/>
              </a:rPr>
              <a:t>Built-in checkpointing pauses a workflow on low confidence and resumes after review.</a:t>
            </a:r>
            <a:endParaRPr lang="en-US" sz="1400" dirty="0"/>
          </a:p>
        </p:txBody>
      </p:sp>
      <p:sp>
        <p:nvSpPr>
          <p:cNvPr id="20" name="Shape 15"/>
          <p:cNvSpPr/>
          <p:nvPr/>
        </p:nvSpPr>
        <p:spPr>
          <a:xfrm>
            <a:off x="548640" y="4389120"/>
            <a:ext cx="3474720" cy="2148840"/>
          </a:xfrm>
          <a:prstGeom prst="roundRect">
            <a:avLst>
              <a:gd name="adj" fmla="val 5106"/>
            </a:avLst>
          </a:prstGeom>
          <a:solidFill>
            <a:srgbClr val="E3F4F2"/>
          </a:solidFill>
          <a:ln w="12700">
            <a:solidFill>
              <a:srgbClr val="E3F4F2"/>
            </a:solidFill>
            <a:prstDash val="solid"/>
          </a:ln>
        </p:spPr>
      </p:sp>
      <p:sp>
        <p:nvSpPr>
          <p:cNvPr id="21" name="Shape 16"/>
          <p:cNvSpPr/>
          <p:nvPr/>
        </p:nvSpPr>
        <p:spPr>
          <a:xfrm>
            <a:off x="822960" y="4663440"/>
            <a:ext cx="594360" cy="594360"/>
          </a:xfrm>
          <a:prstGeom prst="ellipse">
            <a:avLst/>
          </a:prstGeom>
          <a:solidFill>
            <a:srgbClr val="2BB3A3"/>
          </a:solidFill>
          <a:ln w="12700">
            <a:solidFill>
              <a:srgbClr val="2BB3A3"/>
            </a:solidFill>
            <a:prstDash val="solid"/>
          </a:ln>
        </p:spPr>
      </p:sp>
      <p:pic>
        <p:nvPicPr>
          <p:cNvPr id="22" name="Image 3" descr="/home/claude/azure/media/w/s15_22.png">    </p:cNvPr>
          <p:cNvPicPr>
            <a:picLocks noChangeAspect="1"/>
          </p:cNvPicPr>
          <p:nvPr/>
        </p:nvPicPr>
        <p:blipFill>
          <a:blip r:embed="rId4"/>
          <a:stretch>
            <a:fillRect/>
          </a:stretch>
        </p:blipFill>
        <p:spPr>
          <a:xfrm>
            <a:off x="971550" y="4812030"/>
            <a:ext cx="297180" cy="297180"/>
          </a:xfrm>
          <a:prstGeom prst="rect">
            <a:avLst/>
          </a:prstGeom>
        </p:spPr>
      </p:pic>
      <p:sp>
        <p:nvSpPr>
          <p:cNvPr id="23" name="Text 17"/>
          <p:cNvSpPr txBox="1"/>
          <p:nvPr/>
        </p:nvSpPr>
        <p:spPr>
          <a:xfrm>
            <a:off x="1554480" y="4663440"/>
            <a:ext cx="2286000" cy="594360"/>
          </a:xfrm>
          <a:prstGeom prst="rect">
            <a:avLst/>
          </a:prstGeom>
          <a:noFill/>
          <a:ln/>
        </p:spPr>
        <p:txBody>
          <a:bodyPr wrap="square" lIns="0" tIns="0" rIns="0" bIns="0" rtlCol="0" anchor="ctr"/>
          <a:lstStyle/>
          <a:p>
            <a:pPr indent="0" marL="0">
              <a:buNone/>
            </a:pPr>
            <a:r>
              <a:rPr lang="en-US" sz="1700" b="1" dirty="0">
                <a:solidFill>
                  <a:srgbClr val="1D2733"/>
                </a:solidFill>
                <a:latin typeface="Calibri" pitchFamily="34" charset="0"/>
                <a:ea typeface="Calibri" pitchFamily="34" charset="-122"/>
                <a:cs typeface="Calibri" pitchFamily="34" charset="-120"/>
              </a:rPr>
              <a:t>Interoperability</a:t>
            </a:r>
            <a:endParaRPr lang="en-US" sz="1700" dirty="0"/>
          </a:p>
        </p:txBody>
      </p:sp>
      <p:sp>
        <p:nvSpPr>
          <p:cNvPr id="24" name="Text 18"/>
          <p:cNvSpPr txBox="1"/>
          <p:nvPr/>
        </p:nvSpPr>
        <p:spPr>
          <a:xfrm>
            <a:off x="822960" y="5394960"/>
            <a:ext cx="2926080" cy="1051560"/>
          </a:xfrm>
          <a:prstGeom prst="rect">
            <a:avLst/>
          </a:prstGeom>
          <a:noFill/>
          <a:ln/>
        </p:spPr>
        <p:txBody>
          <a:bodyPr wrap="square" lIns="0" tIns="0" rIns="0" bIns="0" rtlCol="0" anchor="t"/>
          <a:lstStyle/>
          <a:p>
            <a:pPr indent="0" marL="0">
              <a:buNone/>
            </a:pPr>
            <a:r>
              <a:rPr lang="en-US" sz="1400" dirty="0">
                <a:solidFill>
                  <a:srgbClr val="3A4656"/>
                </a:solidFill>
                <a:latin typeface="Calibri" pitchFamily="34" charset="0"/>
                <a:ea typeface="Calibri" pitchFamily="34" charset="-122"/>
                <a:cs typeface="Calibri" pitchFamily="34" charset="-120"/>
              </a:rPr>
              <a:t>A2A and MCP support let the agent expose or consume tools without one-off integrations.</a:t>
            </a:r>
            <a:endParaRPr lang="en-US" sz="1400" dirty="0"/>
          </a:p>
        </p:txBody>
      </p:sp>
      <p:sp>
        <p:nvSpPr>
          <p:cNvPr id="25" name="Shape 19"/>
          <p:cNvSpPr/>
          <p:nvPr/>
        </p:nvSpPr>
        <p:spPr>
          <a:xfrm>
            <a:off x="4343400" y="4389120"/>
            <a:ext cx="3474720" cy="2148840"/>
          </a:xfrm>
          <a:prstGeom prst="roundRect">
            <a:avLst>
              <a:gd name="adj" fmla="val 5106"/>
            </a:avLst>
          </a:prstGeom>
          <a:solidFill>
            <a:srgbClr val="EEF2F6"/>
          </a:solidFill>
          <a:ln w="12700">
            <a:solidFill>
              <a:srgbClr val="EEF2F6"/>
            </a:solidFill>
            <a:prstDash val="solid"/>
          </a:ln>
        </p:spPr>
      </p:sp>
      <p:sp>
        <p:nvSpPr>
          <p:cNvPr id="26" name="Shape 20"/>
          <p:cNvSpPr/>
          <p:nvPr/>
        </p:nvSpPr>
        <p:spPr>
          <a:xfrm>
            <a:off x="4617720" y="4663440"/>
            <a:ext cx="594360" cy="594360"/>
          </a:xfrm>
          <a:prstGeom prst="ellipse">
            <a:avLst/>
          </a:prstGeom>
          <a:solidFill>
            <a:srgbClr val="F2A541"/>
          </a:solidFill>
          <a:ln w="12700">
            <a:solidFill>
              <a:srgbClr val="F2A541"/>
            </a:solidFill>
            <a:prstDash val="solid"/>
          </a:ln>
        </p:spPr>
      </p:sp>
      <p:pic>
        <p:nvPicPr>
          <p:cNvPr id="27" name="Image 4" descr="/home/claude/azure/media/w/s15_27.png">    </p:cNvPr>
          <p:cNvPicPr>
            <a:picLocks noChangeAspect="1"/>
          </p:cNvPicPr>
          <p:nvPr/>
        </p:nvPicPr>
        <p:blipFill>
          <a:blip r:embed="rId5"/>
          <a:stretch>
            <a:fillRect/>
          </a:stretch>
        </p:blipFill>
        <p:spPr>
          <a:xfrm>
            <a:off x="4766310" y="4812030"/>
            <a:ext cx="297180" cy="297180"/>
          </a:xfrm>
          <a:prstGeom prst="rect">
            <a:avLst/>
          </a:prstGeom>
        </p:spPr>
      </p:pic>
      <p:sp>
        <p:nvSpPr>
          <p:cNvPr id="28" name="Text 21"/>
          <p:cNvSpPr txBox="1"/>
          <p:nvPr/>
        </p:nvSpPr>
        <p:spPr>
          <a:xfrm>
            <a:off x="5349240" y="4663440"/>
            <a:ext cx="2286000" cy="594360"/>
          </a:xfrm>
          <a:prstGeom prst="rect">
            <a:avLst/>
          </a:prstGeom>
          <a:noFill/>
          <a:ln/>
        </p:spPr>
        <p:txBody>
          <a:bodyPr wrap="square" lIns="0" tIns="0" rIns="0" bIns="0" rtlCol="0" anchor="ctr"/>
          <a:lstStyle/>
          <a:p>
            <a:pPr indent="0" marL="0">
              <a:buNone/>
            </a:pPr>
            <a:r>
              <a:rPr lang="en-US" sz="1700" b="1" dirty="0">
                <a:solidFill>
                  <a:srgbClr val="1D2733"/>
                </a:solidFill>
                <a:latin typeface="Calibri" pitchFamily="34" charset="0"/>
                <a:ea typeface="Calibri" pitchFamily="34" charset="-122"/>
                <a:cs typeface="Calibri" pitchFamily="34" charset="-120"/>
              </a:rPr>
              <a:t>Cost &amp; Model Routing</a:t>
            </a:r>
            <a:endParaRPr lang="en-US" sz="1700" dirty="0"/>
          </a:p>
        </p:txBody>
      </p:sp>
      <p:sp>
        <p:nvSpPr>
          <p:cNvPr id="29" name="Text 22"/>
          <p:cNvSpPr txBox="1"/>
          <p:nvPr/>
        </p:nvSpPr>
        <p:spPr>
          <a:xfrm>
            <a:off x="4617720" y="5394960"/>
            <a:ext cx="2926080" cy="1051560"/>
          </a:xfrm>
          <a:prstGeom prst="rect">
            <a:avLst/>
          </a:prstGeom>
          <a:noFill/>
          <a:ln/>
        </p:spPr>
        <p:txBody>
          <a:bodyPr wrap="square" lIns="0" tIns="0" rIns="0" bIns="0" rtlCol="0" anchor="t"/>
          <a:lstStyle/>
          <a:p>
            <a:pPr indent="0" marL="0">
              <a:buNone/>
            </a:pPr>
            <a:r>
              <a:rPr lang="en-US" sz="1400" dirty="0">
                <a:solidFill>
                  <a:srgbClr val="3A4656"/>
                </a:solidFill>
                <a:latin typeface="Calibri" pitchFamily="34" charset="0"/>
                <a:ea typeface="Calibri" pitchFamily="34" charset="-122"/>
                <a:cs typeface="Calibri" pitchFamily="34" charset="-120"/>
              </a:rPr>
              <a:t>Route easy cases to a lighter model; escalate only ambiguous images to a larger one.</a:t>
            </a:r>
            <a:endParaRPr lang="en-US" sz="1400" dirty="0"/>
          </a:p>
        </p:txBody>
      </p:sp>
      <p:sp>
        <p:nvSpPr>
          <p:cNvPr id="30" name="Shape 23"/>
          <p:cNvSpPr/>
          <p:nvPr/>
        </p:nvSpPr>
        <p:spPr>
          <a:xfrm>
            <a:off x="8138160" y="4389120"/>
            <a:ext cx="3474720" cy="2148840"/>
          </a:xfrm>
          <a:prstGeom prst="roundRect">
            <a:avLst>
              <a:gd name="adj" fmla="val 5106"/>
            </a:avLst>
          </a:prstGeom>
          <a:solidFill>
            <a:srgbClr val="E3F4F2"/>
          </a:solidFill>
          <a:ln w="12700">
            <a:solidFill>
              <a:srgbClr val="E3F4F2"/>
            </a:solidFill>
            <a:prstDash val="solid"/>
          </a:ln>
        </p:spPr>
      </p:sp>
      <p:sp>
        <p:nvSpPr>
          <p:cNvPr id="31" name="Shape 24"/>
          <p:cNvSpPr/>
          <p:nvPr/>
        </p:nvSpPr>
        <p:spPr>
          <a:xfrm>
            <a:off x="8412480" y="4663440"/>
            <a:ext cx="594360" cy="594360"/>
          </a:xfrm>
          <a:prstGeom prst="ellipse">
            <a:avLst/>
          </a:prstGeom>
          <a:solidFill>
            <a:srgbClr val="2BB3A3"/>
          </a:solidFill>
          <a:ln w="12700">
            <a:solidFill>
              <a:srgbClr val="2BB3A3"/>
            </a:solidFill>
            <a:prstDash val="solid"/>
          </a:ln>
        </p:spPr>
      </p:sp>
      <p:pic>
        <p:nvPicPr>
          <p:cNvPr id="32" name="Image 5" descr="/home/claude/azure/media/w/s15_32.png">    </p:cNvPr>
          <p:cNvPicPr>
            <a:picLocks noChangeAspect="1"/>
          </p:cNvPicPr>
          <p:nvPr/>
        </p:nvPicPr>
        <p:blipFill>
          <a:blip r:embed="rId6"/>
          <a:stretch>
            <a:fillRect/>
          </a:stretch>
        </p:blipFill>
        <p:spPr>
          <a:xfrm>
            <a:off x="8561070" y="4812030"/>
            <a:ext cx="297180" cy="297180"/>
          </a:xfrm>
          <a:prstGeom prst="rect">
            <a:avLst/>
          </a:prstGeom>
        </p:spPr>
      </p:pic>
      <p:sp>
        <p:nvSpPr>
          <p:cNvPr id="33" name="Text 25"/>
          <p:cNvSpPr txBox="1"/>
          <p:nvPr/>
        </p:nvSpPr>
        <p:spPr>
          <a:xfrm>
            <a:off x="9144000" y="4663440"/>
            <a:ext cx="2286000" cy="594360"/>
          </a:xfrm>
          <a:prstGeom prst="rect">
            <a:avLst/>
          </a:prstGeom>
          <a:noFill/>
          <a:ln/>
        </p:spPr>
        <p:txBody>
          <a:bodyPr wrap="square" lIns="0" tIns="0" rIns="0" bIns="0" rtlCol="0" anchor="ctr"/>
          <a:lstStyle/>
          <a:p>
            <a:pPr indent="0" marL="0">
              <a:buNone/>
            </a:pPr>
            <a:r>
              <a:rPr lang="en-US" sz="1700" b="1" dirty="0">
                <a:solidFill>
                  <a:srgbClr val="1D2733"/>
                </a:solidFill>
                <a:latin typeface="Calibri" pitchFamily="34" charset="0"/>
                <a:ea typeface="Calibri" pitchFamily="34" charset="-122"/>
                <a:cs typeface="Calibri" pitchFamily="34" charset="-120"/>
              </a:rPr>
              <a:t>Observability &amp; Governance</a:t>
            </a:r>
            <a:endParaRPr lang="en-US" sz="1700" dirty="0"/>
          </a:p>
        </p:txBody>
      </p:sp>
      <p:sp>
        <p:nvSpPr>
          <p:cNvPr id="34" name="Text 26"/>
          <p:cNvSpPr txBox="1"/>
          <p:nvPr/>
        </p:nvSpPr>
        <p:spPr>
          <a:xfrm>
            <a:off x="8412480" y="5394960"/>
            <a:ext cx="2926080" cy="1051560"/>
          </a:xfrm>
          <a:prstGeom prst="rect">
            <a:avLst/>
          </a:prstGeom>
          <a:noFill/>
          <a:ln/>
        </p:spPr>
        <p:txBody>
          <a:bodyPr wrap="square" lIns="0" tIns="0" rIns="0" bIns="0" rtlCol="0" anchor="t"/>
          <a:lstStyle/>
          <a:p>
            <a:pPr indent="0" marL="0">
              <a:buNone/>
            </a:pPr>
            <a:r>
              <a:rPr lang="en-US" sz="1400" dirty="0">
                <a:solidFill>
                  <a:srgbClr val="3A4656"/>
                </a:solidFill>
                <a:latin typeface="Calibri" pitchFamily="34" charset="0"/>
                <a:ea typeface="Calibri" pitchFamily="34" charset="-122"/>
                <a:cs typeface="Calibri" pitchFamily="34" charset="-120"/>
              </a:rPr>
              <a:t>Built-in tracing and agent-identity controls matter once autonomous steps touch production data.</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0"/>
        </a:solidFill>
      </p:bgPr>
    </p:bg>
    <p:spTree>
      <p:nvGrpSpPr>
        <p:cNvPr id="1" name=""/>
        <p:cNvGrpSpPr/>
        <p:nvPr/>
      </p:nvGrpSpPr>
      <p:grpSpPr>
        <a:xfrm>
          <a:off x="0" y="0"/>
          <a:ext cx="0" cy="0"/>
          <a:chOff x="0" y="0"/>
          <a:chExt cx="0" cy="0"/>
        </a:xfrm>
      </p:grpSpPr>
      <p:sp>
        <p:nvSpPr>
          <p:cNvPr id="2" name="Text 0"/>
          <p:cNvSpPr txBox="1"/>
          <p:nvPr/>
        </p:nvSpPr>
        <p:spPr>
          <a:xfrm>
            <a:off x="731520" y="2011680"/>
            <a:ext cx="6858000" cy="109728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Open for Q&amp;A</a:t>
            </a:r>
            <a:endParaRPr lang="en-US" sz="5600" dirty="0"/>
          </a:p>
        </p:txBody>
      </p:sp>
      <p:sp>
        <p:nvSpPr>
          <p:cNvPr id="3" name="Text 1"/>
          <p:cNvSpPr txBox="1"/>
          <p:nvPr/>
        </p:nvSpPr>
        <p:spPr>
          <a:xfrm>
            <a:off x="731520" y="3200400"/>
            <a:ext cx="6858000" cy="731520"/>
          </a:xfrm>
          <a:prstGeom prst="rect">
            <a:avLst/>
          </a:prstGeom>
          <a:noFill/>
          <a:ln/>
        </p:spPr>
        <p:txBody>
          <a:bodyPr wrap="square" lIns="0" tIns="0" rIns="0" bIns="0" rtlCol="0" anchor="ctr"/>
          <a:lstStyle/>
          <a:p>
            <a:pPr indent="0" marL="0">
              <a:buNone/>
            </a:pPr>
            <a:r>
              <a:rPr lang="en-US" sz="3000" dirty="0">
                <a:solidFill>
                  <a:srgbClr val="F2A541"/>
                </a:solidFill>
                <a:latin typeface="Calibri" pitchFamily="34" charset="0"/>
                <a:ea typeface="Calibri" pitchFamily="34" charset="-122"/>
                <a:cs typeface="Calibri" pitchFamily="34" charset="-120"/>
              </a:rPr>
              <a:t>Thank you!!</a:t>
            </a:r>
            <a:endParaRPr lang="en-US" sz="3000" dirty="0"/>
          </a:p>
        </p:txBody>
      </p:sp>
      <p:sp>
        <p:nvSpPr>
          <p:cNvPr id="4" name="Shape 2"/>
          <p:cNvSpPr/>
          <p:nvPr/>
        </p:nvSpPr>
        <p:spPr>
          <a:xfrm>
            <a:off x="8321040" y="1691640"/>
            <a:ext cx="3017520" cy="3017520"/>
          </a:xfrm>
          <a:prstGeom prst="roundRect">
            <a:avLst>
              <a:gd name="adj" fmla="val 4545"/>
            </a:avLst>
          </a:prstGeom>
          <a:solidFill>
            <a:srgbClr val="FFFFFF"/>
          </a:solidFill>
          <a:ln w="38100">
            <a:solidFill>
              <a:srgbClr val="F2A541"/>
            </a:solidFill>
            <a:prstDash val="solid"/>
          </a:ln>
        </p:spPr>
      </p:sp>
      <p:pic>
        <p:nvPicPr>
          <p:cNvPr id="5" name="Image 0" descr="/home/claude/azure/media/s16_3.png">    </p:cNvPr>
          <p:cNvPicPr>
            <a:picLocks noChangeAspect="1"/>
          </p:cNvPicPr>
          <p:nvPr/>
        </p:nvPicPr>
        <p:blipFill>
          <a:blip r:embed="rId1"/>
          <a:stretch>
            <a:fillRect/>
          </a:stretch>
        </p:blipFill>
        <p:spPr>
          <a:xfrm>
            <a:off x="8503920" y="1874520"/>
            <a:ext cx="2651760" cy="2651760"/>
          </a:xfrm>
          <a:prstGeom prst="rect">
            <a:avLst/>
          </a:prstGeom>
        </p:spPr>
      </p:pic>
      <p:sp>
        <p:nvSpPr>
          <p:cNvPr id="6" name="Text 3"/>
          <p:cNvSpPr txBox="1"/>
          <p:nvPr/>
        </p:nvSpPr>
        <p:spPr>
          <a:xfrm>
            <a:off x="8321040" y="4846320"/>
            <a:ext cx="3017520" cy="365760"/>
          </a:xfrm>
          <a:prstGeom prst="rect">
            <a:avLst/>
          </a:prstGeom>
          <a:noFill/>
          <a:ln/>
        </p:spPr>
        <p:txBody>
          <a:bodyPr wrap="square" lIns="0" tIns="0" rIns="0" bIns="0" rtlCol="0" anchor="ctr"/>
          <a:lstStyle/>
          <a:p>
            <a:pPr algn="ctr" indent="0" marL="0">
              <a:buNone/>
            </a:pPr>
            <a:r>
              <a:rPr lang="en-US" sz="1500" b="1" dirty="0">
                <a:solidFill>
                  <a:srgbClr val="C9D1DB"/>
                </a:solidFill>
                <a:latin typeface="Calibri" pitchFamily="34" charset="0"/>
                <a:ea typeface="Calibri" pitchFamily="34" charset="-122"/>
                <a:cs typeface="Calibri" pitchFamily="34" charset="-120"/>
              </a:rPr>
              <a:t>Let’s Connect on LinkedIn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Drop. Trigger. Classify. — Event-Driven AI on Azure</dc:title>
  <dc:subject>PptxGenJS Presentation</dc:subject>
  <dc:creator>PptxGenJS</dc:creator>
  <cp:lastModifiedBy>PptxGenJS</cp:lastModifiedBy>
  <cp:revision>1</cp:revision>
  <dcterms:created xsi:type="dcterms:W3CDTF">2026-10-01T01:19:36Z</dcterms:created>
  <dcterms:modified xsi:type="dcterms:W3CDTF">2026-10-01T01:19:36Z</dcterms:modified>
</cp:coreProperties>
</file>