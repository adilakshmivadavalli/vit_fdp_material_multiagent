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2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3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545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Healthcare case study for the multi-agent talk. Frame it early: this is a RAG system with guard models around it. At the end we show how it would grow into a multi-agent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MedRAG project report: grounded answers, traceable evidence, managed knowledge, and a safety boundary are the four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is explicit (POST /sources/reindex). Query path: guardrails wrap RAGService.query() only at the API — the CLI and eval harness bypass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capstone hooks. Difference: here the gate is itself a model (Prompt Guard, gpt-oss-safeguard), so it's probabilistic, unlike the $500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lines of glue is all a guardrail layer needs. The API — not the service — owns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offline mode the answer is an extract of the best-matching sentences; live, gpt-4o-mini writes it as prose from the same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traceability goal from the report: a reviewer can open WHO_BP.pdf at those pages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moment to say: in RAG, most failures are retrieval failures, not generation failures. The eval slide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Offline, the score comes from a keyword heuristic that returns the same shape Groq's Prompt Guard returns. Live, it's the real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policy text lives in the medrag plugin config: guideline-level info is fine, personal dosing or certainty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the PubMed panel says Enabled even when PUBMED_ENABLED=false — one of the bugs on the findings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answered well; retrieval pulled irrelevant chunks (acknowledgements, conflicts of interest). Fix retrieval before touching the prompt.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report states this honestly. For the talk: it's the Lesson 19 problem again — a silent failure that looks like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audience what a better signal would be: similarity scores, reranker scores, or an LLM judge on context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connects MedRAG to every pattern in the main talk: hub-and-spoke, parallel spawning, structured provenance, independent review, and escalation.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case study and return to the main deck (or Q&amp;A).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USE CASE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MedRAG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clinical guideline Q&amp;A — with guardrails, evals, and a live UI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539496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8212C"/>
          </a:solidFill>
          <a:ln w="12700">
            <a:solidFill>
              <a:srgbClr val="3A465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53949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1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decision support only — not a substitute for professional medical judgment.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clinical Q&amp;A needs more than a chatbot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3864" cy="5120640"/>
          </a:xfrm>
          <a:prstGeom prst="roundRect">
            <a:avLst>
              <a:gd name="adj" fmla="val 31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is scattered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5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run to dozens of pages, change often, and sit alongside research abstracts. Finding the right passage is slow.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2544" y="1325880"/>
            <a:ext cx="3483864" cy="5120640"/>
          </a:xfrm>
          <a:prstGeom prst="roundRect">
            <a:avLst>
              <a:gd name="adj" fmla="val 31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6002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5266944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LLMs have no evidence trail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240280"/>
            <a:ext cx="2935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answer fluently without showing where the answer came from — unacceptable in medicine.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6448" y="1325880"/>
            <a:ext cx="3483864" cy="5120640"/>
          </a:xfrm>
          <a:prstGeom prst="roundRect">
            <a:avLst>
              <a:gd name="adj" fmla="val 315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30768" y="1600200"/>
            <a:ext cx="502920" cy="502920"/>
          </a:xfrm>
          <a:prstGeom prst="ellipse">
            <a:avLst/>
          </a:prstGeom>
          <a:solidFill>
            <a:srgbClr val="E0565B"/>
          </a:solidFill>
          <a:ln w="12700">
            <a:solidFill>
              <a:srgbClr val="E056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07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9070848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answers are unsafe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240280"/>
            <a:ext cx="293522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dosing, diagnoses, or overconfident claims must be stopped, whatever the model produces.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two paths, one service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BB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PATH  (run when sources change)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PDFs · PubMed abstracts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46120" y="160020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+ enrich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LlamaParse · clinical metadata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600200"/>
            <a:ext cx="2286000" cy="1005840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600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FastEmbed bge-small (local)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41080" y="1600200"/>
            <a:ext cx="2971800" cy="1005840"/>
          </a:xfrm>
          <a:prstGeom prst="roundRect">
            <a:avLst>
              <a:gd name="adj" fmla="val 909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32520" y="160020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collection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+ source, specialty, evidence type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34640" y="2103120"/>
            <a:ext cx="41148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532120" y="2103120"/>
            <a:ext cx="41148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2103120"/>
            <a:ext cx="41148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48640" y="3063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PATH  (every question)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1737360" cy="1005840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429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API · CLI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651760" y="3429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FCE6C4"/>
          </a:solidFill>
          <a:ln w="12700">
            <a:solidFill>
              <a:srgbClr val="FCE6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 (Groq)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37760" y="3429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2920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chunks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223760" y="34290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0" y="342900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+ clinical prompt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509760" y="3429000"/>
            <a:ext cx="2103120" cy="1005840"/>
          </a:xfrm>
          <a:prstGeom prst="roundRect">
            <a:avLst>
              <a:gd name="adj" fmla="val 9091"/>
            </a:avLst>
          </a:prstGeom>
          <a:solidFill>
            <a:srgbClr val="FCE6C4"/>
          </a:solidFill>
          <a:ln w="12700">
            <a:solidFill>
              <a:srgbClr val="FCE6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0" y="34290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 policy (Groq)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286000" y="3931920"/>
            <a:ext cx="36576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572000" y="3931920"/>
            <a:ext cx="36576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858000" y="3931920"/>
            <a:ext cx="36576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144000" y="3931920"/>
            <a:ext cx="36576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897880" y="2606040"/>
            <a:ext cx="914" cy="822960"/>
          </a:xfrm>
          <a:prstGeom prst="line">
            <a:avLst/>
          </a:prstGeom>
          <a:noFill/>
          <a:ln w="25400">
            <a:solidFill>
              <a:srgbClr val="C9D1D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98932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vectors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18212C"/>
          </a:solidFill>
          <a:ln w="12700">
            <a:solidFill>
              <a:srgbClr val="18212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892040"/>
            <a:ext cx="10881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Response:  answer · evidence snippets · sources (org, file, page) · confidence · disclaimer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RAGService behind all three interfaces; a medrag plugin supplies prompts, metadata rules and the safety policy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guardrails are hooks around the model call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017520" y="18288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CE6C4"/>
          </a:solidFill>
          <a:ln w="12700">
            <a:solidFill>
              <a:srgbClr val="FC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10896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Input guardrail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score ≥ 0.5 → block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82880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182880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RAGService.query()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+ generate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82880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CE6C4"/>
          </a:solidFill>
          <a:ln w="12700">
            <a:solidFill>
              <a:srgbClr val="FCE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0" y="1828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Output guardrail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violation → block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60320" y="2423160"/>
            <a:ext cx="45720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94960" y="2423160"/>
            <a:ext cx="45720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229600" y="2423160"/>
            <a:ext cx="45720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017520" y="370332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422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(input)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0" y="3703320"/>
            <a:ext cx="2926080" cy="731520"/>
          </a:xfrm>
          <a:prstGeom prst="roundRect">
            <a:avLst>
              <a:gd name="adj" fmla="val 12500"/>
            </a:avLst>
          </a:prstGeom>
          <a:solidFill>
            <a:srgbClr val="FCEBEC"/>
          </a:solidFill>
          <a:ln w="12700">
            <a:solidFill>
              <a:srgbClr val="FCEB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422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(output)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3017520"/>
            <a:ext cx="914" cy="685800"/>
          </a:xfrm>
          <a:prstGeom prst="line">
            <a:avLst/>
          </a:prstGeom>
          <a:noFill/>
          <a:ln w="25400">
            <a:solidFill>
              <a:srgbClr val="E0565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149840" y="3017520"/>
            <a:ext cx="914" cy="685800"/>
          </a:xfrm>
          <a:prstGeom prst="line">
            <a:avLst/>
          </a:prstGeom>
          <a:noFill/>
          <a:ln w="25400">
            <a:solidFill>
              <a:srgbClr val="E0565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" y="480060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920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PreToolUse / PostToolUse in Part 4. </a:t>
            </a:r>
            <a:r>
              <a:rPr lang="en-US" sz="15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check runs before the model is called and can refuse; the output check runs after and can stop an unsafe answer from reaching the user. Both are code the model cannot talk its way around — but only if they actually run (see “fail-open” later).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/query handler: guard, answer, guard</a:t>
            </a:r>
            <a:endParaRPr lang="en-US" sz="2800" dirty="0"/>
          </a:p>
        </p:txBody>
      </p:sp>
      <p:pic>
        <p:nvPicPr>
          <p:cNvPr id="5" name="Image 0" descr="/home/claude/medbuild/img/mcode_01_query_handl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3" y="1005840"/>
            <a:ext cx="8448094" cy="5532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check before any retrieval or OpenAI call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RAGService.query() does retrieve + generate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check sees question and answer; 422 on violation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from the MedRAG repo,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06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MedRAG in the browser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→ evidence → sources · blocked injection · blocked unsafe answer · evals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captured from MedRAG's own UI in offline demo mode. At VIT, run live with keys (see run-book slide).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Ask: a guideline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9768" y="978408"/>
            <a:ext cx="8878824" cy="3638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B"/>
            </a:solidFill>
            <a:prstDash val="solid"/>
          </a:ln>
        </p:spPr>
      </p:sp>
      <p:pic>
        <p:nvPicPr>
          <p:cNvPr id="6" name="Image 0" descr="/home/claude/medbuild/img/ui_c1_question_ans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3583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clinical question in the Ask tab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&lt;130 mmHg systolic for known CVD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surfaces the &lt;140/90 target for patients without comorbidities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MedRAG's own Streamlit UI + FastAPI, run in offline demo mode (local stand-ins for Qdrant server, embeddings, LlamaParse, OpenAI and Groq).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…with its evidence trail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79580" y="978408"/>
            <a:ext cx="8579200" cy="558698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B"/>
            </a:solidFill>
            <a:prstDash val="solid"/>
          </a:ln>
        </p:spPr>
      </p:sp>
      <p:pic>
        <p:nvPicPr>
          <p:cNvPr id="6" name="Image 0" descr="/home/claude/medbuild/img/ui_c1_evidence_sour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012" y="1005840"/>
            <a:ext cx="8524336" cy="5532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 retrieved guideline text itself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file and page for every chunk used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label and disclaimer on every answer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MedRAG's own Streamlit UI + FastAPI, run in offline demo mode (local stand-ins for Qdrant server, embeddings, LlamaParse, OpenAI and Groq).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Ask: retrieval decides the quality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9768" y="978408"/>
            <a:ext cx="8878824" cy="3638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B"/>
            </a:solidFill>
            <a:prstDash val="solid"/>
          </a:ln>
        </p:spPr>
      </p:sp>
      <p:pic>
        <p:nvPicPr>
          <p:cNvPr id="6" name="Image 0" descr="/home/claude/medbuild/img/ui_c2_question_answ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3583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passage found: monthly follow-up until target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mixed in with adherence-study text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Garbage in the top-k → noisy answer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MedRAG's own Streamlit UI + FastAPI, run in offline demo mode (local stand-ins for Qdrant server, embeddings, LlamaParse, OpenAI and Groq).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guardrail: injection never reaches the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9768" y="978408"/>
            <a:ext cx="8878824" cy="191917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B"/>
            </a:solidFill>
            <a:prstDash val="solid"/>
          </a:ln>
        </p:spPr>
      </p:sp>
      <p:pic>
        <p:nvPicPr>
          <p:cNvPr id="6" name="Image 0" descr="/home/claude/medbuild/img/ui_03_ask_injection_block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186431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jailbreak text in the Ask box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Guard score 0.998 ≥ 0.5 threshold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422 — no retrieval, no OpenAI call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MedRAG's own Streamlit UI + FastAPI, run in offline demo mode (local stand-ins for Qdrant server, embeddings, LlamaParse, OpenAI and Groq).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guardrail: stopping a dosing instruction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9768" y="978408"/>
            <a:ext cx="8878824" cy="5097127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B"/>
            </a:solidFill>
            <a:prstDash val="solid"/>
          </a:ln>
        </p:spPr>
      </p:sp>
      <p:pic>
        <p:nvPicPr>
          <p:cNvPr id="6" name="Image 0" descr="/home/claude/medbuild/img/ui_06_guardrai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504226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tab tests each guard without a full query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answer: “take exactly 500mg … twice daily”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Blocked: specific dose instruction to the reader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MedRAG's own Streamlit UI + FastAPI, run in offline demo mode (local stand-ins for Qdrant server, embeddings, LlamaParse, OpenAI and Groq).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the knowledge base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9768" y="978408"/>
            <a:ext cx="8878824" cy="413511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B"/>
            </a:solidFill>
            <a:prstDash val="solid"/>
          </a:ln>
        </p:spPr>
      </p:sp>
      <p:pic>
        <p:nvPicPr>
          <p:cNvPr id="6" name="Image 0" descr="/home/claude/medbuild/img/ui_04_sour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408025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/ delete guideline PDFs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index explicitly after changes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 ingestion settings shown alongside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MedRAG's own Streamlit UI + FastAPI, run in offline demo mode (local stand-ins for Qdrant server, embeddings, LlamaParse, OpenAI and Groq).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Evals: 1 of 3 golden questions pass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29768" y="978408"/>
            <a:ext cx="8878824" cy="467251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B"/>
            </a:solidFill>
            <a:prstDash val="solid"/>
          </a:ln>
        </p:spPr>
      </p:sp>
      <p:pic>
        <p:nvPicPr>
          <p:cNvPr id="6" name="Image 0" descr="/home/claude/medbuild/img/ui_05_eva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461765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DeepEval run stored in the repo (Apr 2026)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4" name="Text 11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relevance and groundedness: 1.0 on all three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7" name="Text 14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failures are context relevance: 0.27 and 0.18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MedRAG's own Streamlit UI + FastAPI, run in offline demo mode (local stand-ins for Qdrant server, embeddings, LlamaParse, OpenAI and Groq).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Fail-open: availability over safety</a:t>
            </a:r>
            <a:endParaRPr lang="en-US" sz="2800" dirty="0"/>
          </a:p>
        </p:txBody>
      </p:sp>
      <p:pic>
        <p:nvPicPr>
          <p:cNvPr id="5" name="Image 0" descr="/home/claude/medbuild/img/mcode_02_fail_ope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501205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GROQ_API_KEY → guard silently allows everything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or bad output → allowed, with a log line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 owner must choose this explicitly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from the MedRAG repo,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3832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2BB3A3"/>
          </a:solidFill>
          <a:ln w="12700">
            <a:solidFill>
              <a:srgbClr val="2BB3A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3832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8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“Confidence” is a count of retrieved chunks</a:t>
            </a:r>
            <a:endParaRPr lang="en-US" sz="2800" dirty="0"/>
          </a:p>
        </p:txBody>
      </p:sp>
      <p:pic>
        <p:nvPicPr>
          <p:cNvPr id="5" name="Image 0" descr="/home/claude/medbuild/img/mcode_03_confide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823960" cy="323839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509760" y="1005840"/>
            <a:ext cx="2240280" cy="5532120"/>
          </a:xfrm>
          <a:prstGeom prst="roundRect">
            <a:avLst>
              <a:gd name="adj" fmla="val 4082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92640" y="1170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92640" y="166420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80" dirty="0"/>
          </a:p>
        </p:txBody>
      </p:sp>
      <p:sp>
        <p:nvSpPr>
          <p:cNvPr id="10" name="Text 7"/>
          <p:cNvSpPr txBox="1"/>
          <p:nvPr/>
        </p:nvSpPr>
        <p:spPr>
          <a:xfrm>
            <a:off x="10131552" y="164592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 chunks → high, 2–3 → moderate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0" y="289864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92640" y="2898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10131552" y="288036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similarity_top_k defaults to 8, so almost always “high”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9692640" y="4133088"/>
            <a:ext cx="329184" cy="329184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92640" y="4133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80" dirty="0"/>
          </a:p>
        </p:txBody>
      </p:sp>
      <p:sp>
        <p:nvSpPr>
          <p:cNvPr id="16" name="Text 13"/>
          <p:cNvSpPr txBox="1"/>
          <p:nvPr/>
        </p:nvSpPr>
        <p:spPr>
          <a:xfrm>
            <a:off x="10131552" y="4114800"/>
            <a:ext cx="1508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retrieval score (the report mock-up shows 0.84)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92640" y="54864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i="1" dirty="0">
                <a:solidFill>
                  <a:srgbClr val="8B96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 from the MedRAG repo, comment lines trimmed.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FCA56A-A9C4-724B-1CEE-68A0678E7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705" y="717176"/>
            <a:ext cx="9707404" cy="52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1429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875E4-95C6-C158-4405-488AA10B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FAB40B-5579-2118-AB32-A5237CC76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75" y="448235"/>
            <a:ext cx="10254891" cy="565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594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RAG pipeline to multi-agent: a next step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97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— not in repo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2103120" cy="1188720"/>
          </a:xfrm>
          <a:prstGeom prst="roundRect">
            <a:avLst>
              <a:gd name="adj" fmla="val 7692"/>
            </a:avLst>
          </a:prstGeom>
          <a:solidFill>
            <a:srgbClr val="FCE6C4"/>
          </a:solidFill>
          <a:ln w="12700">
            <a:solidFill>
              <a:srgbClr val="FCE6C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926080"/>
            <a:ext cx="1920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hook, as today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08960" y="27432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0" y="274320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coordinator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8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the question, spawns subagents in parallel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2801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28016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retriever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/ society PDFs only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297180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9718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retriever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PubMed, with dates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09360" y="466344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66344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Drug-label checker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labels, contraindications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09760" y="274320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FCE6C4"/>
          </a:solidFill>
          <a:ln w="12700">
            <a:solidFill>
              <a:srgbClr val="FCE6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0" y="2743200"/>
            <a:ext cx="1920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reviewer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A6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instance + output hook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1760" y="3520440"/>
            <a:ext cx="457200" cy="914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5577840" y="1801368"/>
            <a:ext cx="731520" cy="1399032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5577840" y="3493008"/>
            <a:ext cx="731520" cy="27432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577840" y="3840480"/>
            <a:ext cx="731520" cy="1344168"/>
          </a:xfrm>
          <a:prstGeom prst="line">
            <a:avLst/>
          </a:prstGeom>
          <a:noFill/>
          <a:ln w="25400">
            <a:solidFill>
              <a:srgbClr val="8B96A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961120" y="1801368"/>
            <a:ext cx="548640" cy="1307592"/>
          </a:xfrm>
          <a:prstGeom prst="line">
            <a:avLst/>
          </a:prstGeom>
          <a:noFill/>
          <a:ln w="25400">
            <a:solidFill>
              <a:srgbClr val="C9D1D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61120" y="3493008"/>
            <a:ext cx="548640" cy="27432"/>
          </a:xfrm>
          <a:prstGeom prst="line">
            <a:avLst/>
          </a:prstGeom>
          <a:noFill/>
          <a:ln w="25400">
            <a:solidFill>
              <a:srgbClr val="C9D1D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8961120" y="3931920"/>
            <a:ext cx="548640" cy="1252728"/>
          </a:xfrm>
          <a:prstGeom prst="line">
            <a:avLst/>
          </a:prstGeom>
          <a:noFill/>
          <a:ln w="25400">
            <a:solidFill>
              <a:srgbClr val="C9D1D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return as {claim, source_id, evidence_type, date}. Conflicts between guideline and research are flagged, never averaged. Escalate to a clinician on explicit request or when sources disagree.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D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MedRAG teaches about agent systems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83864" cy="24003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every answer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40280"/>
            <a:ext cx="2935224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sources travel with the answer, end to end.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52544" y="1325880"/>
            <a:ext cx="3483864" cy="24003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6864" y="16002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26864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5266944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at the boundary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240280"/>
            <a:ext cx="2935224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checks wrap the model — like hooks.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56448" y="1325880"/>
            <a:ext cx="3483864" cy="24003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30768" y="160020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30768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9070848" y="158191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failure policy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240280"/>
            <a:ext cx="2935224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 vs fail-closed is a product decision, not a default.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4046220"/>
            <a:ext cx="3483864" cy="24003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3205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30225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retrieval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960620"/>
            <a:ext cx="2935224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showed the answers were fine; retrieval wasn't.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4352544" y="4046220"/>
            <a:ext cx="3483864" cy="24003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43205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26864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5266944" y="430225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signals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4960620"/>
            <a:ext cx="2935224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confidence for what it is, or compute a real one.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156448" y="4046220"/>
            <a:ext cx="3483864" cy="2400300"/>
          </a:xfrm>
          <a:prstGeom prst="roundRect">
            <a:avLst>
              <a:gd name="adj" fmla="val 457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0768" y="4320540"/>
            <a:ext cx="502920" cy="50292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30768" y="43205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9070848" y="4302252"/>
            <a:ext cx="2386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into agents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430768" y="4960620"/>
            <a:ext cx="2935224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3A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retrievers + independent safety reviewer.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1598</Words>
  <Application>Microsoft Office PowerPoint</Application>
  <PresentationFormat>Widescreen</PresentationFormat>
  <Paragraphs>222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use case: MedRAG — VIT</dc:title>
  <dc:subject>PptxGenJS Presentation</dc:subject>
  <dc:creator>PptxGenJS</dc:creator>
  <cp:lastModifiedBy>Srikanth Srigiri</cp:lastModifiedBy>
  <cp:revision>2</cp:revision>
  <dcterms:created xsi:type="dcterms:W3CDTF">2026-09-30T09:40:43Z</dcterms:created>
  <dcterms:modified xsi:type="dcterms:W3CDTF">2026-10-01T02:34:20Z</dcterms:modified>
</cp:coreProperties>
</file>